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CBD5E1"/>
                </a:solidFill>
                <a:latin typeface="Calibri"/>
              </a:defRPr>
            </a:pPr>
            <a:r>
              <a:rPr sz="1100" b="0" i="0" u="none" strike="noStrike">
                <a:solidFill>
                  <a:srgbClr val="CBD5E1"/>
                </a:solidFill>
                <a:latin typeface="Calibri"/>
              </a:rPr>
              <a:t>Tolerance vs task age (P = 5 s, W = 1.3)</a:t>
            </a:r>
          </a:p>
        </c:rich>
      </c:tx>
      <c:layout/>
      <c:overlay val="0"/>
    </c:title>
    <c:autoTitleDeleted val="0"/>
    <c:plotArea>
      <c:layout/>
      <c:lineChart>
        <c:varyColors val="0"/>
        <c:ser>
          <c:idx val="0"/>
          <c:order val="0"/>
          <c:tx>
            <c:strRef>
              <c:f>Sheet1!$B$1</c:f>
              <c:strCache>
                <c:ptCount val="1"/>
                <c:pt idx="0">
                  <c:v>Tolerance ε</c:v>
                </c:pt>
              </c:strCache>
            </c:strRef>
          </c:tx>
          <c:spPr>
            <a:solidFill>
              <a:srgbClr val="FBBF24"/>
            </a:solidFill>
            <a:ln w="31750" cap="flat">
              <a:solidFill>
                <a:srgbClr val="FBBF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BBF24"/>
              </a:solidFill>
              <a:ln w="9525" cap="flat">
                <a:solidFill>
                  <a:srgbClr val="FBBF24"/>
                </a:solidFill>
                <a:prstDash val="solid"/>
                <a:round/>
              </a:ln>
              <a:effectLst/>
            </c:spPr>
          </c:marker>
          <c:cat>
            <c:multiLvlStrRef>
              <c:f>Sheet1!$A$2:$A$14</c:f>
              <c:multiLvlStrCache>
                <c:ptCount val="13"/>
                <c:lvl>
                  <c:pt idx="0">
                    <c:v>0.0</c:v>
                  </c:pt>
                  <c:pt idx="1">
                    <c:v>0.5</c:v>
                  </c:pt>
                  <c:pt idx="2">
                    <c:v>1.0</c:v>
                  </c:pt>
                  <c:pt idx="3">
                    <c:v>1.5</c:v>
                  </c:pt>
                  <c:pt idx="4">
                    <c:v>2.0</c:v>
                  </c:pt>
                  <c:pt idx="5">
                    <c:v>2.5</c:v>
                  </c:pt>
                  <c:pt idx="6">
                    <c:v>3.0</c:v>
                  </c:pt>
                  <c:pt idx="7">
                    <c:v>3.5</c:v>
                  </c:pt>
                  <c:pt idx="8">
                    <c:v>4.0</c:v>
                  </c:pt>
                  <c:pt idx="9">
                    <c:v>4.5</c:v>
                  </c:pt>
                  <c:pt idx="10">
                    <c:v>5.0</c:v>
                  </c:pt>
                  <c:pt idx="11">
                    <c:v>5.5</c:v>
                  </c:pt>
                  <c:pt idx="12">
                    <c:v>6.0</c:v>
                  </c:pt>
                </c:lvl>
              </c:multiLvlStrCache>
            </c:multiLvlStrRef>
          </c:cat>
          <c:val>
            <c:numRef>
              <c:f>Sheet1!$B$2:$B$14</c:f>
              <c:numCache>
                <c:formatCode>General</c:formatCode>
                <c:ptCount val="13"/>
                <c:pt idx="0">
                  <c:v>0</c:v>
                </c:pt>
                <c:pt idx="1">
                  <c:v>0.13</c:v>
                </c:pt>
                <c:pt idx="2">
                  <c:v>0.26</c:v>
                </c:pt>
                <c:pt idx="3">
                  <c:v>0.39</c:v>
                </c:pt>
                <c:pt idx="4">
                  <c:v>0.52</c:v>
                </c:pt>
                <c:pt idx="5">
                  <c:v>0.65</c:v>
                </c:pt>
                <c:pt idx="6">
                  <c:v>0.78</c:v>
                </c:pt>
                <c:pt idx="7">
                  <c:v>0.91</c:v>
                </c:pt>
                <c:pt idx="8">
                  <c:v>1.04</c:v>
                </c:pt>
                <c:pt idx="9">
                  <c:v>1.17</c:v>
                </c:pt>
                <c:pt idx="10">
                  <c:v>1.3</c:v>
                </c:pt>
                <c:pt idx="11">
                  <c:v>1.3</c:v>
                </c:pt>
                <c:pt idx="12">
                  <c:v>1.3</c:v>
                </c:pt>
              </c:numCache>
            </c:numRef>
          </c:val>
          <c:smooth val="0"/>
        </c:ser>
        <c:ser>
          <c:idx val="1"/>
          <c:order val="1"/>
          <c:tx>
            <c:strRef>
              <c:f>Sheet1!$C$1</c:f>
              <c:strCache>
                <c:ptCount val="1"/>
                <c:pt idx="0">
                  <c:v>Regret 0.30</c:v>
                </c:pt>
              </c:strCache>
            </c:strRef>
          </c:tx>
          <c:spPr>
            <a:solidFill>
              <a:srgbClr val="F87171"/>
            </a:solidFill>
            <a:ln w="31750" cap="flat">
              <a:solidFill>
                <a:srgbClr val="F8717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87171"/>
              </a:solidFill>
              <a:ln w="9525" cap="flat">
                <a:solidFill>
                  <a:srgbClr val="F87171"/>
                </a:solidFill>
                <a:prstDash val="solid"/>
                <a:round/>
              </a:ln>
              <a:effectLst/>
            </c:spPr>
          </c:marker>
          <c:cat>
            <c:multiLvlStrRef>
              <c:f>Sheet1!$A$2:$A$14</c:f>
              <c:multiLvlStrCache>
                <c:ptCount val="13"/>
                <c:lvl>
                  <c:pt idx="0">
                    <c:v>0.0</c:v>
                  </c:pt>
                  <c:pt idx="1">
                    <c:v>0.5</c:v>
                  </c:pt>
                  <c:pt idx="2">
                    <c:v>1.0</c:v>
                  </c:pt>
                  <c:pt idx="3">
                    <c:v>1.5</c:v>
                  </c:pt>
                  <c:pt idx="4">
                    <c:v>2.0</c:v>
                  </c:pt>
                  <c:pt idx="5">
                    <c:v>2.5</c:v>
                  </c:pt>
                  <c:pt idx="6">
                    <c:v>3.0</c:v>
                  </c:pt>
                  <c:pt idx="7">
                    <c:v>3.5</c:v>
                  </c:pt>
                  <c:pt idx="8">
                    <c:v>4.0</c:v>
                  </c:pt>
                  <c:pt idx="9">
                    <c:v>4.5</c:v>
                  </c:pt>
                  <c:pt idx="10">
                    <c:v>5.0</c:v>
                  </c:pt>
                  <c:pt idx="11">
                    <c:v>5.5</c:v>
                  </c:pt>
                  <c:pt idx="12">
                    <c:v>6.0</c:v>
                  </c:pt>
                </c:lvl>
              </c:multiLvlStrCache>
            </c:multiLvlStrRef>
          </c:cat>
          <c:val>
            <c:numRef>
              <c:f>Sheet1!$C$2:$C$14</c:f>
              <c:numCache>
                <c:formatCode>General</c:formatCode>
                <c:ptCount val="13"/>
                <c:pt idx="0">
                  <c:v>0.3</c:v>
                </c:pt>
                <c:pt idx="1">
                  <c:v>0.3</c:v>
                </c:pt>
                <c:pt idx="2">
                  <c:v>0.3</c:v>
                </c:pt>
                <c:pt idx="3">
                  <c:v>0.3</c:v>
                </c:pt>
                <c:pt idx="4">
                  <c:v>0.3</c:v>
                </c:pt>
                <c:pt idx="5">
                  <c:v>0.3</c:v>
                </c:pt>
                <c:pt idx="6">
                  <c:v>0.3</c:v>
                </c:pt>
                <c:pt idx="7">
                  <c:v>0.3</c:v>
                </c:pt>
                <c:pt idx="8">
                  <c:v>0.3</c:v>
                </c:pt>
                <c:pt idx="9">
                  <c:v>0.3</c:v>
                </c:pt>
                <c:pt idx="10">
                  <c:v>0.3</c:v>
                </c:pt>
                <c:pt idx="11">
                  <c:v>0.3</c:v>
                </c:pt>
                <c:pt idx="12">
                  <c:v>0.3</c:v>
                </c:pt>
              </c:numCache>
            </c:numRef>
          </c:val>
          <c:smooth val="0"/>
        </c:ser>
        <c:ser>
          <c:idx val="2"/>
          <c:order val="2"/>
          <c:tx>
            <c:strRef>
              <c:f>Sheet1!$D$1</c:f>
              <c:strCache>
                <c:ptCount val="1"/>
                <c:pt idx="0">
                  <c:v>Regret 0.05</c:v>
                </c:pt>
              </c:strCache>
            </c:strRef>
          </c:tx>
          <c:spPr>
            <a:solidFill>
              <a:srgbClr val="2DD4BF"/>
            </a:solidFill>
            <a:ln w="31750" cap="flat">
              <a:solidFill>
                <a:srgbClr val="2DD4B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DD4BF"/>
              </a:solidFill>
              <a:ln w="9525" cap="flat">
                <a:solidFill>
                  <a:srgbClr val="2DD4BF"/>
                </a:solidFill>
                <a:prstDash val="solid"/>
                <a:round/>
              </a:ln>
              <a:effectLst/>
            </c:spPr>
          </c:marker>
          <c:cat>
            <c:multiLvlStrRef>
              <c:f>Sheet1!$A$2:$A$14</c:f>
              <c:multiLvlStrCache>
                <c:ptCount val="13"/>
                <c:lvl>
                  <c:pt idx="0">
                    <c:v>0.0</c:v>
                  </c:pt>
                  <c:pt idx="1">
                    <c:v>0.5</c:v>
                  </c:pt>
                  <c:pt idx="2">
                    <c:v>1.0</c:v>
                  </c:pt>
                  <c:pt idx="3">
                    <c:v>1.5</c:v>
                  </c:pt>
                  <c:pt idx="4">
                    <c:v>2.0</c:v>
                  </c:pt>
                  <c:pt idx="5">
                    <c:v>2.5</c:v>
                  </c:pt>
                  <c:pt idx="6">
                    <c:v>3.0</c:v>
                  </c:pt>
                  <c:pt idx="7">
                    <c:v>3.5</c:v>
                  </c:pt>
                  <c:pt idx="8">
                    <c:v>4.0</c:v>
                  </c:pt>
                  <c:pt idx="9">
                    <c:v>4.5</c:v>
                  </c:pt>
                  <c:pt idx="10">
                    <c:v>5.0</c:v>
                  </c:pt>
                  <c:pt idx="11">
                    <c:v>5.5</c:v>
                  </c:pt>
                  <c:pt idx="12">
                    <c:v>6.0</c:v>
                  </c:pt>
                </c:lvl>
              </c:multiLvlStrCache>
            </c:multiLvlStrRef>
          </c:cat>
          <c:val>
            <c:numRef>
              <c:f>Sheet1!$D$2:$D$14</c:f>
              <c:numCache>
                <c:formatCode>General</c:formatCode>
                <c:ptCount val="13"/>
                <c:pt idx="0">
                  <c:v>0.05</c:v>
                </c:pt>
                <c:pt idx="1">
                  <c:v>0.05</c:v>
                </c:pt>
                <c:pt idx="2">
                  <c:v>0.05</c:v>
                </c:pt>
                <c:pt idx="3">
                  <c:v>0.05</c:v>
                </c:pt>
                <c:pt idx="4">
                  <c:v>0.05</c:v>
                </c:pt>
                <c:pt idx="5">
                  <c:v>0.05</c:v>
                </c:pt>
                <c:pt idx="6">
                  <c:v>0.05</c:v>
                </c:pt>
                <c:pt idx="7">
                  <c:v>0.05</c:v>
                </c:pt>
                <c:pt idx="8">
                  <c:v>0.05</c:v>
                </c:pt>
                <c:pt idx="9">
                  <c:v>0.05</c:v>
                </c:pt>
                <c:pt idx="10">
                  <c:v>0.05</c:v>
                </c:pt>
                <c:pt idx="11">
                  <c:v>0.05</c:v>
                </c:pt>
                <c:pt idx="12">
                  <c:v>0.05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4A3B8"/>
                    </a:solidFill>
                    <a:latin typeface="Arial"/>
                  </a:defRPr>
                </a:pPr>
                <a:r>
                  <a:rPr sz="1000" b="0" i="0" u="none" strike="noStrike">
                    <a:solidFill>
                      <a:srgbClr val="94A3B8"/>
                    </a:solidFill>
                    <a:latin typeface="Arial"/>
                  </a:rPr>
                  <a:t>task age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6350" cap="flat">
              <a:solidFill>
                <a:srgbClr val="2A3A5F"/>
              </a:solidFill>
              <a:prstDash val="solid"/>
              <a:round/>
            </a:ln>
          </c:spPr>
        </c:majorGridlines>
        <c:title>
          <c:tx>
            <c:rich>
              <a:bodyPr/>
              <a:lstStyle/>
              <a:p>
                <a:pPr>
                  <a:defRPr sz="1000" b="0" i="0" u="none" strike="noStrike">
                    <a:solidFill>
                      <a:srgbClr val="94A3B8"/>
                    </a:solidFill>
                    <a:latin typeface="Arial"/>
                  </a:defRPr>
                </a:pPr>
                <a:r>
                  <a:rPr sz="1000" b="0" i="0" u="none" strike="noStrike">
                    <a:solidFill>
                      <a:srgbClr val="94A3B8"/>
                    </a:solidFill>
                    <a:latin typeface="Arial"/>
                  </a:rPr>
                  <a:t>bid units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CBD5E1"/>
                </a:solidFill>
                <a:latin typeface="Arial"/>
              </a:defRPr>
            </a:pPr>
            <a:endParaRPr lang="en-US"/>
          </a:p>
        </c:txPr>
        <c:crossAx val="2094734554"/>
        <c:crosses val="autoZero"/>
        <c:crossBetween val="between"/>
        <c:majorUnit val="0.2"/>
      </c:valAx>
      <c:spPr>
        <a:noFill/>
        <a:ln>
          <a:noFill/>
        </a:ln>
        <a:effectLst/>
      </c:spPr>
    </c:plotArea>
    <c:legend>
      <c:legendPos val="b"/>
      <c:overlay val="0"/>
      <c:txPr>
        <a:bodyPr/>
        <a:lstStyle/>
        <a:p>
          <a:pPr>
            <a:defRPr sz="1000">
              <a:solidFill>
                <a:srgbClr val="CBD5E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CBD5E1"/>
                </a:solidFill>
                <a:latin typeface="Calibri"/>
              </a:defRPr>
            </a:pPr>
            <a:r>
              <a:rPr sz="1100" b="0" i="0" u="none" strike="noStrike">
                <a:solidFill>
                  <a:srgbClr val="CBD5E1"/>
                </a:solidFill>
                <a:latin typeface="Calibri"/>
              </a:rPr>
              <a:t>Transmissions per second, 8 robots (model)</a:t>
            </a:r>
          </a:p>
        </c:rich>
      </c:tx>
      <c:layout/>
      <c:overlay val="0"/>
    </c:title>
    <c:autoTitleDeleted val="0"/>
    <c:plotArea>
      <c:layout/>
      <c:lineChart>
        <c:varyColors val="0"/>
        <c:ser>
          <c:idx val="0"/>
          <c:order val="0"/>
          <c:tx>
            <c:strRef>
              <c:f>Sheet1!$B$1</c:f>
              <c:strCache>
                <c:ptCount val="1"/>
                <c:pt idx="0">
                  <c:v>Plain auction</c:v>
                </c:pt>
              </c:strCache>
            </c:strRef>
          </c:tx>
          <c:spPr>
            <a:solidFill>
              <a:srgbClr val="94A3B8"/>
            </a:solidFill>
            <a:ln w="31750" cap="flat">
              <a:solidFill>
                <a:srgbClr val="94A3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4A3B8"/>
              </a:solidFill>
              <a:ln w="9525" cap="flat">
                <a:solidFill>
                  <a:srgbClr val="94A3B8"/>
                </a:solidFill>
                <a:prstDash val="solid"/>
                <a:round/>
              </a:ln>
              <a:effectLst/>
            </c:spPr>
          </c:marker>
          <c:cat>
            <c:multiLvlStrRef>
              <c:f>Sheet1!$A$2:$A$10</c:f>
              <c:multiLvlStrCache>
                <c:ptCount val="9"/>
                <c:lvl>
                  <c:pt idx="0">
                    <c:v>0.0</c:v>
                  </c:pt>
                  <c:pt idx="1">
                    <c:v>0.5</c:v>
                  </c:pt>
                  <c:pt idx="2">
                    <c:v>1.0</c:v>
                  </c:pt>
                  <c:pt idx="3">
                    <c:v>1.5</c:v>
                  </c:pt>
                  <c:pt idx="4">
                    <c:v>2.0</c:v>
                  </c:pt>
                  <c:pt idx="5">
                    <c:v>2.5</c:v>
                  </c:pt>
                  <c:pt idx="6">
                    <c:v>3.0</c:v>
                  </c:pt>
                  <c:pt idx="7">
                    <c:v>3.5</c:v>
                  </c:pt>
                  <c:pt idx="8">
                    <c:v>4.0</c:v>
                  </c:pt>
                </c:lvl>
              </c:multiLvlStrCache>
            </c:multiLvlStrRef>
          </c:cat>
          <c:val>
            <c:numRef>
              <c:f>Sheet1!$B$2:$B$10</c:f>
              <c:numCache>
                <c:formatCode>General</c:formatCode>
                <c:ptCount val="9"/>
                <c:pt idx="0">
                  <c:v>16</c:v>
                </c:pt>
                <c:pt idx="1">
                  <c:v>32</c:v>
                </c:pt>
                <c:pt idx="2">
                  <c:v>48</c:v>
                </c:pt>
                <c:pt idx="3">
                  <c:v>64</c:v>
                </c:pt>
                <c:pt idx="4">
                  <c:v>80</c:v>
                </c:pt>
                <c:pt idx="5">
                  <c:v>96</c:v>
                </c:pt>
                <c:pt idx="6">
                  <c:v>112</c:v>
                </c:pt>
                <c:pt idx="7">
                  <c:v>128</c:v>
                </c:pt>
                <c:pt idx="8">
                  <c:v>144</c:v>
                </c:pt>
              </c:numCache>
            </c:numRef>
          </c:val>
          <c:smooth val="0"/>
        </c:ser>
        <c:ser>
          <c:idx val="1"/>
          <c:order val="1"/>
          <c:tx>
            <c:strRef>
              <c:f>Sheet1!$C$1</c:f>
              <c:strCache>
                <c:ptCount val="1"/>
                <c:pt idx="0">
                  <c:v>SHADE, full flooding</c:v>
                </c:pt>
              </c:strCache>
            </c:strRef>
          </c:tx>
          <c:spPr>
            <a:solidFill>
              <a:srgbClr val="F87171"/>
            </a:solidFill>
            <a:ln w="31750" cap="flat">
              <a:solidFill>
                <a:srgbClr val="F8717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87171"/>
              </a:solidFill>
              <a:ln w="9525" cap="flat">
                <a:solidFill>
                  <a:srgbClr val="F87171"/>
                </a:solidFill>
                <a:prstDash val="solid"/>
                <a:round/>
              </a:ln>
              <a:effectLst/>
            </c:spPr>
          </c:marker>
          <c:cat>
            <c:multiLvlStrRef>
              <c:f>Sheet1!$A$2:$A$10</c:f>
              <c:multiLvlStrCache>
                <c:ptCount val="9"/>
                <c:lvl>
                  <c:pt idx="0">
                    <c:v>0.0</c:v>
                  </c:pt>
                  <c:pt idx="1">
                    <c:v>0.5</c:v>
                  </c:pt>
                  <c:pt idx="2">
                    <c:v>1.0</c:v>
                  </c:pt>
                  <c:pt idx="3">
                    <c:v>1.5</c:v>
                  </c:pt>
                  <c:pt idx="4">
                    <c:v>2.0</c:v>
                  </c:pt>
                  <c:pt idx="5">
                    <c:v>2.5</c:v>
                  </c:pt>
                  <c:pt idx="6">
                    <c:v>3.0</c:v>
                  </c:pt>
                  <c:pt idx="7">
                    <c:v>3.5</c:v>
                  </c:pt>
                  <c:pt idx="8">
                    <c:v>4.0</c:v>
                  </c:pt>
                </c:lvl>
              </c:multiLvlStrCache>
            </c:multiLvlStrRef>
          </c:cat>
          <c:val>
            <c:numRef>
              <c:f>Sheet1!$C$2:$C$10</c:f>
              <c:numCache>
                <c:formatCode>General</c:formatCode>
                <c:ptCount val="9"/>
                <c:pt idx="0">
                  <c:v>64</c:v>
                </c:pt>
                <c:pt idx="1">
                  <c:v>72</c:v>
                </c:pt>
                <c:pt idx="2">
                  <c:v>80</c:v>
                </c:pt>
                <c:pt idx="3">
                  <c:v>88</c:v>
                </c:pt>
                <c:pt idx="4">
                  <c:v>96</c:v>
                </c:pt>
                <c:pt idx="5">
                  <c:v>104</c:v>
                </c:pt>
                <c:pt idx="6">
                  <c:v>112</c:v>
                </c:pt>
                <c:pt idx="7">
                  <c:v>120</c:v>
                </c:pt>
                <c:pt idx="8">
                  <c:v>128</c:v>
                </c:pt>
              </c:numCache>
            </c:numRef>
          </c:val>
          <c:smooth val="0"/>
        </c:ser>
        <c:ser>
          <c:idx val="2"/>
          <c:order val="2"/>
          <c:tx>
            <c:strRef>
              <c:f>Sheet1!$D$1</c:f>
              <c:strCache>
                <c:ptCount val="1"/>
                <c:pt idx="0">
                  <c:v>SHADE, two-tier relay</c:v>
                </c:pt>
              </c:strCache>
            </c:strRef>
          </c:tx>
          <c:spPr>
            <a:solidFill>
              <a:srgbClr val="FBBF24"/>
            </a:solidFill>
            <a:ln w="31750" cap="flat">
              <a:solidFill>
                <a:srgbClr val="FBBF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BBF24"/>
              </a:solidFill>
              <a:ln w="9525" cap="flat">
                <a:solidFill>
                  <a:srgbClr val="FBBF24"/>
                </a:solidFill>
                <a:prstDash val="solid"/>
                <a:round/>
              </a:ln>
              <a:effectLst/>
            </c:spPr>
          </c:marker>
          <c:cat>
            <c:multiLvlStrRef>
              <c:f>Sheet1!$A$2:$A$10</c:f>
              <c:multiLvlStrCache>
                <c:ptCount val="9"/>
                <c:lvl>
                  <c:pt idx="0">
                    <c:v>0.0</c:v>
                  </c:pt>
                  <c:pt idx="1">
                    <c:v>0.5</c:v>
                  </c:pt>
                  <c:pt idx="2">
                    <c:v>1.0</c:v>
                  </c:pt>
                  <c:pt idx="3">
                    <c:v>1.5</c:v>
                  </c:pt>
                  <c:pt idx="4">
                    <c:v>2.0</c:v>
                  </c:pt>
                  <c:pt idx="5">
                    <c:v>2.5</c:v>
                  </c:pt>
                  <c:pt idx="6">
                    <c:v>3.0</c:v>
                  </c:pt>
                  <c:pt idx="7">
                    <c:v>3.5</c:v>
                  </c:pt>
                  <c:pt idx="8">
                    <c:v>4.0</c:v>
                  </c:pt>
                </c:lvl>
              </c:multiLvlStrCache>
            </c:multiLvlStrRef>
          </c:cat>
          <c:val>
            <c:numRef>
              <c:f>Sheet1!$D$2:$D$10</c:f>
              <c:numCache>
                <c:formatCode>General</c:formatCode>
                <c:ptCount val="9"/>
                <c:pt idx="0">
                  <c:v>20.8</c:v>
                </c:pt>
                <c:pt idx="1">
                  <c:v>28.8</c:v>
                </c:pt>
                <c:pt idx="2">
                  <c:v>36.8</c:v>
                </c:pt>
                <c:pt idx="3">
                  <c:v>44.8</c:v>
                </c:pt>
                <c:pt idx="4">
                  <c:v>52.8</c:v>
                </c:pt>
                <c:pt idx="5">
                  <c:v>60.8</c:v>
                </c:pt>
                <c:pt idx="6">
                  <c:v>68.8</c:v>
                </c:pt>
                <c:pt idx="7">
                  <c:v>76.8</c:v>
                </c:pt>
                <c:pt idx="8">
                  <c:v>84.8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4A3B8"/>
                    </a:solidFill>
                    <a:latin typeface="Arial"/>
                  </a:defRPr>
                </a:pPr>
                <a:r>
                  <a:rPr sz="1000" b="0" i="0" u="none" strike="noStrike">
                    <a:solidFill>
                      <a:srgbClr val="94A3B8"/>
                    </a:solidFill>
                    <a:latin typeface="Arial"/>
                  </a:rPr>
                  <a:t>task arrival rate (tasks per second)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2A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CBD5E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SHADE stands for Shadow-Hedged Auction with Decaying Estimates. One line: robots allocate tasks among themselves, and when they lose contact with each other they reason about what the silent robots could be doing instead of just timing them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Centralized allocators are simple but fragile. In hazardous or remote environments links drop constantly, and a hub failure freezes every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robot R stops hearing robot P, R cannot tell whether P is dead, busy, or alive and better suited. Every existing answer sacrifices one of three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idea answers one requirement of the problem statement. Details follow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life of task T7. Numbers use the default parameters: patience P = 5 s, bid range W =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robot gossips a signed manifest. Everyone runs the same public bid function on it, so anyone can compute anyone’s bid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reachable set grows with silence. The ghost bid assumes the silent robot is as close to the task as its top speed allows, which is an upper bound on anything it could really bid.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tolerance line rises with task age. A robot claims when the line crosses its regret, so a small regret costs almost no waiting and a large one costs about a second. After the patience window, any regret is accepted, which bounds starvation.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Ranks remove the thundering herd and make recovery instant. Leases that need proof of progress catch robots that are alive but stuck or lying, which heartbeats cannot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out-vote faulty robots. We limit what they can claim, make most lies self-evidently false, and bound the damage of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ledger merges by set union, so it can never conflict. When two robots own the same task after a heal, the one closer to finishing keeps it, and we can prove no task is ever abandoned by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bounded guarantees, each proven under stated assumptions. The eighth card is equally important: say clearly what is not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robot runs the same eight-module agent. The observer plane only listens through a one-way telemetry tap, so losing the dashboard never affects the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ghost halo is the visual signature of the project: the audience sees the bound, not just hears about it. The dashboard is observer-only.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SHADE row. It removes bid messages and the bid round, and keeps working in every partition. The price is more local computation per robot, covered two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the analytical model, not from measurements. Experiment E7 will confirm or correct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Manifests are relayed fleet-wide, so background traffic grows with N squared. At the demo task rate SHADE sends more messages in total than a plain auction. Two-tier relay (full rate to neighbours, every fifth manifest beyond) moves the crossover from about 3 to about 0.3 tasks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ablation disables one mechanism. If removing it does not hurt a metric, the mechanism is not pulling its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column is what we expect, stated before we run anything, so the results can prove us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Python agent runs inside ROS 2 nodes for the Gazebo demo and in a headless loop for 30-seed experiments. Status: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per minute. End on the ghost halo shrinking as the silent robot comes back into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keeps the protocol readable and testable. ROS 2 and Gazebo give a credible robot simulation. The web stack is only for the observer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level ends with something demonstrable. A level does not start until the previous gate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closest neighbours before the judges do. Our claim is a new combination with proven bounds, not "the first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risks are about scope and tuning, not theory. The scope-cut order keeps the project’s identity intact if time runs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tagline. Likely questions: Is this just CBBA? What about duplicate work? Can a malicious robot break it? Why not Raft? Answers are in the design doc, Section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flipV="1">
            <a:off x="5760720" y="822960"/>
            <a:ext cx="1188720" cy="274320"/>
          </a:xfrm>
          <a:prstGeom prst="line">
            <a:avLst/>
          </a:prstGeom>
          <a:noFill/>
          <a:ln w="15875">
            <a:solidFill>
              <a:srgbClr val="3B4A6B"/>
            </a:solidFill>
            <a:prstDash val="solid"/>
          </a:ln>
        </p:spPr>
      </p:sp>
      <p:sp>
        <p:nvSpPr>
          <p:cNvPr id="3" name="Shape 1"/>
          <p:cNvSpPr/>
          <p:nvPr/>
        </p:nvSpPr>
        <p:spPr>
          <a:xfrm>
            <a:off x="6949440" y="822960"/>
            <a:ext cx="1188720" cy="548640"/>
          </a:xfrm>
          <a:prstGeom prst="line">
            <a:avLst/>
          </a:prstGeom>
          <a:noFill/>
          <a:ln w="15875">
            <a:solidFill>
              <a:srgbClr val="3B4A6B"/>
            </a:solidFill>
            <a:prstDash val="solid"/>
          </a:ln>
        </p:spPr>
      </p:sp>
      <p:sp>
        <p:nvSpPr>
          <p:cNvPr id="4" name="Shape 2"/>
          <p:cNvSpPr/>
          <p:nvPr/>
        </p:nvSpPr>
        <p:spPr>
          <a:xfrm>
            <a:off x="5760720" y="1097280"/>
            <a:ext cx="548640" cy="1005840"/>
          </a:xfrm>
          <a:prstGeom prst="line">
            <a:avLst/>
          </a:prstGeom>
          <a:noFill/>
          <a:ln w="15875">
            <a:solidFill>
              <a:srgbClr val="3B4A6B"/>
            </a:solidFill>
            <a:prstDash val="solid"/>
          </a:ln>
        </p:spPr>
      </p:sp>
      <p:sp>
        <p:nvSpPr>
          <p:cNvPr id="5" name="Shape 3"/>
          <p:cNvSpPr/>
          <p:nvPr/>
        </p:nvSpPr>
        <p:spPr>
          <a:xfrm flipH="1">
            <a:off x="6309360" y="822960"/>
            <a:ext cx="640080" cy="1280160"/>
          </a:xfrm>
          <a:prstGeom prst="line">
            <a:avLst/>
          </a:prstGeom>
          <a:noFill/>
          <a:ln w="15875">
            <a:solidFill>
              <a:srgbClr val="3B4A6B"/>
            </a:solidFill>
            <a:prstDash val="solid"/>
          </a:ln>
        </p:spPr>
      </p:sp>
      <p:sp>
        <p:nvSpPr>
          <p:cNvPr id="6" name="Shape 4"/>
          <p:cNvSpPr/>
          <p:nvPr/>
        </p:nvSpPr>
        <p:spPr>
          <a:xfrm flipH="1">
            <a:off x="7498080" y="1371600"/>
            <a:ext cx="640080" cy="914400"/>
          </a:xfrm>
          <a:prstGeom prst="line">
            <a:avLst/>
          </a:prstGeom>
          <a:noFill/>
          <a:ln w="15875">
            <a:solidFill>
              <a:srgbClr val="3B4A6B"/>
            </a:solidFill>
            <a:prstDash val="solid"/>
          </a:ln>
        </p:spPr>
      </p:sp>
      <p:sp>
        <p:nvSpPr>
          <p:cNvPr id="7" name="Shape 5"/>
          <p:cNvSpPr/>
          <p:nvPr/>
        </p:nvSpPr>
        <p:spPr>
          <a:xfrm flipH="1">
            <a:off x="5669280" y="2103120"/>
            <a:ext cx="640080" cy="1097280"/>
          </a:xfrm>
          <a:prstGeom prst="line">
            <a:avLst/>
          </a:prstGeom>
          <a:noFill/>
          <a:ln w="15875">
            <a:solidFill>
              <a:srgbClr val="3B4A6B"/>
            </a:solidFill>
            <a:prstDash val="solid"/>
          </a:ln>
        </p:spPr>
      </p:sp>
      <p:sp>
        <p:nvSpPr>
          <p:cNvPr id="8" name="Shape 6"/>
          <p:cNvSpPr/>
          <p:nvPr/>
        </p:nvSpPr>
        <p:spPr>
          <a:xfrm>
            <a:off x="6309360" y="2103120"/>
            <a:ext cx="548640" cy="1463040"/>
          </a:xfrm>
          <a:prstGeom prst="line">
            <a:avLst/>
          </a:prstGeom>
          <a:noFill/>
          <a:ln w="15875">
            <a:solidFill>
              <a:srgbClr val="3B4A6B"/>
            </a:solidFill>
            <a:prstDash val="solid"/>
          </a:ln>
        </p:spPr>
      </p:sp>
      <p:sp>
        <p:nvSpPr>
          <p:cNvPr id="9" name="Shape 7"/>
          <p:cNvSpPr/>
          <p:nvPr/>
        </p:nvSpPr>
        <p:spPr>
          <a:xfrm>
            <a:off x="5669280" y="3200400"/>
            <a:ext cx="1188720" cy="365760"/>
          </a:xfrm>
          <a:prstGeom prst="line">
            <a:avLst/>
          </a:prstGeom>
          <a:noFill/>
          <a:ln w="15875">
            <a:solidFill>
              <a:srgbClr val="3B4A6B"/>
            </a:solidFill>
            <a:prstDash val="solid"/>
          </a:ln>
        </p:spPr>
      </p:sp>
      <p:sp>
        <p:nvSpPr>
          <p:cNvPr id="10" name="Shape 8"/>
          <p:cNvSpPr/>
          <p:nvPr/>
        </p:nvSpPr>
        <p:spPr>
          <a:xfrm>
            <a:off x="7498080" y="2286000"/>
            <a:ext cx="914400" cy="731520"/>
          </a:xfrm>
          <a:prstGeom prst="line">
            <a:avLst/>
          </a:prstGeom>
          <a:noFill/>
          <a:ln w="15875">
            <a:solidFill>
              <a:srgbClr val="3B4A6B"/>
            </a:solidFill>
            <a:prstDash val="solid"/>
          </a:ln>
        </p:spPr>
      </p:sp>
      <p:sp>
        <p:nvSpPr>
          <p:cNvPr id="11" name="Shape 9"/>
          <p:cNvSpPr/>
          <p:nvPr/>
        </p:nvSpPr>
        <p:spPr>
          <a:xfrm flipH="1">
            <a:off x="7863840" y="3017520"/>
            <a:ext cx="548640" cy="1097280"/>
          </a:xfrm>
          <a:prstGeom prst="line">
            <a:avLst/>
          </a:prstGeom>
          <a:noFill/>
          <a:ln w="15875">
            <a:solidFill>
              <a:srgbClr val="3B4A6B"/>
            </a:solidFill>
            <a:prstDash val="solid"/>
          </a:ln>
        </p:spPr>
      </p:sp>
      <p:sp>
        <p:nvSpPr>
          <p:cNvPr id="12" name="Shape 10"/>
          <p:cNvSpPr/>
          <p:nvPr/>
        </p:nvSpPr>
        <p:spPr>
          <a:xfrm>
            <a:off x="8138160" y="1371600"/>
            <a:ext cx="274320" cy="1645920"/>
          </a:xfrm>
          <a:prstGeom prst="line">
            <a:avLst/>
          </a:prstGeom>
          <a:noFill/>
          <a:ln w="15875">
            <a:solidFill>
              <a:srgbClr val="3B4A6B"/>
            </a:solidFill>
            <a:prstDash val="solid"/>
          </a:ln>
        </p:spPr>
      </p:sp>
      <p:sp>
        <p:nvSpPr>
          <p:cNvPr id="13" name="Shape 11"/>
          <p:cNvSpPr/>
          <p:nvPr/>
        </p:nvSpPr>
        <p:spPr>
          <a:xfrm>
            <a:off x="6949440" y="822960"/>
            <a:ext cx="548640" cy="1463040"/>
          </a:xfrm>
          <a:prstGeom prst="line">
            <a:avLst/>
          </a:prstGeom>
          <a:noFill/>
          <a:ln w="15875">
            <a:solidFill>
              <a:srgbClr val="F87171"/>
            </a:solidFill>
            <a:prstDash val="dash"/>
          </a:ln>
        </p:spPr>
      </p:sp>
      <p:sp>
        <p:nvSpPr>
          <p:cNvPr id="14" name="Shape 12"/>
          <p:cNvSpPr/>
          <p:nvPr/>
        </p:nvSpPr>
        <p:spPr>
          <a:xfrm>
            <a:off x="6309360" y="2103120"/>
            <a:ext cx="1188720" cy="182880"/>
          </a:xfrm>
          <a:prstGeom prst="line">
            <a:avLst/>
          </a:prstGeom>
          <a:noFill/>
          <a:ln w="15875">
            <a:solidFill>
              <a:srgbClr val="F87171"/>
            </a:solidFill>
            <a:prstDash val="dash"/>
          </a:ln>
        </p:spPr>
      </p:sp>
      <p:sp>
        <p:nvSpPr>
          <p:cNvPr id="15" name="Shape 13"/>
          <p:cNvSpPr/>
          <p:nvPr/>
        </p:nvSpPr>
        <p:spPr>
          <a:xfrm flipH="1">
            <a:off x="6858000" y="2286000"/>
            <a:ext cx="640080" cy="1280160"/>
          </a:xfrm>
          <a:prstGeom prst="line">
            <a:avLst/>
          </a:prstGeom>
          <a:noFill/>
          <a:ln w="15875">
            <a:solidFill>
              <a:srgbClr val="F87171"/>
            </a:solidFill>
            <a:prstDash val="dash"/>
          </a:ln>
        </p:spPr>
      </p:sp>
      <p:sp>
        <p:nvSpPr>
          <p:cNvPr id="16" name="Shape 14"/>
          <p:cNvSpPr/>
          <p:nvPr/>
        </p:nvSpPr>
        <p:spPr>
          <a:xfrm>
            <a:off x="6858000" y="3566160"/>
            <a:ext cx="1005840" cy="548640"/>
          </a:xfrm>
          <a:prstGeom prst="line">
            <a:avLst/>
          </a:prstGeom>
          <a:noFill/>
          <a:ln w="15875">
            <a:solidFill>
              <a:srgbClr val="F87171"/>
            </a:solidFill>
            <a:prstDash val="dash"/>
          </a:ln>
        </p:spPr>
      </p:sp>
      <p:sp>
        <p:nvSpPr>
          <p:cNvPr id="17" name="Shape 15"/>
          <p:cNvSpPr/>
          <p:nvPr/>
        </p:nvSpPr>
        <p:spPr>
          <a:xfrm>
            <a:off x="6318504" y="1335024"/>
            <a:ext cx="164592" cy="164592"/>
          </a:xfrm>
          <a:prstGeom prst="rect">
            <a:avLst/>
          </a:prstGeom>
          <a:solidFill>
            <a:srgbClr val="0B1120"/>
          </a:solidFill>
          <a:ln w="19050">
            <a:solidFill>
              <a:srgbClr val="FBBF24"/>
            </a:solidFill>
            <a:prstDash val="solid"/>
          </a:ln>
        </p:spPr>
      </p:sp>
      <p:sp>
        <p:nvSpPr>
          <p:cNvPr id="18" name="Shape 16"/>
          <p:cNvSpPr/>
          <p:nvPr/>
        </p:nvSpPr>
        <p:spPr>
          <a:xfrm>
            <a:off x="7918704" y="3438144"/>
            <a:ext cx="164592" cy="164592"/>
          </a:xfrm>
          <a:prstGeom prst="rect">
            <a:avLst/>
          </a:prstGeom>
          <a:solidFill>
            <a:srgbClr val="0B1120"/>
          </a:solidFill>
          <a:ln w="19050">
            <a:solidFill>
              <a:srgbClr val="2DD4BF"/>
            </a:solidFill>
            <a:prstDash val="solid"/>
          </a:ln>
        </p:spPr>
      </p:sp>
      <p:sp>
        <p:nvSpPr>
          <p:cNvPr id="19" name="Shape 17"/>
          <p:cNvSpPr/>
          <p:nvPr/>
        </p:nvSpPr>
        <p:spPr>
          <a:xfrm>
            <a:off x="6181344" y="2752344"/>
            <a:ext cx="164592" cy="164592"/>
          </a:xfrm>
          <a:prstGeom prst="rect">
            <a:avLst/>
          </a:prstGeom>
          <a:solidFill>
            <a:srgbClr val="0B1120"/>
          </a:solidFill>
          <a:ln w="19050">
            <a:solidFill>
              <a:srgbClr val="FBBF24"/>
            </a:solidFill>
            <a:prstDash val="solid"/>
          </a:ln>
        </p:spPr>
      </p:sp>
      <p:sp>
        <p:nvSpPr>
          <p:cNvPr id="20" name="Shape 18"/>
          <p:cNvSpPr/>
          <p:nvPr/>
        </p:nvSpPr>
        <p:spPr>
          <a:xfrm>
            <a:off x="5605272" y="941832"/>
            <a:ext cx="310896" cy="310896"/>
          </a:xfrm>
          <a:prstGeom prst="ellipse">
            <a:avLst/>
          </a:prstGeom>
          <a:solidFill>
            <a:srgbClr val="FBBF24"/>
          </a:solidFill>
          <a:ln w="19050">
            <a:solidFill>
              <a:srgbClr val="0B1120"/>
            </a:solidFill>
            <a:prstDash val="solid"/>
          </a:ln>
        </p:spPr>
      </p:sp>
      <p:sp>
        <p:nvSpPr>
          <p:cNvPr id="21" name="Shape 19"/>
          <p:cNvSpPr/>
          <p:nvPr/>
        </p:nvSpPr>
        <p:spPr>
          <a:xfrm>
            <a:off x="6793992" y="667512"/>
            <a:ext cx="310896" cy="310896"/>
          </a:xfrm>
          <a:prstGeom prst="ellipse">
            <a:avLst/>
          </a:prstGeom>
          <a:solidFill>
            <a:srgbClr val="FBBF24"/>
          </a:solidFill>
          <a:ln w="19050">
            <a:solidFill>
              <a:srgbClr val="0B1120"/>
            </a:solidFill>
            <a:prstDash val="solid"/>
          </a:ln>
        </p:spPr>
      </p:sp>
      <p:sp>
        <p:nvSpPr>
          <p:cNvPr id="22" name="Shape 20"/>
          <p:cNvSpPr/>
          <p:nvPr/>
        </p:nvSpPr>
        <p:spPr>
          <a:xfrm>
            <a:off x="7982712" y="1216152"/>
            <a:ext cx="310896" cy="310896"/>
          </a:xfrm>
          <a:prstGeom prst="ellipse">
            <a:avLst/>
          </a:prstGeom>
          <a:solidFill>
            <a:srgbClr val="2DD4BF"/>
          </a:solidFill>
          <a:ln w="19050">
            <a:solidFill>
              <a:srgbClr val="0B1120"/>
            </a:solidFill>
            <a:prstDash val="solid"/>
          </a:ln>
        </p:spPr>
      </p:sp>
      <p:sp>
        <p:nvSpPr>
          <p:cNvPr id="23" name="Shape 21"/>
          <p:cNvSpPr/>
          <p:nvPr/>
        </p:nvSpPr>
        <p:spPr>
          <a:xfrm>
            <a:off x="6153912" y="1947672"/>
            <a:ext cx="310896" cy="310896"/>
          </a:xfrm>
          <a:prstGeom prst="ellipse">
            <a:avLst/>
          </a:prstGeom>
          <a:solidFill>
            <a:srgbClr val="FBBF24"/>
          </a:solidFill>
          <a:ln w="19050">
            <a:solidFill>
              <a:srgbClr val="0B1120"/>
            </a:solidFill>
            <a:prstDash val="solid"/>
          </a:ln>
        </p:spPr>
      </p:sp>
      <p:sp>
        <p:nvSpPr>
          <p:cNvPr id="24" name="Shape 22"/>
          <p:cNvSpPr/>
          <p:nvPr/>
        </p:nvSpPr>
        <p:spPr>
          <a:xfrm>
            <a:off x="7342632" y="2130552"/>
            <a:ext cx="310896" cy="310896"/>
          </a:xfrm>
          <a:prstGeom prst="ellipse">
            <a:avLst/>
          </a:prstGeom>
          <a:solidFill>
            <a:srgbClr val="2DD4BF"/>
          </a:solidFill>
          <a:ln w="19050">
            <a:solidFill>
              <a:srgbClr val="0B1120"/>
            </a:solidFill>
            <a:prstDash val="solid"/>
          </a:ln>
        </p:spPr>
      </p:sp>
      <p:sp>
        <p:nvSpPr>
          <p:cNvPr id="25" name="Shape 23"/>
          <p:cNvSpPr/>
          <p:nvPr/>
        </p:nvSpPr>
        <p:spPr>
          <a:xfrm>
            <a:off x="8257032" y="2862072"/>
            <a:ext cx="310896" cy="310896"/>
          </a:xfrm>
          <a:prstGeom prst="ellipse">
            <a:avLst/>
          </a:prstGeom>
          <a:solidFill>
            <a:srgbClr val="2DD4BF"/>
          </a:solidFill>
          <a:ln w="19050">
            <a:solidFill>
              <a:srgbClr val="0B1120"/>
            </a:solidFill>
            <a:prstDash val="solid"/>
          </a:ln>
        </p:spPr>
      </p:sp>
      <p:sp>
        <p:nvSpPr>
          <p:cNvPr id="26" name="Shape 24"/>
          <p:cNvSpPr/>
          <p:nvPr/>
        </p:nvSpPr>
        <p:spPr>
          <a:xfrm>
            <a:off x="5513832" y="3044952"/>
            <a:ext cx="310896" cy="310896"/>
          </a:xfrm>
          <a:prstGeom prst="ellipse">
            <a:avLst/>
          </a:prstGeom>
          <a:solidFill>
            <a:srgbClr val="FBBF24"/>
          </a:solidFill>
          <a:ln w="19050">
            <a:solidFill>
              <a:srgbClr val="0B1120"/>
            </a:solidFill>
            <a:prstDash val="solid"/>
          </a:ln>
        </p:spPr>
      </p:sp>
      <p:sp>
        <p:nvSpPr>
          <p:cNvPr id="27" name="Shape 25"/>
          <p:cNvSpPr/>
          <p:nvPr/>
        </p:nvSpPr>
        <p:spPr>
          <a:xfrm>
            <a:off x="6702552" y="3410712"/>
            <a:ext cx="310896" cy="310896"/>
          </a:xfrm>
          <a:prstGeom prst="ellipse">
            <a:avLst/>
          </a:prstGeom>
          <a:solidFill>
            <a:srgbClr val="FBBF24"/>
          </a:solidFill>
          <a:ln w="19050">
            <a:solidFill>
              <a:srgbClr val="0B1120"/>
            </a:solidFill>
            <a:prstDash val="solid"/>
          </a:ln>
        </p:spPr>
      </p:sp>
      <p:sp>
        <p:nvSpPr>
          <p:cNvPr id="28" name="Shape 26"/>
          <p:cNvSpPr/>
          <p:nvPr/>
        </p:nvSpPr>
        <p:spPr>
          <a:xfrm>
            <a:off x="7708392" y="3959352"/>
            <a:ext cx="310896" cy="310896"/>
          </a:xfrm>
          <a:prstGeom prst="ellipse">
            <a:avLst/>
          </a:prstGeom>
          <a:solidFill>
            <a:srgbClr val="2DD4BF"/>
          </a:solidFill>
          <a:ln w="19050">
            <a:solidFill>
              <a:srgbClr val="0B1120"/>
            </a:solidFill>
            <a:prstDash val="solid"/>
          </a:ln>
        </p:spPr>
      </p:sp>
      <p:sp>
        <p:nvSpPr>
          <p:cNvPr id="29" name="Text 27"/>
          <p:cNvSpPr txBox="1"/>
          <p:nvPr/>
        </p:nvSpPr>
        <p:spPr>
          <a:xfrm>
            <a:off x="457200" y="868680"/>
            <a:ext cx="475488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PNR2  ·  ROBOTICS, DRONES &amp; AUTONOMOUS SYSTEMS</a:t>
            </a:r>
            <a:endParaRPr lang="en-US" sz="1000" dirty="0"/>
          </a:p>
        </p:txBody>
      </p:sp>
      <p:sp>
        <p:nvSpPr>
          <p:cNvPr id="30" name="Text 28"/>
          <p:cNvSpPr txBox="1"/>
          <p:nvPr/>
        </p:nvSpPr>
        <p:spPr>
          <a:xfrm>
            <a:off x="457200" y="1143000"/>
            <a:ext cx="4572000" cy="822960"/>
          </a:xfrm>
          <a:prstGeom prst="rect">
            <a:avLst/>
          </a:prstGeom>
          <a:noFill/>
          <a:ln/>
        </p:spPr>
        <p:txBody>
          <a:bodyPr wrap="square" lIns="0" tIns="0" rIns="0" bIns="0" rtlCol="0" anchor="t"/>
          <a:lstStyle/>
          <a:p>
            <a:pPr indent="0" marL="0">
              <a:buNone/>
            </a:pPr>
            <a:r>
              <a:rPr lang="en-US" sz="5400" b="1" dirty="0">
                <a:solidFill>
                  <a:srgbClr val="F1F5F9"/>
                </a:solidFill>
                <a:latin typeface="Calibri" pitchFamily="34" charset="0"/>
                <a:ea typeface="Calibri" pitchFamily="34" charset="-122"/>
                <a:cs typeface="Calibri" pitchFamily="34" charset="-120"/>
              </a:rPr>
              <a:t>SHADE</a:t>
            </a:r>
            <a:endParaRPr lang="en-US" sz="5400" dirty="0"/>
          </a:p>
        </p:txBody>
      </p:sp>
      <p:sp>
        <p:nvSpPr>
          <p:cNvPr id="31" name="Text 29"/>
          <p:cNvSpPr txBox="1"/>
          <p:nvPr/>
        </p:nvSpPr>
        <p:spPr>
          <a:xfrm>
            <a:off x="457200" y="1965960"/>
            <a:ext cx="4754880" cy="411480"/>
          </a:xfrm>
          <a:prstGeom prst="rect">
            <a:avLst/>
          </a:prstGeom>
          <a:noFill/>
          <a:ln/>
        </p:spPr>
        <p:txBody>
          <a:bodyPr wrap="square" lIns="0" tIns="0" rIns="0" bIns="0" rtlCol="0" anchor="t"/>
          <a:lstStyle/>
          <a:p>
            <a:pPr indent="0" marL="0">
              <a:buNone/>
            </a:pPr>
            <a:r>
              <a:rPr lang="en-US" sz="2000" b="1" dirty="0">
                <a:solidFill>
                  <a:srgbClr val="FBBF24"/>
                </a:solidFill>
                <a:latin typeface="Calibri" pitchFamily="34" charset="0"/>
                <a:ea typeface="Calibri" pitchFamily="34" charset="-122"/>
                <a:cs typeface="Calibri" pitchFamily="34" charset="-120"/>
              </a:rPr>
              <a:t>Ghost-aware decentralized task auction</a:t>
            </a:r>
            <a:endParaRPr lang="en-US" sz="2000" dirty="0"/>
          </a:p>
        </p:txBody>
      </p:sp>
      <p:sp>
        <p:nvSpPr>
          <p:cNvPr id="32" name="Text 30"/>
          <p:cNvSpPr txBox="1"/>
          <p:nvPr/>
        </p:nvSpPr>
        <p:spPr>
          <a:xfrm>
            <a:off x="457200" y="2487168"/>
            <a:ext cx="4480560" cy="86868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A multi-robot task allocation protocol that keeps working when the network fails, and is honest about what that costs.</a:t>
            </a:r>
            <a:endParaRPr lang="en-US" sz="1500" dirty="0"/>
          </a:p>
        </p:txBody>
      </p:sp>
      <p:sp>
        <p:nvSpPr>
          <p:cNvPr id="33" name="Shape 31"/>
          <p:cNvSpPr/>
          <p:nvPr/>
        </p:nvSpPr>
        <p:spPr>
          <a:xfrm>
            <a:off x="457200" y="3520440"/>
            <a:ext cx="2743200" cy="329184"/>
          </a:xfrm>
          <a:prstGeom prst="roundRect">
            <a:avLst>
              <a:gd name="adj" fmla="val 50000"/>
            </a:avLst>
          </a:prstGeom>
          <a:solidFill>
            <a:srgbClr val="FBBF24"/>
          </a:solidFill>
          <a:ln w="12700">
            <a:solidFill>
              <a:srgbClr val="FBBF24"/>
            </a:solidFill>
            <a:prstDash val="solid"/>
          </a:ln>
        </p:spPr>
      </p:sp>
      <p:sp>
        <p:nvSpPr>
          <p:cNvPr id="34" name="Text 32"/>
          <p:cNvSpPr txBox="1"/>
          <p:nvPr/>
        </p:nvSpPr>
        <p:spPr>
          <a:xfrm>
            <a:off x="457200" y="3520440"/>
            <a:ext cx="2743200" cy="329184"/>
          </a:xfrm>
          <a:prstGeom prst="rect">
            <a:avLst/>
          </a:prstGeom>
          <a:noFill/>
          <a:ln/>
        </p:spPr>
        <p:txBody>
          <a:bodyPr wrap="square" lIns="0" tIns="0" rIns="0" bIns="0" rtlCol="0" anchor="ctr"/>
          <a:lstStyle/>
          <a:p>
            <a:pPr algn="ctr" indent="0" marL="0">
              <a:buNone/>
            </a:pPr>
            <a:r>
              <a:rPr lang="en-US" sz="1000" b="1" spc="200" kern="0" dirty="0">
                <a:solidFill>
                  <a:srgbClr val="0B1120"/>
                </a:solidFill>
                <a:latin typeface="Calibri" pitchFamily="34" charset="0"/>
                <a:ea typeface="Calibri" pitchFamily="34" charset="-122"/>
                <a:cs typeface="Calibri" pitchFamily="34" charset="-120"/>
              </a:rPr>
              <a:t>PROJECT PRESENTATION</a:t>
            </a:r>
            <a:endParaRPr lang="en-US" sz="1000" dirty="0"/>
          </a:p>
        </p:txBody>
      </p:sp>
      <p:sp>
        <p:nvSpPr>
          <p:cNvPr id="35" name="Text 33"/>
          <p:cNvSpPr txBox="1"/>
          <p:nvPr/>
        </p:nvSpPr>
        <p:spPr>
          <a:xfrm>
            <a:off x="457200" y="4023360"/>
            <a:ext cx="4754880" cy="22860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Software-only  ·  Python protocol core  ·  ROS 2 + Gazebo simulation</a:t>
            </a:r>
            <a:endParaRPr lang="en-US" sz="1100" dirty="0"/>
          </a:p>
        </p:txBody>
      </p:sp>
      <p:sp>
        <p:nvSpPr>
          <p:cNvPr id="36" name="Text 34"/>
          <p:cNvSpPr txBox="1"/>
          <p:nvPr/>
        </p:nvSpPr>
        <p:spPr>
          <a:xfrm>
            <a:off x="5120640" y="4526280"/>
            <a:ext cx="3566160" cy="201168"/>
          </a:xfrm>
          <a:prstGeom prst="rect">
            <a:avLst/>
          </a:prstGeom>
          <a:noFill/>
          <a:ln/>
        </p:spPr>
        <p:txBody>
          <a:bodyPr wrap="square" lIns="0" tIns="0" rIns="0" bIns="0" rtlCol="0" anchor="t"/>
          <a:lstStyle/>
          <a:p>
            <a:pPr algn="r" indent="0" marL="0">
              <a:buNone/>
            </a:pPr>
            <a:r>
              <a:rPr lang="en-US" sz="1000" i="1" dirty="0">
                <a:solidFill>
                  <a:srgbClr val="94A3B8"/>
                </a:solidFill>
                <a:latin typeface="Calibri" pitchFamily="34" charset="0"/>
                <a:ea typeface="Calibri" pitchFamily="34" charset="-122"/>
                <a:cs typeface="Calibri" pitchFamily="34" charset="-120"/>
              </a:rPr>
              <a:t>Shadow-Hedged Auction with Decaying Estimates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01  ·  THE PROBLEM</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One coordinator, one point of failure</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457200" y="1371600"/>
            <a:ext cx="3840480" cy="960120"/>
          </a:xfrm>
          <a:prstGeom prst="roundRect">
            <a:avLst>
              <a:gd name="adj" fmla="val 7619"/>
            </a:avLst>
          </a:prstGeom>
          <a:solidFill>
            <a:srgbClr val="131C31"/>
          </a:solidFill>
          <a:ln w="9525">
            <a:solidFill>
              <a:srgbClr val="2A3A5F"/>
            </a:solidFill>
            <a:prstDash val="solid"/>
          </a:ln>
        </p:spPr>
      </p:sp>
      <p:sp>
        <p:nvSpPr>
          <p:cNvPr id="8" name="Shape 5"/>
          <p:cNvSpPr/>
          <p:nvPr/>
        </p:nvSpPr>
        <p:spPr>
          <a:xfrm>
            <a:off x="621792" y="1618488"/>
            <a:ext cx="457200" cy="457200"/>
          </a:xfrm>
          <a:prstGeom prst="ellipse">
            <a:avLst/>
          </a:prstGeom>
          <a:solidFill>
            <a:srgbClr val="1B2742"/>
          </a:solidFill>
          <a:ln w="12700">
            <a:solidFill>
              <a:srgbClr val="FBBF24"/>
            </a:solidFill>
            <a:prstDash val="solid"/>
          </a:ln>
        </p:spPr>
      </p:sp>
      <p:pic>
        <p:nvPicPr>
          <p:cNvPr id="9" name="Image 0" descr="preencoded.png">    </p:cNvPr>
          <p:cNvPicPr>
            <a:picLocks noChangeAspect="1"/>
          </p:cNvPicPr>
          <p:nvPr/>
        </p:nvPicPr>
        <p:blipFill>
          <a:blip r:embed="rId1"/>
          <a:stretch>
            <a:fillRect/>
          </a:stretch>
        </p:blipFill>
        <p:spPr>
          <a:xfrm>
            <a:off x="745236" y="1741932"/>
            <a:ext cx="210312" cy="210312"/>
          </a:xfrm>
          <a:prstGeom prst="rect">
            <a:avLst/>
          </a:prstGeom>
        </p:spPr>
      </p:pic>
      <p:sp>
        <p:nvSpPr>
          <p:cNvPr id="10" name="Text 6"/>
          <p:cNvSpPr txBox="1"/>
          <p:nvPr/>
        </p:nvSpPr>
        <p:spPr>
          <a:xfrm>
            <a:off x="1280160" y="1499616"/>
            <a:ext cx="2926080" cy="256032"/>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Single point of failure</a:t>
            </a:r>
            <a:endParaRPr lang="en-US" sz="1400" dirty="0"/>
          </a:p>
        </p:txBody>
      </p:sp>
      <p:sp>
        <p:nvSpPr>
          <p:cNvPr id="11" name="Text 7"/>
          <p:cNvSpPr txBox="1"/>
          <p:nvPr/>
        </p:nvSpPr>
        <p:spPr>
          <a:xfrm>
            <a:off x="1280160" y="1773936"/>
            <a:ext cx="2926080" cy="50292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If the central allocator goes down, the whole fleet stops taking orders.</a:t>
            </a:r>
            <a:endParaRPr lang="en-US" sz="1150" dirty="0"/>
          </a:p>
        </p:txBody>
      </p:sp>
      <p:sp>
        <p:nvSpPr>
          <p:cNvPr id="12" name="Shape 8"/>
          <p:cNvSpPr/>
          <p:nvPr/>
        </p:nvSpPr>
        <p:spPr>
          <a:xfrm>
            <a:off x="457200" y="2423160"/>
            <a:ext cx="3840480" cy="960120"/>
          </a:xfrm>
          <a:prstGeom prst="roundRect">
            <a:avLst>
              <a:gd name="adj" fmla="val 7619"/>
            </a:avLst>
          </a:prstGeom>
          <a:solidFill>
            <a:srgbClr val="131C31"/>
          </a:solidFill>
          <a:ln w="9525">
            <a:solidFill>
              <a:srgbClr val="2A3A5F"/>
            </a:solidFill>
            <a:prstDash val="solid"/>
          </a:ln>
        </p:spPr>
      </p:sp>
      <p:sp>
        <p:nvSpPr>
          <p:cNvPr id="13" name="Shape 9"/>
          <p:cNvSpPr/>
          <p:nvPr/>
        </p:nvSpPr>
        <p:spPr>
          <a:xfrm>
            <a:off x="621792" y="2670048"/>
            <a:ext cx="457200" cy="457200"/>
          </a:xfrm>
          <a:prstGeom prst="ellipse">
            <a:avLst/>
          </a:prstGeom>
          <a:solidFill>
            <a:srgbClr val="1B2742"/>
          </a:solidFill>
          <a:ln w="12700">
            <a:solidFill>
              <a:srgbClr val="FBBF24"/>
            </a:solidFill>
            <a:prstDash val="solid"/>
          </a:ln>
        </p:spPr>
      </p:sp>
      <p:pic>
        <p:nvPicPr>
          <p:cNvPr id="14" name="Image 1" descr="preencoded.png">    </p:cNvPr>
          <p:cNvPicPr>
            <a:picLocks noChangeAspect="1"/>
          </p:cNvPicPr>
          <p:nvPr/>
        </p:nvPicPr>
        <p:blipFill>
          <a:blip r:embed="rId2"/>
          <a:stretch>
            <a:fillRect/>
          </a:stretch>
        </p:blipFill>
        <p:spPr>
          <a:xfrm>
            <a:off x="745236" y="2793492"/>
            <a:ext cx="210312" cy="210312"/>
          </a:xfrm>
          <a:prstGeom prst="rect">
            <a:avLst/>
          </a:prstGeom>
        </p:spPr>
      </p:pic>
      <p:sp>
        <p:nvSpPr>
          <p:cNvPr id="15" name="Text 10"/>
          <p:cNvSpPr txBox="1"/>
          <p:nvPr/>
        </p:nvSpPr>
        <p:spPr>
          <a:xfrm>
            <a:off x="1280160" y="2551176"/>
            <a:ext cx="2926080" cy="256032"/>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Unreliable links</a:t>
            </a:r>
            <a:endParaRPr lang="en-US" sz="1400" dirty="0"/>
          </a:p>
        </p:txBody>
      </p:sp>
      <p:sp>
        <p:nvSpPr>
          <p:cNvPr id="16" name="Text 11"/>
          <p:cNvSpPr txBox="1"/>
          <p:nvPr/>
        </p:nvSpPr>
        <p:spPr>
          <a:xfrm>
            <a:off x="1280160" y="2825496"/>
            <a:ext cx="2926080" cy="50292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Hazard zones cause dropouts and partitions that cut robots off from the hub.</a:t>
            </a:r>
            <a:endParaRPr lang="en-US" sz="1150" dirty="0"/>
          </a:p>
        </p:txBody>
      </p:sp>
      <p:sp>
        <p:nvSpPr>
          <p:cNvPr id="17" name="Shape 12"/>
          <p:cNvSpPr/>
          <p:nvPr/>
        </p:nvSpPr>
        <p:spPr>
          <a:xfrm>
            <a:off x="457200" y="3474720"/>
            <a:ext cx="3840480" cy="960120"/>
          </a:xfrm>
          <a:prstGeom prst="roundRect">
            <a:avLst>
              <a:gd name="adj" fmla="val 7619"/>
            </a:avLst>
          </a:prstGeom>
          <a:solidFill>
            <a:srgbClr val="131C31"/>
          </a:solidFill>
          <a:ln w="9525">
            <a:solidFill>
              <a:srgbClr val="2A3A5F"/>
            </a:solidFill>
            <a:prstDash val="solid"/>
          </a:ln>
        </p:spPr>
      </p:sp>
      <p:sp>
        <p:nvSpPr>
          <p:cNvPr id="18" name="Shape 13"/>
          <p:cNvSpPr/>
          <p:nvPr/>
        </p:nvSpPr>
        <p:spPr>
          <a:xfrm>
            <a:off x="621792" y="3721608"/>
            <a:ext cx="457200" cy="457200"/>
          </a:xfrm>
          <a:prstGeom prst="ellipse">
            <a:avLst/>
          </a:prstGeom>
          <a:solidFill>
            <a:srgbClr val="1B2742"/>
          </a:solidFill>
          <a:ln w="12700">
            <a:solidFill>
              <a:srgbClr val="FBBF24"/>
            </a:solidFill>
            <a:prstDash val="solid"/>
          </a:ln>
        </p:spPr>
      </p:sp>
      <p:pic>
        <p:nvPicPr>
          <p:cNvPr id="19" name="Image 2" descr="preencoded.png">    </p:cNvPr>
          <p:cNvPicPr>
            <a:picLocks noChangeAspect="1"/>
          </p:cNvPicPr>
          <p:nvPr/>
        </p:nvPicPr>
        <p:blipFill>
          <a:blip r:embed="rId3"/>
          <a:stretch>
            <a:fillRect/>
          </a:stretch>
        </p:blipFill>
        <p:spPr>
          <a:xfrm>
            <a:off x="745236" y="3845052"/>
            <a:ext cx="210312" cy="210312"/>
          </a:xfrm>
          <a:prstGeom prst="rect">
            <a:avLst/>
          </a:prstGeom>
        </p:spPr>
      </p:pic>
      <p:sp>
        <p:nvSpPr>
          <p:cNvPr id="20" name="Text 14"/>
          <p:cNvSpPr txBox="1"/>
          <p:nvPr/>
        </p:nvSpPr>
        <p:spPr>
          <a:xfrm>
            <a:off x="1280160" y="3602736"/>
            <a:ext cx="2926080" cy="256032"/>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Bottlenecks and stale plans</a:t>
            </a:r>
            <a:endParaRPr lang="en-US" sz="1400" dirty="0"/>
          </a:p>
        </p:txBody>
      </p:sp>
      <p:sp>
        <p:nvSpPr>
          <p:cNvPr id="21" name="Text 15"/>
          <p:cNvSpPr txBox="1"/>
          <p:nvPr/>
        </p:nvSpPr>
        <p:spPr>
          <a:xfrm>
            <a:off x="1280160" y="3877056"/>
            <a:ext cx="2926080" cy="50292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Every decision funnels through one node working from outdated robot state.</a:t>
            </a:r>
            <a:endParaRPr lang="en-US" sz="1150" dirty="0"/>
          </a:p>
        </p:txBody>
      </p:sp>
      <p:sp>
        <p:nvSpPr>
          <p:cNvPr id="22" name="Shape 16"/>
          <p:cNvSpPr/>
          <p:nvPr/>
        </p:nvSpPr>
        <p:spPr>
          <a:xfrm>
            <a:off x="4526280" y="1371600"/>
            <a:ext cx="4160520" cy="3063240"/>
          </a:xfrm>
          <a:prstGeom prst="roundRect">
            <a:avLst>
              <a:gd name="adj" fmla="val 2388"/>
            </a:avLst>
          </a:prstGeom>
          <a:solidFill>
            <a:srgbClr val="131C31"/>
          </a:solidFill>
          <a:ln w="9525">
            <a:solidFill>
              <a:srgbClr val="2A3A5F"/>
            </a:solidFill>
            <a:prstDash val="solid"/>
          </a:ln>
        </p:spPr>
      </p:sp>
      <p:sp>
        <p:nvSpPr>
          <p:cNvPr id="23" name="Shape 17"/>
          <p:cNvSpPr/>
          <p:nvPr/>
        </p:nvSpPr>
        <p:spPr>
          <a:xfrm>
            <a:off x="6606540" y="1554480"/>
            <a:ext cx="0" cy="2651760"/>
          </a:xfrm>
          <a:prstGeom prst="line">
            <a:avLst/>
          </a:prstGeom>
          <a:noFill/>
          <a:ln w="9525">
            <a:solidFill>
              <a:srgbClr val="2A3A5F"/>
            </a:solidFill>
            <a:prstDash val="solid"/>
          </a:ln>
        </p:spPr>
      </p:sp>
      <p:sp>
        <p:nvSpPr>
          <p:cNvPr id="24" name="Text 18"/>
          <p:cNvSpPr txBox="1"/>
          <p:nvPr/>
        </p:nvSpPr>
        <p:spPr>
          <a:xfrm>
            <a:off x="4709160" y="1508760"/>
            <a:ext cx="1828800" cy="201168"/>
          </a:xfrm>
          <a:prstGeom prst="rect">
            <a:avLst/>
          </a:prstGeom>
          <a:noFill/>
          <a:ln/>
        </p:spPr>
        <p:txBody>
          <a:bodyPr wrap="square" lIns="0" tIns="0" rIns="0" bIns="0" rtlCol="0" anchor="t"/>
          <a:lstStyle/>
          <a:p>
            <a:pPr indent="0" marL="0">
              <a:buNone/>
            </a:pPr>
            <a:r>
              <a:rPr lang="en-US" sz="1000" b="1" spc="200" kern="0" dirty="0">
                <a:solidFill>
                  <a:srgbClr val="F87171"/>
                </a:solidFill>
                <a:latin typeface="Calibri" pitchFamily="34" charset="0"/>
                <a:ea typeface="Calibri" pitchFamily="34" charset="-122"/>
                <a:cs typeface="Calibri" pitchFamily="34" charset="-120"/>
              </a:rPr>
              <a:t>CENTRALIZED</a:t>
            </a:r>
            <a:endParaRPr lang="en-US" sz="1000" dirty="0"/>
          </a:p>
        </p:txBody>
      </p:sp>
      <p:sp>
        <p:nvSpPr>
          <p:cNvPr id="25" name="Text 19"/>
          <p:cNvSpPr txBox="1"/>
          <p:nvPr/>
        </p:nvSpPr>
        <p:spPr>
          <a:xfrm>
            <a:off x="6766560" y="1508760"/>
            <a:ext cx="1828800" cy="201168"/>
          </a:xfrm>
          <a:prstGeom prst="rect">
            <a:avLst/>
          </a:prstGeom>
          <a:noFill/>
          <a:ln/>
        </p:spPr>
        <p:txBody>
          <a:bodyPr wrap="square" lIns="0" tIns="0" rIns="0" bIns="0" rtlCol="0" anchor="t"/>
          <a:lstStyle/>
          <a:p>
            <a:pPr indent="0" marL="0">
              <a:buNone/>
            </a:pPr>
            <a:r>
              <a:rPr lang="en-US" sz="1000" b="1" spc="200" kern="0" dirty="0">
                <a:solidFill>
                  <a:srgbClr val="2DD4BF"/>
                </a:solidFill>
                <a:latin typeface="Calibri" pitchFamily="34" charset="0"/>
                <a:ea typeface="Calibri" pitchFamily="34" charset="-122"/>
                <a:cs typeface="Calibri" pitchFamily="34" charset="-120"/>
              </a:rPr>
              <a:t>SHADE</a:t>
            </a:r>
            <a:endParaRPr lang="en-US" sz="1000" dirty="0"/>
          </a:p>
        </p:txBody>
      </p:sp>
      <p:sp>
        <p:nvSpPr>
          <p:cNvPr id="26" name="Shape 20"/>
          <p:cNvSpPr/>
          <p:nvPr/>
        </p:nvSpPr>
        <p:spPr>
          <a:xfrm flipV="1">
            <a:off x="5568696" y="2057400"/>
            <a:ext cx="0" cy="777240"/>
          </a:xfrm>
          <a:prstGeom prst="line">
            <a:avLst/>
          </a:prstGeom>
          <a:noFill/>
          <a:ln w="15875">
            <a:solidFill>
              <a:srgbClr val="3B4A6B"/>
            </a:solidFill>
            <a:prstDash val="solid"/>
          </a:ln>
        </p:spPr>
      </p:sp>
      <p:sp>
        <p:nvSpPr>
          <p:cNvPr id="27" name="Shape 21"/>
          <p:cNvSpPr/>
          <p:nvPr/>
        </p:nvSpPr>
        <p:spPr>
          <a:xfrm>
            <a:off x="5449824" y="1938528"/>
            <a:ext cx="237744" cy="237744"/>
          </a:xfrm>
          <a:prstGeom prst="ellipse">
            <a:avLst/>
          </a:prstGeom>
          <a:solidFill>
            <a:srgbClr val="94A3B8"/>
          </a:solidFill>
          <a:ln w="12700">
            <a:solidFill>
              <a:srgbClr val="0B1120"/>
            </a:solidFill>
            <a:prstDash val="solid"/>
          </a:ln>
        </p:spPr>
      </p:sp>
      <p:sp>
        <p:nvSpPr>
          <p:cNvPr id="28" name="Shape 22"/>
          <p:cNvSpPr/>
          <p:nvPr/>
        </p:nvSpPr>
        <p:spPr>
          <a:xfrm flipV="1">
            <a:off x="5568696" y="2446020"/>
            <a:ext cx="673110" cy="388620"/>
          </a:xfrm>
          <a:prstGeom prst="line">
            <a:avLst/>
          </a:prstGeom>
          <a:noFill/>
          <a:ln w="15875">
            <a:solidFill>
              <a:srgbClr val="3B4A6B"/>
            </a:solidFill>
            <a:prstDash val="solid"/>
          </a:ln>
        </p:spPr>
      </p:sp>
      <p:sp>
        <p:nvSpPr>
          <p:cNvPr id="29" name="Shape 23"/>
          <p:cNvSpPr/>
          <p:nvPr/>
        </p:nvSpPr>
        <p:spPr>
          <a:xfrm>
            <a:off x="6122934" y="2327148"/>
            <a:ext cx="237744" cy="237744"/>
          </a:xfrm>
          <a:prstGeom prst="ellipse">
            <a:avLst/>
          </a:prstGeom>
          <a:solidFill>
            <a:srgbClr val="94A3B8"/>
          </a:solidFill>
          <a:ln w="12700">
            <a:solidFill>
              <a:srgbClr val="0B1120"/>
            </a:solidFill>
            <a:prstDash val="solid"/>
          </a:ln>
        </p:spPr>
      </p:sp>
      <p:sp>
        <p:nvSpPr>
          <p:cNvPr id="30" name="Shape 24"/>
          <p:cNvSpPr/>
          <p:nvPr/>
        </p:nvSpPr>
        <p:spPr>
          <a:xfrm>
            <a:off x="5568696" y="2834640"/>
            <a:ext cx="673110" cy="388620"/>
          </a:xfrm>
          <a:prstGeom prst="line">
            <a:avLst/>
          </a:prstGeom>
          <a:noFill/>
          <a:ln w="15875">
            <a:solidFill>
              <a:srgbClr val="3B4A6B"/>
            </a:solidFill>
            <a:prstDash val="solid"/>
          </a:ln>
        </p:spPr>
      </p:sp>
      <p:sp>
        <p:nvSpPr>
          <p:cNvPr id="31" name="Shape 25"/>
          <p:cNvSpPr/>
          <p:nvPr/>
        </p:nvSpPr>
        <p:spPr>
          <a:xfrm>
            <a:off x="6122934" y="3104388"/>
            <a:ext cx="237744" cy="237744"/>
          </a:xfrm>
          <a:prstGeom prst="ellipse">
            <a:avLst/>
          </a:prstGeom>
          <a:solidFill>
            <a:srgbClr val="94A3B8"/>
          </a:solidFill>
          <a:ln w="12700">
            <a:solidFill>
              <a:srgbClr val="0B1120"/>
            </a:solidFill>
            <a:prstDash val="solid"/>
          </a:ln>
        </p:spPr>
      </p:sp>
      <p:sp>
        <p:nvSpPr>
          <p:cNvPr id="32" name="Shape 26"/>
          <p:cNvSpPr/>
          <p:nvPr/>
        </p:nvSpPr>
        <p:spPr>
          <a:xfrm>
            <a:off x="5568696" y="2834640"/>
            <a:ext cx="0" cy="777240"/>
          </a:xfrm>
          <a:prstGeom prst="line">
            <a:avLst/>
          </a:prstGeom>
          <a:noFill/>
          <a:ln w="15875">
            <a:solidFill>
              <a:srgbClr val="3B4A6B"/>
            </a:solidFill>
            <a:prstDash val="solid"/>
          </a:ln>
        </p:spPr>
      </p:sp>
      <p:sp>
        <p:nvSpPr>
          <p:cNvPr id="33" name="Shape 27"/>
          <p:cNvSpPr/>
          <p:nvPr/>
        </p:nvSpPr>
        <p:spPr>
          <a:xfrm>
            <a:off x="5449824" y="3493008"/>
            <a:ext cx="237744" cy="237744"/>
          </a:xfrm>
          <a:prstGeom prst="ellipse">
            <a:avLst/>
          </a:prstGeom>
          <a:solidFill>
            <a:srgbClr val="94A3B8"/>
          </a:solidFill>
          <a:ln w="12700">
            <a:solidFill>
              <a:srgbClr val="0B1120"/>
            </a:solidFill>
            <a:prstDash val="solid"/>
          </a:ln>
        </p:spPr>
      </p:sp>
      <p:sp>
        <p:nvSpPr>
          <p:cNvPr id="34" name="Shape 28"/>
          <p:cNvSpPr/>
          <p:nvPr/>
        </p:nvSpPr>
        <p:spPr>
          <a:xfrm flipH="1">
            <a:off x="4895586" y="2834640"/>
            <a:ext cx="673110" cy="388620"/>
          </a:xfrm>
          <a:prstGeom prst="line">
            <a:avLst/>
          </a:prstGeom>
          <a:noFill/>
          <a:ln w="15875">
            <a:solidFill>
              <a:srgbClr val="3B4A6B"/>
            </a:solidFill>
            <a:prstDash val="solid"/>
          </a:ln>
        </p:spPr>
      </p:sp>
      <p:sp>
        <p:nvSpPr>
          <p:cNvPr id="35" name="Shape 29"/>
          <p:cNvSpPr/>
          <p:nvPr/>
        </p:nvSpPr>
        <p:spPr>
          <a:xfrm>
            <a:off x="4776714" y="3104388"/>
            <a:ext cx="237744" cy="237744"/>
          </a:xfrm>
          <a:prstGeom prst="ellipse">
            <a:avLst/>
          </a:prstGeom>
          <a:solidFill>
            <a:srgbClr val="94A3B8"/>
          </a:solidFill>
          <a:ln w="12700">
            <a:solidFill>
              <a:srgbClr val="0B1120"/>
            </a:solidFill>
            <a:prstDash val="solid"/>
          </a:ln>
        </p:spPr>
      </p:sp>
      <p:sp>
        <p:nvSpPr>
          <p:cNvPr id="36" name="Shape 30"/>
          <p:cNvSpPr/>
          <p:nvPr/>
        </p:nvSpPr>
        <p:spPr>
          <a:xfrm flipH="1" flipV="1">
            <a:off x="4895586" y="2446020"/>
            <a:ext cx="673110" cy="388620"/>
          </a:xfrm>
          <a:prstGeom prst="line">
            <a:avLst/>
          </a:prstGeom>
          <a:noFill/>
          <a:ln w="15875">
            <a:solidFill>
              <a:srgbClr val="3B4A6B"/>
            </a:solidFill>
            <a:prstDash val="solid"/>
          </a:ln>
        </p:spPr>
      </p:sp>
      <p:sp>
        <p:nvSpPr>
          <p:cNvPr id="37" name="Shape 31"/>
          <p:cNvSpPr/>
          <p:nvPr/>
        </p:nvSpPr>
        <p:spPr>
          <a:xfrm>
            <a:off x="4776714" y="2327148"/>
            <a:ext cx="237744" cy="237744"/>
          </a:xfrm>
          <a:prstGeom prst="ellipse">
            <a:avLst/>
          </a:prstGeom>
          <a:solidFill>
            <a:srgbClr val="94A3B8"/>
          </a:solidFill>
          <a:ln w="12700">
            <a:solidFill>
              <a:srgbClr val="0B1120"/>
            </a:solidFill>
            <a:prstDash val="solid"/>
          </a:ln>
        </p:spPr>
      </p:sp>
      <p:sp>
        <p:nvSpPr>
          <p:cNvPr id="38" name="Shape 32"/>
          <p:cNvSpPr/>
          <p:nvPr/>
        </p:nvSpPr>
        <p:spPr>
          <a:xfrm>
            <a:off x="5349240" y="2615184"/>
            <a:ext cx="438912" cy="438912"/>
          </a:xfrm>
          <a:prstGeom prst="ellipse">
            <a:avLst/>
          </a:prstGeom>
          <a:solidFill>
            <a:srgbClr val="F87171"/>
          </a:solidFill>
          <a:ln w="12700">
            <a:solidFill>
              <a:srgbClr val="0B1120"/>
            </a:solidFill>
            <a:prstDash val="solid"/>
          </a:ln>
        </p:spPr>
      </p:sp>
      <p:sp>
        <p:nvSpPr>
          <p:cNvPr id="39" name="Text 33"/>
          <p:cNvSpPr txBox="1"/>
          <p:nvPr/>
        </p:nvSpPr>
        <p:spPr>
          <a:xfrm>
            <a:off x="5349240" y="2615184"/>
            <a:ext cx="438912" cy="438912"/>
          </a:xfrm>
          <a:prstGeom prst="rect">
            <a:avLst/>
          </a:prstGeom>
          <a:noFill/>
          <a:ln/>
        </p:spPr>
        <p:txBody>
          <a:bodyPr wrap="square" lIns="0" tIns="0" rIns="0" bIns="0" rtlCol="0" anchor="ctr"/>
          <a:lstStyle/>
          <a:p>
            <a:pPr algn="ctr" indent="0" marL="0">
              <a:buNone/>
            </a:pPr>
            <a:r>
              <a:rPr lang="en-US" sz="1400" b="1" dirty="0">
                <a:solidFill>
                  <a:srgbClr val="0B1120"/>
                </a:solidFill>
                <a:latin typeface="Calibri" pitchFamily="34" charset="0"/>
                <a:ea typeface="Calibri" pitchFamily="34" charset="-122"/>
                <a:cs typeface="Calibri" pitchFamily="34" charset="-120"/>
              </a:rPr>
              <a:t>X</a:t>
            </a:r>
            <a:endParaRPr lang="en-US" sz="1400" dirty="0"/>
          </a:p>
        </p:txBody>
      </p:sp>
      <p:sp>
        <p:nvSpPr>
          <p:cNvPr id="40" name="Shape 34"/>
          <p:cNvSpPr/>
          <p:nvPr/>
        </p:nvSpPr>
        <p:spPr>
          <a:xfrm>
            <a:off x="7644384" y="2057400"/>
            <a:ext cx="673110" cy="388620"/>
          </a:xfrm>
          <a:prstGeom prst="line">
            <a:avLst/>
          </a:prstGeom>
          <a:noFill/>
          <a:ln w="12700">
            <a:solidFill>
              <a:srgbClr val="F87171"/>
            </a:solidFill>
            <a:prstDash val="dash"/>
          </a:ln>
        </p:spPr>
      </p:sp>
      <p:sp>
        <p:nvSpPr>
          <p:cNvPr id="41" name="Shape 35"/>
          <p:cNvSpPr/>
          <p:nvPr/>
        </p:nvSpPr>
        <p:spPr>
          <a:xfrm>
            <a:off x="8317494" y="2446020"/>
            <a:ext cx="0" cy="777240"/>
          </a:xfrm>
          <a:prstGeom prst="line">
            <a:avLst/>
          </a:prstGeom>
          <a:noFill/>
          <a:ln w="12700">
            <a:solidFill>
              <a:srgbClr val="2DD4BF"/>
            </a:solidFill>
            <a:prstDash val="solid"/>
          </a:ln>
        </p:spPr>
      </p:sp>
      <p:sp>
        <p:nvSpPr>
          <p:cNvPr id="42" name="Shape 36"/>
          <p:cNvSpPr/>
          <p:nvPr/>
        </p:nvSpPr>
        <p:spPr>
          <a:xfrm flipH="1">
            <a:off x="7644384" y="3223260"/>
            <a:ext cx="673110" cy="388620"/>
          </a:xfrm>
          <a:prstGeom prst="line">
            <a:avLst/>
          </a:prstGeom>
          <a:noFill/>
          <a:ln w="12700">
            <a:solidFill>
              <a:srgbClr val="2DD4BF"/>
            </a:solidFill>
            <a:prstDash val="solid"/>
          </a:ln>
        </p:spPr>
      </p:sp>
      <p:sp>
        <p:nvSpPr>
          <p:cNvPr id="43" name="Shape 37"/>
          <p:cNvSpPr/>
          <p:nvPr/>
        </p:nvSpPr>
        <p:spPr>
          <a:xfrm flipH="1" flipV="1">
            <a:off x="6971274" y="3223260"/>
            <a:ext cx="673110" cy="388620"/>
          </a:xfrm>
          <a:prstGeom prst="line">
            <a:avLst/>
          </a:prstGeom>
          <a:noFill/>
          <a:ln w="12700">
            <a:solidFill>
              <a:srgbClr val="2DD4BF"/>
            </a:solidFill>
            <a:prstDash val="solid"/>
          </a:ln>
        </p:spPr>
      </p:sp>
      <p:sp>
        <p:nvSpPr>
          <p:cNvPr id="44" name="Shape 38"/>
          <p:cNvSpPr/>
          <p:nvPr/>
        </p:nvSpPr>
        <p:spPr>
          <a:xfrm flipV="1">
            <a:off x="6971274" y="2446020"/>
            <a:ext cx="0" cy="777240"/>
          </a:xfrm>
          <a:prstGeom prst="line">
            <a:avLst/>
          </a:prstGeom>
          <a:noFill/>
          <a:ln w="12700">
            <a:solidFill>
              <a:srgbClr val="2DD4BF"/>
            </a:solidFill>
            <a:prstDash val="solid"/>
          </a:ln>
        </p:spPr>
      </p:sp>
      <p:sp>
        <p:nvSpPr>
          <p:cNvPr id="45" name="Shape 39"/>
          <p:cNvSpPr/>
          <p:nvPr/>
        </p:nvSpPr>
        <p:spPr>
          <a:xfrm flipV="1">
            <a:off x="6971274" y="2057400"/>
            <a:ext cx="673110" cy="388620"/>
          </a:xfrm>
          <a:prstGeom prst="line">
            <a:avLst/>
          </a:prstGeom>
          <a:noFill/>
          <a:ln w="12700">
            <a:solidFill>
              <a:srgbClr val="F87171"/>
            </a:solidFill>
            <a:prstDash val="dash"/>
          </a:ln>
        </p:spPr>
      </p:sp>
      <p:sp>
        <p:nvSpPr>
          <p:cNvPr id="46" name="Shape 40"/>
          <p:cNvSpPr/>
          <p:nvPr/>
        </p:nvSpPr>
        <p:spPr>
          <a:xfrm flipH="1">
            <a:off x="6971274" y="2446020"/>
            <a:ext cx="1346219" cy="777240"/>
          </a:xfrm>
          <a:prstGeom prst="line">
            <a:avLst/>
          </a:prstGeom>
          <a:noFill/>
          <a:ln w="12700">
            <a:solidFill>
              <a:srgbClr val="2DD4BF"/>
            </a:solidFill>
            <a:prstDash val="solid"/>
          </a:ln>
        </p:spPr>
      </p:sp>
      <p:sp>
        <p:nvSpPr>
          <p:cNvPr id="47" name="Shape 41"/>
          <p:cNvSpPr/>
          <p:nvPr/>
        </p:nvSpPr>
        <p:spPr>
          <a:xfrm flipH="1" flipV="1">
            <a:off x="6971274" y="2446020"/>
            <a:ext cx="1346219" cy="777240"/>
          </a:xfrm>
          <a:prstGeom prst="line">
            <a:avLst/>
          </a:prstGeom>
          <a:noFill/>
          <a:ln w="12700">
            <a:solidFill>
              <a:srgbClr val="2DD4BF"/>
            </a:solidFill>
            <a:prstDash val="solid"/>
          </a:ln>
        </p:spPr>
      </p:sp>
      <p:sp>
        <p:nvSpPr>
          <p:cNvPr id="48" name="Shape 42"/>
          <p:cNvSpPr/>
          <p:nvPr/>
        </p:nvSpPr>
        <p:spPr>
          <a:xfrm flipH="1" flipV="1">
            <a:off x="6971274" y="2446020"/>
            <a:ext cx="1346219" cy="0"/>
          </a:xfrm>
          <a:prstGeom prst="line">
            <a:avLst/>
          </a:prstGeom>
          <a:noFill/>
          <a:ln w="12700">
            <a:solidFill>
              <a:srgbClr val="2DD4BF"/>
            </a:solidFill>
            <a:prstDash val="solid"/>
          </a:ln>
        </p:spPr>
      </p:sp>
      <p:sp>
        <p:nvSpPr>
          <p:cNvPr id="49" name="Shape 43"/>
          <p:cNvSpPr/>
          <p:nvPr/>
        </p:nvSpPr>
        <p:spPr>
          <a:xfrm flipH="1">
            <a:off x="6971274" y="3223260"/>
            <a:ext cx="1346219" cy="0"/>
          </a:xfrm>
          <a:prstGeom prst="line">
            <a:avLst/>
          </a:prstGeom>
          <a:noFill/>
          <a:ln w="12700">
            <a:solidFill>
              <a:srgbClr val="2DD4BF"/>
            </a:solidFill>
            <a:prstDash val="solid"/>
          </a:ln>
        </p:spPr>
      </p:sp>
      <p:sp>
        <p:nvSpPr>
          <p:cNvPr id="50" name="Shape 44"/>
          <p:cNvSpPr/>
          <p:nvPr/>
        </p:nvSpPr>
        <p:spPr>
          <a:xfrm>
            <a:off x="7525512" y="1938528"/>
            <a:ext cx="237744" cy="237744"/>
          </a:xfrm>
          <a:prstGeom prst="ellipse">
            <a:avLst/>
          </a:prstGeom>
          <a:solidFill>
            <a:srgbClr val="F87171"/>
          </a:solidFill>
          <a:ln w="12700">
            <a:solidFill>
              <a:srgbClr val="0B1120"/>
            </a:solidFill>
            <a:prstDash val="solid"/>
          </a:ln>
        </p:spPr>
      </p:sp>
      <p:sp>
        <p:nvSpPr>
          <p:cNvPr id="51" name="Shape 45"/>
          <p:cNvSpPr/>
          <p:nvPr/>
        </p:nvSpPr>
        <p:spPr>
          <a:xfrm>
            <a:off x="8198622" y="2327148"/>
            <a:ext cx="237744" cy="237744"/>
          </a:xfrm>
          <a:prstGeom prst="ellipse">
            <a:avLst/>
          </a:prstGeom>
          <a:solidFill>
            <a:srgbClr val="2DD4BF"/>
          </a:solidFill>
          <a:ln w="12700">
            <a:solidFill>
              <a:srgbClr val="0B1120"/>
            </a:solidFill>
            <a:prstDash val="solid"/>
          </a:ln>
        </p:spPr>
      </p:sp>
      <p:sp>
        <p:nvSpPr>
          <p:cNvPr id="52" name="Shape 46"/>
          <p:cNvSpPr/>
          <p:nvPr/>
        </p:nvSpPr>
        <p:spPr>
          <a:xfrm>
            <a:off x="8198622" y="3104388"/>
            <a:ext cx="237744" cy="237744"/>
          </a:xfrm>
          <a:prstGeom prst="ellipse">
            <a:avLst/>
          </a:prstGeom>
          <a:solidFill>
            <a:srgbClr val="2DD4BF"/>
          </a:solidFill>
          <a:ln w="12700">
            <a:solidFill>
              <a:srgbClr val="0B1120"/>
            </a:solidFill>
            <a:prstDash val="solid"/>
          </a:ln>
        </p:spPr>
      </p:sp>
      <p:sp>
        <p:nvSpPr>
          <p:cNvPr id="53" name="Shape 47"/>
          <p:cNvSpPr/>
          <p:nvPr/>
        </p:nvSpPr>
        <p:spPr>
          <a:xfrm>
            <a:off x="7525512" y="3493008"/>
            <a:ext cx="237744" cy="237744"/>
          </a:xfrm>
          <a:prstGeom prst="ellipse">
            <a:avLst/>
          </a:prstGeom>
          <a:solidFill>
            <a:srgbClr val="2DD4BF"/>
          </a:solidFill>
          <a:ln w="12700">
            <a:solidFill>
              <a:srgbClr val="0B1120"/>
            </a:solidFill>
            <a:prstDash val="solid"/>
          </a:ln>
        </p:spPr>
      </p:sp>
      <p:sp>
        <p:nvSpPr>
          <p:cNvPr id="54" name="Shape 48"/>
          <p:cNvSpPr/>
          <p:nvPr/>
        </p:nvSpPr>
        <p:spPr>
          <a:xfrm>
            <a:off x="6852402" y="3104388"/>
            <a:ext cx="237744" cy="237744"/>
          </a:xfrm>
          <a:prstGeom prst="ellipse">
            <a:avLst/>
          </a:prstGeom>
          <a:solidFill>
            <a:srgbClr val="2DD4BF"/>
          </a:solidFill>
          <a:ln w="12700">
            <a:solidFill>
              <a:srgbClr val="0B1120"/>
            </a:solidFill>
            <a:prstDash val="solid"/>
          </a:ln>
        </p:spPr>
      </p:sp>
      <p:sp>
        <p:nvSpPr>
          <p:cNvPr id="55" name="Shape 49"/>
          <p:cNvSpPr/>
          <p:nvPr/>
        </p:nvSpPr>
        <p:spPr>
          <a:xfrm>
            <a:off x="6852402" y="2327148"/>
            <a:ext cx="237744" cy="237744"/>
          </a:xfrm>
          <a:prstGeom prst="ellipse">
            <a:avLst/>
          </a:prstGeom>
          <a:solidFill>
            <a:srgbClr val="2DD4BF"/>
          </a:solidFill>
          <a:ln w="12700">
            <a:solidFill>
              <a:srgbClr val="0B1120"/>
            </a:solidFill>
            <a:prstDash val="solid"/>
          </a:ln>
        </p:spPr>
      </p:sp>
      <p:sp>
        <p:nvSpPr>
          <p:cNvPr id="56" name="Text 50"/>
          <p:cNvSpPr txBox="1"/>
          <p:nvPr/>
        </p:nvSpPr>
        <p:spPr>
          <a:xfrm>
            <a:off x="4709160" y="3977640"/>
            <a:ext cx="1828800" cy="365760"/>
          </a:xfrm>
          <a:prstGeom prst="rect">
            <a:avLst/>
          </a:prstGeom>
          <a:noFill/>
          <a:ln/>
        </p:spPr>
        <p:txBody>
          <a:bodyPr wrap="square" lIns="0" tIns="0" rIns="0" bIns="0" rtlCol="0" anchor="t"/>
          <a:lstStyle/>
          <a:p>
            <a:pPr indent="0" marL="0">
              <a:buNone/>
            </a:pPr>
            <a:r>
              <a:rPr lang="en-US" sz="1050" dirty="0">
                <a:solidFill>
                  <a:srgbClr val="F87171"/>
                </a:solidFill>
                <a:latin typeface="Calibri" pitchFamily="34" charset="0"/>
                <a:ea typeface="Calibri" pitchFamily="34" charset="-122"/>
                <a:cs typeface="Calibri" pitchFamily="34" charset="-120"/>
              </a:rPr>
              <a:t>Hub down, fleet down</a:t>
            </a:r>
            <a:endParaRPr lang="en-US" sz="1050" dirty="0"/>
          </a:p>
        </p:txBody>
      </p:sp>
      <p:sp>
        <p:nvSpPr>
          <p:cNvPr id="57" name="Text 51"/>
          <p:cNvSpPr txBox="1"/>
          <p:nvPr/>
        </p:nvSpPr>
        <p:spPr>
          <a:xfrm>
            <a:off x="6766560" y="3977640"/>
            <a:ext cx="1874520" cy="365760"/>
          </a:xfrm>
          <a:prstGeom prst="rect">
            <a:avLst/>
          </a:prstGeom>
          <a:noFill/>
          <a:ln/>
        </p:spPr>
        <p:txBody>
          <a:bodyPr wrap="square" lIns="0" tIns="0" rIns="0" bIns="0" rtlCol="0" anchor="t"/>
          <a:lstStyle/>
          <a:p>
            <a:pPr indent="0" marL="0">
              <a:buNone/>
            </a:pPr>
            <a:r>
              <a:rPr lang="en-US" sz="1050" dirty="0">
                <a:solidFill>
                  <a:srgbClr val="2DD4BF"/>
                </a:solidFill>
                <a:latin typeface="Calibri" pitchFamily="34" charset="0"/>
                <a:ea typeface="Calibri" pitchFamily="34" charset="-122"/>
                <a:cs typeface="Calibri" pitchFamily="34" charset="-120"/>
              </a:rPr>
              <a:t>Any robot down, fleet continues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02  ·  WHAT PNR2 REALLY ASKS</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The hard part: deciding under silence</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3</a:t>
            </a:r>
            <a:endParaRPr lang="en-US" sz="900" dirty="0"/>
          </a:p>
        </p:txBody>
      </p:sp>
      <p:sp>
        <p:nvSpPr>
          <p:cNvPr id="7" name="Text 4"/>
          <p:cNvSpPr txBox="1"/>
          <p:nvPr/>
        </p:nvSpPr>
        <p:spPr>
          <a:xfrm>
            <a:off x="457200" y="1298448"/>
            <a:ext cx="3931920" cy="201168"/>
          </a:xfrm>
          <a:prstGeom prst="rect">
            <a:avLst/>
          </a:prstGeom>
          <a:noFill/>
          <a:ln/>
        </p:spPr>
        <p:txBody>
          <a:bodyPr wrap="square" lIns="0" tIns="0" rIns="0" bIns="0" rtlCol="0" anchor="t"/>
          <a:lstStyle/>
          <a:p>
            <a:pPr indent="0" marL="0">
              <a:buNone/>
            </a:pPr>
            <a:r>
              <a:rPr lang="en-US" sz="950" b="1" spc="200" kern="0" dirty="0">
                <a:solidFill>
                  <a:srgbClr val="94A3B8"/>
                </a:solidFill>
                <a:latin typeface="Calibri" pitchFamily="34" charset="0"/>
                <a:ea typeface="Calibri" pitchFamily="34" charset="-122"/>
                <a:cs typeface="Calibri" pitchFamily="34" charset="-120"/>
              </a:rPr>
              <a:t>THREE THINGS PULL AGAINST EACH OTHER</a:t>
            </a:r>
            <a:endParaRPr lang="en-US" sz="950" dirty="0"/>
          </a:p>
        </p:txBody>
      </p:sp>
      <p:sp>
        <p:nvSpPr>
          <p:cNvPr id="8" name="Shape 5"/>
          <p:cNvSpPr/>
          <p:nvPr/>
        </p:nvSpPr>
        <p:spPr>
          <a:xfrm>
            <a:off x="457200" y="1600200"/>
            <a:ext cx="3931920" cy="868680"/>
          </a:xfrm>
          <a:prstGeom prst="roundRect">
            <a:avLst>
              <a:gd name="adj" fmla="val 8421"/>
            </a:avLst>
          </a:prstGeom>
          <a:solidFill>
            <a:srgbClr val="131C31"/>
          </a:solidFill>
          <a:ln w="9525">
            <a:solidFill>
              <a:srgbClr val="2A3A5F"/>
            </a:solidFill>
            <a:prstDash val="solid"/>
          </a:ln>
        </p:spPr>
      </p:sp>
      <p:sp>
        <p:nvSpPr>
          <p:cNvPr id="9" name="Shape 6"/>
          <p:cNvSpPr/>
          <p:nvPr/>
        </p:nvSpPr>
        <p:spPr>
          <a:xfrm>
            <a:off x="603504" y="1828800"/>
            <a:ext cx="411480" cy="411480"/>
          </a:xfrm>
          <a:prstGeom prst="ellipse">
            <a:avLst/>
          </a:prstGeom>
          <a:solidFill>
            <a:srgbClr val="1B2742"/>
          </a:solidFill>
          <a:ln w="12700">
            <a:solidFill>
              <a:srgbClr val="FBBF24"/>
            </a:solidFill>
            <a:prstDash val="solid"/>
          </a:ln>
        </p:spPr>
      </p:sp>
      <p:pic>
        <p:nvPicPr>
          <p:cNvPr id="10" name="Image 0" descr="preencoded.png">    </p:cNvPr>
          <p:cNvPicPr>
            <a:picLocks noChangeAspect="1"/>
          </p:cNvPicPr>
          <p:nvPr/>
        </p:nvPicPr>
        <p:blipFill>
          <a:blip r:embed="rId1"/>
          <a:stretch>
            <a:fillRect/>
          </a:stretch>
        </p:blipFill>
        <p:spPr>
          <a:xfrm>
            <a:off x="714604" y="1939900"/>
            <a:ext cx="189281" cy="189281"/>
          </a:xfrm>
          <a:prstGeom prst="rect">
            <a:avLst/>
          </a:prstGeom>
        </p:spPr>
      </p:pic>
      <p:sp>
        <p:nvSpPr>
          <p:cNvPr id="11" name="Text 7"/>
          <p:cNvSpPr txBox="1"/>
          <p:nvPr/>
        </p:nvSpPr>
        <p:spPr>
          <a:xfrm>
            <a:off x="1188720" y="1709928"/>
            <a:ext cx="3063240" cy="237744"/>
          </a:xfrm>
          <a:prstGeom prst="rect">
            <a:avLst/>
          </a:prstGeom>
          <a:noFill/>
          <a:ln/>
        </p:spPr>
        <p:txBody>
          <a:bodyPr wrap="square" lIns="0" tIns="0" rIns="0" bIns="0" rtlCol="0" anchor="t"/>
          <a:lstStyle/>
          <a:p>
            <a:pPr indent="0" marL="0">
              <a:buNone/>
            </a:pPr>
            <a:r>
              <a:rPr lang="en-US" sz="1350" b="1" dirty="0">
                <a:solidFill>
                  <a:srgbClr val="F1F5F9"/>
                </a:solidFill>
                <a:latin typeface="Calibri" pitchFamily="34" charset="0"/>
                <a:ea typeface="Calibri" pitchFamily="34" charset="-122"/>
                <a:cs typeface="Calibri" pitchFamily="34" charset="-120"/>
              </a:rPr>
              <a:t>Optimality</a:t>
            </a:r>
            <a:endParaRPr lang="en-US" sz="1350" dirty="0"/>
          </a:p>
        </p:txBody>
      </p:sp>
      <p:sp>
        <p:nvSpPr>
          <p:cNvPr id="12" name="Text 8"/>
          <p:cNvSpPr txBox="1"/>
          <p:nvPr/>
        </p:nvSpPr>
        <p:spPr>
          <a:xfrm>
            <a:off x="1188720" y="1984248"/>
            <a:ext cx="3063240" cy="4389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The task should go to the best robot, even one briefly out of range.</a:t>
            </a:r>
            <a:endParaRPr lang="en-US" sz="1100" dirty="0"/>
          </a:p>
        </p:txBody>
      </p:sp>
      <p:sp>
        <p:nvSpPr>
          <p:cNvPr id="13" name="Shape 9"/>
          <p:cNvSpPr/>
          <p:nvPr/>
        </p:nvSpPr>
        <p:spPr>
          <a:xfrm>
            <a:off x="457200" y="2578608"/>
            <a:ext cx="3931920" cy="868680"/>
          </a:xfrm>
          <a:prstGeom prst="roundRect">
            <a:avLst>
              <a:gd name="adj" fmla="val 8421"/>
            </a:avLst>
          </a:prstGeom>
          <a:solidFill>
            <a:srgbClr val="131C31"/>
          </a:solidFill>
          <a:ln w="9525">
            <a:solidFill>
              <a:srgbClr val="2A3A5F"/>
            </a:solidFill>
            <a:prstDash val="solid"/>
          </a:ln>
        </p:spPr>
      </p:sp>
      <p:sp>
        <p:nvSpPr>
          <p:cNvPr id="14" name="Shape 10"/>
          <p:cNvSpPr/>
          <p:nvPr/>
        </p:nvSpPr>
        <p:spPr>
          <a:xfrm>
            <a:off x="603504" y="2807208"/>
            <a:ext cx="411480" cy="411480"/>
          </a:xfrm>
          <a:prstGeom prst="ellipse">
            <a:avLst/>
          </a:prstGeom>
          <a:solidFill>
            <a:srgbClr val="1B2742"/>
          </a:solidFill>
          <a:ln w="12700">
            <a:solidFill>
              <a:srgbClr val="FBBF24"/>
            </a:solidFill>
            <a:prstDash val="solid"/>
          </a:ln>
        </p:spPr>
      </p:sp>
      <p:pic>
        <p:nvPicPr>
          <p:cNvPr id="15" name="Image 1" descr="preencoded.png">    </p:cNvPr>
          <p:cNvPicPr>
            <a:picLocks noChangeAspect="1"/>
          </p:cNvPicPr>
          <p:nvPr/>
        </p:nvPicPr>
        <p:blipFill>
          <a:blip r:embed="rId2"/>
          <a:stretch>
            <a:fillRect/>
          </a:stretch>
        </p:blipFill>
        <p:spPr>
          <a:xfrm>
            <a:off x="714604" y="2918308"/>
            <a:ext cx="189281" cy="189281"/>
          </a:xfrm>
          <a:prstGeom prst="rect">
            <a:avLst/>
          </a:prstGeom>
        </p:spPr>
      </p:pic>
      <p:sp>
        <p:nvSpPr>
          <p:cNvPr id="16" name="Text 11"/>
          <p:cNvSpPr txBox="1"/>
          <p:nvPr/>
        </p:nvSpPr>
        <p:spPr>
          <a:xfrm>
            <a:off x="1188720" y="2688336"/>
            <a:ext cx="3063240" cy="237744"/>
          </a:xfrm>
          <a:prstGeom prst="rect">
            <a:avLst/>
          </a:prstGeom>
          <a:noFill/>
          <a:ln/>
        </p:spPr>
        <p:txBody>
          <a:bodyPr wrap="square" lIns="0" tIns="0" rIns="0" bIns="0" rtlCol="0" anchor="t"/>
          <a:lstStyle/>
          <a:p>
            <a:pPr indent="0" marL="0">
              <a:buNone/>
            </a:pPr>
            <a:r>
              <a:rPr lang="en-US" sz="1350" b="1" dirty="0">
                <a:solidFill>
                  <a:srgbClr val="F1F5F9"/>
                </a:solidFill>
                <a:latin typeface="Calibri" pitchFamily="34" charset="0"/>
                <a:ea typeface="Calibri" pitchFamily="34" charset="-122"/>
                <a:cs typeface="Calibri" pitchFamily="34" charset="-120"/>
              </a:rPr>
              <a:t>Latency and starvation</a:t>
            </a:r>
            <a:endParaRPr lang="en-US" sz="1350" dirty="0"/>
          </a:p>
        </p:txBody>
      </p:sp>
      <p:sp>
        <p:nvSpPr>
          <p:cNvPr id="17" name="Text 12"/>
          <p:cNvSpPr txBox="1"/>
          <p:nvPr/>
        </p:nvSpPr>
        <p:spPr>
          <a:xfrm>
            <a:off x="1188720" y="2962656"/>
            <a:ext cx="3063240" cy="4389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Every task should be claimed soon and never wait forever.</a:t>
            </a:r>
            <a:endParaRPr lang="en-US" sz="1100" dirty="0"/>
          </a:p>
        </p:txBody>
      </p:sp>
      <p:sp>
        <p:nvSpPr>
          <p:cNvPr id="18" name="Shape 13"/>
          <p:cNvSpPr/>
          <p:nvPr/>
        </p:nvSpPr>
        <p:spPr>
          <a:xfrm>
            <a:off x="457200" y="3557016"/>
            <a:ext cx="3931920" cy="868680"/>
          </a:xfrm>
          <a:prstGeom prst="roundRect">
            <a:avLst>
              <a:gd name="adj" fmla="val 8421"/>
            </a:avLst>
          </a:prstGeom>
          <a:solidFill>
            <a:srgbClr val="131C31"/>
          </a:solidFill>
          <a:ln w="9525">
            <a:solidFill>
              <a:srgbClr val="2A3A5F"/>
            </a:solidFill>
            <a:prstDash val="solid"/>
          </a:ln>
        </p:spPr>
      </p:sp>
      <p:sp>
        <p:nvSpPr>
          <p:cNvPr id="19" name="Shape 14"/>
          <p:cNvSpPr/>
          <p:nvPr/>
        </p:nvSpPr>
        <p:spPr>
          <a:xfrm>
            <a:off x="603504" y="3785616"/>
            <a:ext cx="411480" cy="411480"/>
          </a:xfrm>
          <a:prstGeom prst="ellipse">
            <a:avLst/>
          </a:prstGeom>
          <a:solidFill>
            <a:srgbClr val="1B2742"/>
          </a:solidFill>
          <a:ln w="12700">
            <a:solidFill>
              <a:srgbClr val="FBBF24"/>
            </a:solidFill>
            <a:prstDash val="solid"/>
          </a:ln>
        </p:spPr>
      </p:sp>
      <p:pic>
        <p:nvPicPr>
          <p:cNvPr id="20" name="Image 2" descr="preencoded.png">    </p:cNvPr>
          <p:cNvPicPr>
            <a:picLocks noChangeAspect="1"/>
          </p:cNvPicPr>
          <p:nvPr/>
        </p:nvPicPr>
        <p:blipFill>
          <a:blip r:embed="rId3"/>
          <a:stretch>
            <a:fillRect/>
          </a:stretch>
        </p:blipFill>
        <p:spPr>
          <a:xfrm>
            <a:off x="714604" y="3896716"/>
            <a:ext cx="189281" cy="189281"/>
          </a:xfrm>
          <a:prstGeom prst="rect">
            <a:avLst/>
          </a:prstGeom>
        </p:spPr>
      </p:pic>
      <p:sp>
        <p:nvSpPr>
          <p:cNvPr id="21" name="Text 15"/>
          <p:cNvSpPr txBox="1"/>
          <p:nvPr/>
        </p:nvSpPr>
        <p:spPr>
          <a:xfrm>
            <a:off x="1188720" y="3666744"/>
            <a:ext cx="3063240" cy="237744"/>
          </a:xfrm>
          <a:prstGeom prst="rect">
            <a:avLst/>
          </a:prstGeom>
          <a:noFill/>
          <a:ln/>
        </p:spPr>
        <p:txBody>
          <a:bodyPr wrap="square" lIns="0" tIns="0" rIns="0" bIns="0" rtlCol="0" anchor="t"/>
          <a:lstStyle/>
          <a:p>
            <a:pPr indent="0" marL="0">
              <a:buNone/>
            </a:pPr>
            <a:r>
              <a:rPr lang="en-US" sz="1350" b="1" dirty="0">
                <a:solidFill>
                  <a:srgbClr val="F1F5F9"/>
                </a:solidFill>
                <a:latin typeface="Calibri" pitchFamily="34" charset="0"/>
                <a:ea typeface="Calibri" pitchFamily="34" charset="-122"/>
                <a:cs typeface="Calibri" pitchFamily="34" charset="-120"/>
              </a:rPr>
              <a:t>Duplicate work</a:t>
            </a:r>
            <a:endParaRPr lang="en-US" sz="1350" dirty="0"/>
          </a:p>
        </p:txBody>
      </p:sp>
      <p:sp>
        <p:nvSpPr>
          <p:cNvPr id="22" name="Text 16"/>
          <p:cNvSpPr txBox="1"/>
          <p:nvPr/>
        </p:nvSpPr>
        <p:spPr>
          <a:xfrm>
            <a:off x="1188720" y="3941064"/>
            <a:ext cx="3063240" cy="4389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Two partitions should not both do the same task for long.</a:t>
            </a:r>
            <a:endParaRPr lang="en-US" sz="1100" dirty="0"/>
          </a:p>
        </p:txBody>
      </p:sp>
      <p:sp>
        <p:nvSpPr>
          <p:cNvPr id="23" name="Text 17"/>
          <p:cNvSpPr txBox="1"/>
          <p:nvPr/>
        </p:nvSpPr>
        <p:spPr>
          <a:xfrm>
            <a:off x="4663440" y="1298448"/>
            <a:ext cx="4023360" cy="201168"/>
          </a:xfrm>
          <a:prstGeom prst="rect">
            <a:avLst/>
          </a:prstGeom>
          <a:noFill/>
          <a:ln/>
        </p:spPr>
        <p:txBody>
          <a:bodyPr wrap="square" lIns="0" tIns="0" rIns="0" bIns="0" rtlCol="0" anchor="t"/>
          <a:lstStyle/>
          <a:p>
            <a:pPr indent="0" marL="0">
              <a:buNone/>
            </a:pPr>
            <a:r>
              <a:rPr lang="en-US" sz="950" b="1" spc="200" kern="0" dirty="0">
                <a:solidFill>
                  <a:srgbClr val="94A3B8"/>
                </a:solidFill>
                <a:latin typeface="Calibri" pitchFamily="34" charset="0"/>
                <a:ea typeface="Calibri" pitchFamily="34" charset="-122"/>
                <a:cs typeface="Calibri" pitchFamily="34" charset="-120"/>
              </a:rPr>
              <a:t>THE USUAL ANSWERS EACH GIVE ONE UP</a:t>
            </a:r>
            <a:endParaRPr lang="en-US" sz="950" dirty="0"/>
          </a:p>
        </p:txBody>
      </p:sp>
      <p:sp>
        <p:nvSpPr>
          <p:cNvPr id="24" name="Shape 18"/>
          <p:cNvSpPr/>
          <p:nvPr/>
        </p:nvSpPr>
        <p:spPr>
          <a:xfrm>
            <a:off x="4663440" y="1600200"/>
            <a:ext cx="4023360" cy="685800"/>
          </a:xfrm>
          <a:prstGeom prst="roundRect">
            <a:avLst>
              <a:gd name="adj" fmla="val 10667"/>
            </a:avLst>
          </a:prstGeom>
          <a:solidFill>
            <a:srgbClr val="131C31"/>
          </a:solidFill>
          <a:ln w="9525">
            <a:solidFill>
              <a:srgbClr val="2A3A5F"/>
            </a:solidFill>
            <a:prstDash val="solid"/>
          </a:ln>
        </p:spPr>
      </p:sp>
      <p:sp>
        <p:nvSpPr>
          <p:cNvPr id="25" name="Text 19"/>
          <p:cNvSpPr txBox="1"/>
          <p:nvPr/>
        </p:nvSpPr>
        <p:spPr>
          <a:xfrm>
            <a:off x="4828032" y="1691640"/>
            <a:ext cx="365760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Claim immediately</a:t>
            </a:r>
            <a:endParaRPr lang="en-US" sz="1250" dirty="0"/>
          </a:p>
        </p:txBody>
      </p:sp>
      <p:sp>
        <p:nvSpPr>
          <p:cNvPr id="26" name="Text 20"/>
          <p:cNvSpPr txBox="1"/>
          <p:nvPr/>
        </p:nvSpPr>
        <p:spPr>
          <a:xfrm>
            <a:off x="4828032" y="1965960"/>
            <a:ext cx="3657600" cy="237744"/>
          </a:xfrm>
          <a:prstGeom prst="rect">
            <a:avLst/>
          </a:prstGeom>
          <a:noFill/>
          <a:ln/>
        </p:spPr>
        <p:txBody>
          <a:bodyPr wrap="square" lIns="0" tIns="0" rIns="0" bIns="0" rtlCol="0" anchor="t"/>
          <a:lstStyle/>
          <a:p>
            <a:pPr indent="0" marL="0">
              <a:buNone/>
            </a:pPr>
            <a:r>
              <a:rPr lang="en-US" sz="1100" dirty="0">
                <a:solidFill>
                  <a:srgbClr val="F87171"/>
                </a:solidFill>
                <a:latin typeface="Calibri" pitchFamily="34" charset="0"/>
                <a:ea typeface="Calibri" pitchFamily="34" charset="-122"/>
                <a:cs typeface="Calibri" pitchFamily="34" charset="-120"/>
              </a:rPr>
              <a:t>Sub-optimal picks and duplicate work</a:t>
            </a:r>
            <a:endParaRPr lang="en-US" sz="1100" dirty="0"/>
          </a:p>
        </p:txBody>
      </p:sp>
      <p:sp>
        <p:nvSpPr>
          <p:cNvPr id="27" name="Shape 21"/>
          <p:cNvSpPr/>
          <p:nvPr/>
        </p:nvSpPr>
        <p:spPr>
          <a:xfrm>
            <a:off x="4663440" y="2377440"/>
            <a:ext cx="4023360" cy="685800"/>
          </a:xfrm>
          <a:prstGeom prst="roundRect">
            <a:avLst>
              <a:gd name="adj" fmla="val 10667"/>
            </a:avLst>
          </a:prstGeom>
          <a:solidFill>
            <a:srgbClr val="131C31"/>
          </a:solidFill>
          <a:ln w="9525">
            <a:solidFill>
              <a:srgbClr val="2A3A5F"/>
            </a:solidFill>
            <a:prstDash val="solid"/>
          </a:ln>
        </p:spPr>
      </p:sp>
      <p:sp>
        <p:nvSpPr>
          <p:cNvPr id="28" name="Text 22"/>
          <p:cNvSpPr txBox="1"/>
          <p:nvPr/>
        </p:nvSpPr>
        <p:spPr>
          <a:xfrm>
            <a:off x="4828032" y="2468880"/>
            <a:ext cx="365760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Wait for a quorum</a:t>
            </a:r>
            <a:endParaRPr lang="en-US" sz="1250" dirty="0"/>
          </a:p>
        </p:txBody>
      </p:sp>
      <p:sp>
        <p:nvSpPr>
          <p:cNvPr id="29" name="Text 23"/>
          <p:cNvSpPr txBox="1"/>
          <p:nvPr/>
        </p:nvSpPr>
        <p:spPr>
          <a:xfrm>
            <a:off x="4828032" y="2743200"/>
            <a:ext cx="3657600" cy="237744"/>
          </a:xfrm>
          <a:prstGeom prst="rect">
            <a:avLst/>
          </a:prstGeom>
          <a:noFill/>
          <a:ln/>
        </p:spPr>
        <p:txBody>
          <a:bodyPr wrap="square" lIns="0" tIns="0" rIns="0" bIns="0" rtlCol="0" anchor="t"/>
          <a:lstStyle/>
          <a:p>
            <a:pPr indent="0" marL="0">
              <a:buNone/>
            </a:pPr>
            <a:r>
              <a:rPr lang="en-US" sz="1100" dirty="0">
                <a:solidFill>
                  <a:srgbClr val="F87171"/>
                </a:solidFill>
                <a:latin typeface="Calibri" pitchFamily="34" charset="0"/>
                <a:ea typeface="Calibri" pitchFamily="34" charset="-122"/>
                <a:cs typeface="Calibri" pitchFamily="34" charset="-120"/>
              </a:rPr>
              <a:t>The smaller partition starves</a:t>
            </a:r>
            <a:endParaRPr lang="en-US" sz="1100" dirty="0"/>
          </a:p>
        </p:txBody>
      </p:sp>
      <p:sp>
        <p:nvSpPr>
          <p:cNvPr id="30" name="Shape 24"/>
          <p:cNvSpPr/>
          <p:nvPr/>
        </p:nvSpPr>
        <p:spPr>
          <a:xfrm>
            <a:off x="4663440" y="3154680"/>
            <a:ext cx="4023360" cy="685800"/>
          </a:xfrm>
          <a:prstGeom prst="roundRect">
            <a:avLst>
              <a:gd name="adj" fmla="val 10667"/>
            </a:avLst>
          </a:prstGeom>
          <a:solidFill>
            <a:srgbClr val="131C31"/>
          </a:solidFill>
          <a:ln w="9525">
            <a:solidFill>
              <a:srgbClr val="2A3A5F"/>
            </a:solidFill>
            <a:prstDash val="solid"/>
          </a:ln>
        </p:spPr>
      </p:sp>
      <p:sp>
        <p:nvSpPr>
          <p:cNvPr id="31" name="Text 25"/>
          <p:cNvSpPr txBox="1"/>
          <p:nvPr/>
        </p:nvSpPr>
        <p:spPr>
          <a:xfrm>
            <a:off x="4828032" y="3246120"/>
            <a:ext cx="365760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Fixed timeout</a:t>
            </a:r>
            <a:endParaRPr lang="en-US" sz="1250" dirty="0"/>
          </a:p>
        </p:txBody>
      </p:sp>
      <p:sp>
        <p:nvSpPr>
          <p:cNvPr id="32" name="Text 26"/>
          <p:cNvSpPr txBox="1"/>
          <p:nvPr/>
        </p:nvSpPr>
        <p:spPr>
          <a:xfrm>
            <a:off x="4828032" y="3520440"/>
            <a:ext cx="3657600" cy="237744"/>
          </a:xfrm>
          <a:prstGeom prst="rect">
            <a:avLst/>
          </a:prstGeom>
          <a:noFill/>
          <a:ln/>
        </p:spPr>
        <p:txBody>
          <a:bodyPr wrap="square" lIns="0" tIns="0" rIns="0" bIns="0" rtlCol="0" anchor="t"/>
          <a:lstStyle/>
          <a:p>
            <a:pPr indent="0" marL="0">
              <a:buNone/>
            </a:pPr>
            <a:r>
              <a:rPr lang="en-US" sz="1100" dirty="0">
                <a:solidFill>
                  <a:srgbClr val="F87171"/>
                </a:solidFill>
                <a:latin typeface="Calibri" pitchFamily="34" charset="0"/>
                <a:ea typeface="Calibri" pitchFamily="34" charset="-122"/>
                <a:cs typeface="Calibri" pitchFamily="34" charset="-120"/>
              </a:rPr>
              <a:t>Arbitrary; a better silent robot looks dead</a:t>
            </a:r>
            <a:endParaRPr lang="en-US" sz="1100" dirty="0"/>
          </a:p>
        </p:txBody>
      </p:sp>
      <p:sp>
        <p:nvSpPr>
          <p:cNvPr id="33" name="Shape 27"/>
          <p:cNvSpPr/>
          <p:nvPr/>
        </p:nvSpPr>
        <p:spPr>
          <a:xfrm>
            <a:off x="4663440" y="3977640"/>
            <a:ext cx="4023360" cy="640080"/>
          </a:xfrm>
          <a:prstGeom prst="roundRect">
            <a:avLst>
              <a:gd name="adj" fmla="val 11429"/>
            </a:avLst>
          </a:prstGeom>
          <a:solidFill>
            <a:srgbClr val="1B2742"/>
          </a:solidFill>
          <a:ln w="15875">
            <a:solidFill>
              <a:srgbClr val="2DD4BF"/>
            </a:solidFill>
            <a:prstDash val="solid"/>
          </a:ln>
        </p:spPr>
      </p:sp>
      <p:sp>
        <p:nvSpPr>
          <p:cNvPr id="34" name="Text 28"/>
          <p:cNvSpPr txBox="1"/>
          <p:nvPr/>
        </p:nvSpPr>
        <p:spPr>
          <a:xfrm>
            <a:off x="4828032" y="3977640"/>
            <a:ext cx="3749040" cy="640080"/>
          </a:xfrm>
          <a:prstGeom prst="rect">
            <a:avLst/>
          </a:prstGeom>
          <a:noFill/>
          <a:ln/>
        </p:spPr>
        <p:txBody>
          <a:bodyPr wrap="square" lIns="0" tIns="0" rIns="0" bIns="0"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SHADE: </a:t>
            </a:r>
            <a:pPr indent="0" marL="0">
              <a:buNone/>
            </a:pPr>
            <a:r>
              <a:rPr lang="en-US" sz="1150" dirty="0">
                <a:solidFill>
                  <a:srgbClr val="F1F5F9"/>
                </a:solidFill>
                <a:latin typeface="Calibri" pitchFamily="34" charset="0"/>
                <a:ea typeface="Calibri" pitchFamily="34" charset="-122"/>
                <a:cs typeface="Calibri" pitchFamily="34" charset="-120"/>
              </a:rPr>
              <a:t>choose availability, put a price on the risk, bound it, repay it after the heal.</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03  ·  THE SOLUTION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SHADE in one slide: five ideas</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457200" y="1371600"/>
            <a:ext cx="640080" cy="640080"/>
          </a:xfrm>
          <a:prstGeom prst="ellipse">
            <a:avLst/>
          </a:prstGeom>
          <a:solidFill>
            <a:srgbClr val="1B2742"/>
          </a:solidFill>
          <a:ln w="12700">
            <a:solidFill>
              <a:srgbClr val="FBBF24"/>
            </a:solidFill>
            <a:prstDash val="solid"/>
          </a:ln>
        </p:spPr>
      </p:sp>
      <p:pic>
        <p:nvPicPr>
          <p:cNvPr id="8" name="Image 0" descr="preencoded.png">    </p:cNvPr>
          <p:cNvPicPr>
            <a:picLocks noChangeAspect="1"/>
          </p:cNvPicPr>
          <p:nvPr/>
        </p:nvPicPr>
        <p:blipFill>
          <a:blip r:embed="rId1"/>
          <a:stretch>
            <a:fillRect/>
          </a:stretch>
        </p:blipFill>
        <p:spPr>
          <a:xfrm>
            <a:off x="630022" y="1544422"/>
            <a:ext cx="294437" cy="294437"/>
          </a:xfrm>
          <a:prstGeom prst="rect">
            <a:avLst/>
          </a:prstGeom>
        </p:spPr>
      </p:pic>
      <p:sp>
        <p:nvSpPr>
          <p:cNvPr id="9" name="Text 5"/>
          <p:cNvSpPr txBox="1"/>
          <p:nvPr/>
        </p:nvSpPr>
        <p:spPr>
          <a:xfrm>
            <a:off x="457200" y="2194560"/>
            <a:ext cx="1600200" cy="274320"/>
          </a:xfrm>
          <a:prstGeom prst="rect">
            <a:avLst/>
          </a:prstGeom>
          <a:noFill/>
          <a:ln/>
        </p:spPr>
        <p:txBody>
          <a:bodyPr wrap="square" lIns="0" tIns="0" rIns="0" bIns="0" rtlCol="0" anchor="t"/>
          <a:lstStyle/>
          <a:p>
            <a:pPr indent="0" marL="0">
              <a:buNone/>
            </a:pPr>
            <a:r>
              <a:rPr lang="en-US" sz="1400" b="1" dirty="0">
                <a:solidFill>
                  <a:srgbClr val="FBBF24"/>
                </a:solidFill>
                <a:latin typeface="Calibri" pitchFamily="34" charset="0"/>
                <a:ea typeface="Calibri" pitchFamily="34" charset="-122"/>
                <a:cs typeface="Calibri" pitchFamily="34" charset="-120"/>
              </a:rPr>
              <a:t>1  </a:t>
            </a:r>
            <a:pPr indent="0" marL="0">
              <a:buNone/>
            </a:pPr>
            <a:r>
              <a:rPr lang="en-US" sz="1400" b="1" dirty="0">
                <a:solidFill>
                  <a:srgbClr val="F1F5F9"/>
                </a:solidFill>
                <a:latin typeface="Calibri" pitchFamily="34" charset="0"/>
                <a:ea typeface="Calibri" pitchFamily="34" charset="-122"/>
                <a:cs typeface="Calibri" pitchFamily="34" charset="-120"/>
              </a:rPr>
              <a:t>Implicit bidding</a:t>
            </a:r>
            <a:endParaRPr lang="en-US" sz="1400" dirty="0"/>
          </a:p>
        </p:txBody>
      </p:sp>
      <p:sp>
        <p:nvSpPr>
          <p:cNvPr id="10" name="Text 6"/>
          <p:cNvSpPr txBox="1"/>
          <p:nvPr/>
        </p:nvSpPr>
        <p:spPr>
          <a:xfrm>
            <a:off x="457200" y="2514600"/>
            <a:ext cx="1508760" cy="109728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Bids are computed from signed state manifests. No bid messages are sent.</a:t>
            </a:r>
            <a:endParaRPr lang="en-US" sz="1150" dirty="0"/>
          </a:p>
        </p:txBody>
      </p:sp>
      <p:sp>
        <p:nvSpPr>
          <p:cNvPr id="11" name="Shape 7"/>
          <p:cNvSpPr/>
          <p:nvPr/>
        </p:nvSpPr>
        <p:spPr>
          <a:xfrm>
            <a:off x="2125980" y="1371600"/>
            <a:ext cx="640080" cy="640080"/>
          </a:xfrm>
          <a:prstGeom prst="ellipse">
            <a:avLst/>
          </a:prstGeom>
          <a:solidFill>
            <a:srgbClr val="1B2742"/>
          </a:solidFill>
          <a:ln w="12700">
            <a:solidFill>
              <a:srgbClr val="FBBF24"/>
            </a:solidFill>
            <a:prstDash val="solid"/>
          </a:ln>
        </p:spPr>
      </p:sp>
      <p:pic>
        <p:nvPicPr>
          <p:cNvPr id="12" name="Image 1" descr="preencoded.png">    </p:cNvPr>
          <p:cNvPicPr>
            <a:picLocks noChangeAspect="1"/>
          </p:cNvPicPr>
          <p:nvPr/>
        </p:nvPicPr>
        <p:blipFill>
          <a:blip r:embed="rId2"/>
          <a:stretch>
            <a:fillRect/>
          </a:stretch>
        </p:blipFill>
        <p:spPr>
          <a:xfrm>
            <a:off x="2298802" y="1544422"/>
            <a:ext cx="294437" cy="294437"/>
          </a:xfrm>
          <a:prstGeom prst="rect">
            <a:avLst/>
          </a:prstGeom>
        </p:spPr>
      </p:pic>
      <p:sp>
        <p:nvSpPr>
          <p:cNvPr id="13" name="Text 8"/>
          <p:cNvSpPr txBox="1"/>
          <p:nvPr/>
        </p:nvSpPr>
        <p:spPr>
          <a:xfrm>
            <a:off x="2125980" y="2194560"/>
            <a:ext cx="1600200" cy="274320"/>
          </a:xfrm>
          <a:prstGeom prst="rect">
            <a:avLst/>
          </a:prstGeom>
          <a:noFill/>
          <a:ln/>
        </p:spPr>
        <p:txBody>
          <a:bodyPr wrap="square" lIns="0" tIns="0" rIns="0" bIns="0" rtlCol="0" anchor="t"/>
          <a:lstStyle/>
          <a:p>
            <a:pPr indent="0" marL="0">
              <a:buNone/>
            </a:pPr>
            <a:r>
              <a:rPr lang="en-US" sz="1400" b="1" dirty="0">
                <a:solidFill>
                  <a:srgbClr val="FBBF24"/>
                </a:solidFill>
                <a:latin typeface="Calibri" pitchFamily="34" charset="0"/>
                <a:ea typeface="Calibri" pitchFamily="34" charset="-122"/>
                <a:cs typeface="Calibri" pitchFamily="34" charset="-120"/>
              </a:rPr>
              <a:t>2  </a:t>
            </a:r>
            <a:pPr indent="0" marL="0">
              <a:buNone/>
            </a:pPr>
            <a:r>
              <a:rPr lang="en-US" sz="1400" b="1" dirty="0">
                <a:solidFill>
                  <a:srgbClr val="F1F5F9"/>
                </a:solidFill>
                <a:latin typeface="Calibri" pitchFamily="34" charset="0"/>
                <a:ea typeface="Calibri" pitchFamily="34" charset="-122"/>
                <a:cs typeface="Calibri" pitchFamily="34" charset="-120"/>
              </a:rPr>
              <a:t>Ghost bids</a:t>
            </a:r>
            <a:endParaRPr lang="en-US" sz="1400" dirty="0"/>
          </a:p>
        </p:txBody>
      </p:sp>
      <p:sp>
        <p:nvSpPr>
          <p:cNvPr id="14" name="Text 9"/>
          <p:cNvSpPr txBox="1"/>
          <p:nvPr/>
        </p:nvSpPr>
        <p:spPr>
          <a:xfrm>
            <a:off x="2125980" y="2514600"/>
            <a:ext cx="1508760" cy="109728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A silent robot still counts, as the best bid it could still be making.</a:t>
            </a:r>
            <a:endParaRPr lang="en-US" sz="1150" dirty="0"/>
          </a:p>
        </p:txBody>
      </p:sp>
      <p:sp>
        <p:nvSpPr>
          <p:cNvPr id="15" name="Shape 10"/>
          <p:cNvSpPr/>
          <p:nvPr/>
        </p:nvSpPr>
        <p:spPr>
          <a:xfrm>
            <a:off x="3794760" y="1371600"/>
            <a:ext cx="640080" cy="640080"/>
          </a:xfrm>
          <a:prstGeom prst="ellipse">
            <a:avLst/>
          </a:prstGeom>
          <a:solidFill>
            <a:srgbClr val="1B2742"/>
          </a:solidFill>
          <a:ln w="12700">
            <a:solidFill>
              <a:srgbClr val="FBBF24"/>
            </a:solidFill>
            <a:prstDash val="solid"/>
          </a:ln>
        </p:spPr>
      </p:sp>
      <p:pic>
        <p:nvPicPr>
          <p:cNvPr id="16" name="Image 2" descr="preencoded.png">    </p:cNvPr>
          <p:cNvPicPr>
            <a:picLocks noChangeAspect="1"/>
          </p:cNvPicPr>
          <p:nvPr/>
        </p:nvPicPr>
        <p:blipFill>
          <a:blip r:embed="rId3"/>
          <a:stretch>
            <a:fillRect/>
          </a:stretch>
        </p:blipFill>
        <p:spPr>
          <a:xfrm>
            <a:off x="3967582" y="1544422"/>
            <a:ext cx="294437" cy="294437"/>
          </a:xfrm>
          <a:prstGeom prst="rect">
            <a:avLst/>
          </a:prstGeom>
        </p:spPr>
      </p:pic>
      <p:sp>
        <p:nvSpPr>
          <p:cNvPr id="17" name="Text 11"/>
          <p:cNvSpPr txBox="1"/>
          <p:nvPr/>
        </p:nvSpPr>
        <p:spPr>
          <a:xfrm>
            <a:off x="3794760" y="2194560"/>
            <a:ext cx="1600200" cy="274320"/>
          </a:xfrm>
          <a:prstGeom prst="rect">
            <a:avLst/>
          </a:prstGeom>
          <a:noFill/>
          <a:ln/>
        </p:spPr>
        <p:txBody>
          <a:bodyPr wrap="square" lIns="0" tIns="0" rIns="0" bIns="0" rtlCol="0" anchor="t"/>
          <a:lstStyle/>
          <a:p>
            <a:pPr indent="0" marL="0">
              <a:buNone/>
            </a:pPr>
            <a:r>
              <a:rPr lang="en-US" sz="1400" b="1" dirty="0">
                <a:solidFill>
                  <a:srgbClr val="FBBF24"/>
                </a:solidFill>
                <a:latin typeface="Calibri" pitchFamily="34" charset="0"/>
                <a:ea typeface="Calibri" pitchFamily="34" charset="-122"/>
                <a:cs typeface="Calibri" pitchFamily="34" charset="-120"/>
              </a:rPr>
              <a:t>3  </a:t>
            </a:r>
            <a:pPr indent="0" marL="0">
              <a:buNone/>
            </a:pPr>
            <a:r>
              <a:rPr lang="en-US" sz="1400" b="1" dirty="0">
                <a:solidFill>
                  <a:srgbClr val="F1F5F9"/>
                </a:solidFill>
                <a:latin typeface="Calibri" pitchFamily="34" charset="0"/>
                <a:ea typeface="Calibri" pitchFamily="34" charset="-122"/>
                <a:cs typeface="Calibri" pitchFamily="34" charset="-120"/>
              </a:rPr>
              <a:t>Progress leases</a:t>
            </a:r>
            <a:endParaRPr lang="en-US" sz="1400" dirty="0"/>
          </a:p>
        </p:txBody>
      </p:sp>
      <p:sp>
        <p:nvSpPr>
          <p:cNvPr id="18" name="Text 12"/>
          <p:cNvSpPr txBox="1"/>
          <p:nvPr/>
        </p:nvSpPr>
        <p:spPr>
          <a:xfrm>
            <a:off x="3794760" y="2514600"/>
            <a:ext cx="1508760" cy="109728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A claim stays valid only while remaining cost visibly falls.</a:t>
            </a:r>
            <a:endParaRPr lang="en-US" sz="1150" dirty="0"/>
          </a:p>
        </p:txBody>
      </p:sp>
      <p:sp>
        <p:nvSpPr>
          <p:cNvPr id="19" name="Shape 13"/>
          <p:cNvSpPr/>
          <p:nvPr/>
        </p:nvSpPr>
        <p:spPr>
          <a:xfrm>
            <a:off x="5463540" y="1371600"/>
            <a:ext cx="640080" cy="640080"/>
          </a:xfrm>
          <a:prstGeom prst="ellipse">
            <a:avLst/>
          </a:prstGeom>
          <a:solidFill>
            <a:srgbClr val="1B2742"/>
          </a:solidFill>
          <a:ln w="12700">
            <a:solidFill>
              <a:srgbClr val="FBBF24"/>
            </a:solidFill>
            <a:prstDash val="solid"/>
          </a:ln>
        </p:spPr>
      </p:sp>
      <p:pic>
        <p:nvPicPr>
          <p:cNvPr id="20" name="Image 3" descr="preencoded.png">    </p:cNvPr>
          <p:cNvPicPr>
            <a:picLocks noChangeAspect="1"/>
          </p:cNvPicPr>
          <p:nvPr/>
        </p:nvPicPr>
        <p:blipFill>
          <a:blip r:embed="rId4"/>
          <a:stretch>
            <a:fillRect/>
          </a:stretch>
        </p:blipFill>
        <p:spPr>
          <a:xfrm>
            <a:off x="5636362" y="1544422"/>
            <a:ext cx="294437" cy="294437"/>
          </a:xfrm>
          <a:prstGeom prst="rect">
            <a:avLst/>
          </a:prstGeom>
        </p:spPr>
      </p:pic>
      <p:sp>
        <p:nvSpPr>
          <p:cNvPr id="21" name="Text 14"/>
          <p:cNvSpPr txBox="1"/>
          <p:nvPr/>
        </p:nvSpPr>
        <p:spPr>
          <a:xfrm>
            <a:off x="5463540" y="2194560"/>
            <a:ext cx="1600200" cy="274320"/>
          </a:xfrm>
          <a:prstGeom prst="rect">
            <a:avLst/>
          </a:prstGeom>
          <a:noFill/>
          <a:ln/>
        </p:spPr>
        <p:txBody>
          <a:bodyPr wrap="square" lIns="0" tIns="0" rIns="0" bIns="0" rtlCol="0" anchor="t"/>
          <a:lstStyle/>
          <a:p>
            <a:pPr indent="0" marL="0">
              <a:buNone/>
            </a:pPr>
            <a:r>
              <a:rPr lang="en-US" sz="1400" b="1" dirty="0">
                <a:solidFill>
                  <a:srgbClr val="FBBF24"/>
                </a:solidFill>
                <a:latin typeface="Calibri" pitchFamily="34" charset="0"/>
                <a:ea typeface="Calibri" pitchFamily="34" charset="-122"/>
                <a:cs typeface="Calibri" pitchFamily="34" charset="-120"/>
              </a:rPr>
              <a:t>4  </a:t>
            </a:r>
            <a:pPr indent="0" marL="0">
              <a:buNone/>
            </a:pPr>
            <a:r>
              <a:rPr lang="en-US" sz="1400" b="1" dirty="0">
                <a:solidFill>
                  <a:srgbClr val="F1F5F9"/>
                </a:solidFill>
                <a:latin typeface="Calibri" pitchFamily="34" charset="0"/>
                <a:ea typeface="Calibri" pitchFamily="34" charset="-122"/>
                <a:cs typeface="Calibri" pitchFamily="34" charset="-120"/>
              </a:rPr>
              <a:t>Witnessed state</a:t>
            </a:r>
            <a:endParaRPr lang="en-US" sz="1400" dirty="0"/>
          </a:p>
        </p:txBody>
      </p:sp>
      <p:sp>
        <p:nvSpPr>
          <p:cNvPr id="22" name="Text 15"/>
          <p:cNvSpPr txBox="1"/>
          <p:nvPr/>
        </p:nvSpPr>
        <p:spPr>
          <a:xfrm>
            <a:off x="5463540" y="2514600"/>
            <a:ext cx="1508760" cy="109728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Physics checks, neighbour sightings and equivocation proofs.</a:t>
            </a:r>
            <a:endParaRPr lang="en-US" sz="1150" dirty="0"/>
          </a:p>
        </p:txBody>
      </p:sp>
      <p:sp>
        <p:nvSpPr>
          <p:cNvPr id="23" name="Shape 16"/>
          <p:cNvSpPr/>
          <p:nvPr/>
        </p:nvSpPr>
        <p:spPr>
          <a:xfrm>
            <a:off x="7132320" y="1371600"/>
            <a:ext cx="640080" cy="640080"/>
          </a:xfrm>
          <a:prstGeom prst="ellipse">
            <a:avLst/>
          </a:prstGeom>
          <a:solidFill>
            <a:srgbClr val="1B2742"/>
          </a:solidFill>
          <a:ln w="12700">
            <a:solidFill>
              <a:srgbClr val="FBBF24"/>
            </a:solidFill>
            <a:prstDash val="solid"/>
          </a:ln>
        </p:spPr>
      </p:sp>
      <p:pic>
        <p:nvPicPr>
          <p:cNvPr id="24" name="Image 4" descr="preencoded.png">    </p:cNvPr>
          <p:cNvPicPr>
            <a:picLocks noChangeAspect="1"/>
          </p:cNvPicPr>
          <p:nvPr/>
        </p:nvPicPr>
        <p:blipFill>
          <a:blip r:embed="rId5"/>
          <a:stretch>
            <a:fillRect/>
          </a:stretch>
        </p:blipFill>
        <p:spPr>
          <a:xfrm>
            <a:off x="7305142" y="1544422"/>
            <a:ext cx="294437" cy="294437"/>
          </a:xfrm>
          <a:prstGeom prst="rect">
            <a:avLst/>
          </a:prstGeom>
        </p:spPr>
      </p:pic>
      <p:sp>
        <p:nvSpPr>
          <p:cNvPr id="25" name="Text 17"/>
          <p:cNvSpPr txBox="1"/>
          <p:nvPr/>
        </p:nvSpPr>
        <p:spPr>
          <a:xfrm>
            <a:off x="7132320" y="2194560"/>
            <a:ext cx="1600200" cy="274320"/>
          </a:xfrm>
          <a:prstGeom prst="rect">
            <a:avLst/>
          </a:prstGeom>
          <a:noFill/>
          <a:ln/>
        </p:spPr>
        <p:txBody>
          <a:bodyPr wrap="square" lIns="0" tIns="0" rIns="0" bIns="0" rtlCol="0" anchor="t"/>
          <a:lstStyle/>
          <a:p>
            <a:pPr indent="0" marL="0">
              <a:buNone/>
            </a:pPr>
            <a:r>
              <a:rPr lang="en-US" sz="1400" b="1" dirty="0">
                <a:solidFill>
                  <a:srgbClr val="FBBF24"/>
                </a:solidFill>
                <a:latin typeface="Calibri" pitchFamily="34" charset="0"/>
                <a:ea typeface="Calibri" pitchFamily="34" charset="-122"/>
                <a:cs typeface="Calibri" pitchFamily="34" charset="-120"/>
              </a:rPr>
              <a:t>5  </a:t>
            </a:r>
            <a:pPr indent="0" marL="0">
              <a:buNone/>
            </a:pPr>
            <a:r>
              <a:rPr lang="en-US" sz="1400" b="1" dirty="0">
                <a:solidFill>
                  <a:srgbClr val="F1F5F9"/>
                </a:solidFill>
                <a:latin typeface="Calibri" pitchFamily="34" charset="0"/>
                <a:ea typeface="Calibri" pitchFamily="34" charset="-122"/>
                <a:cs typeface="Calibri" pitchFamily="34" charset="-120"/>
              </a:rPr>
              <a:t>Finish-line rule</a:t>
            </a:r>
            <a:endParaRPr lang="en-US" sz="1400" dirty="0"/>
          </a:p>
        </p:txBody>
      </p:sp>
      <p:sp>
        <p:nvSpPr>
          <p:cNvPr id="26" name="Text 18"/>
          <p:cNvSpPr txBox="1"/>
          <p:nvPr/>
        </p:nvSpPr>
        <p:spPr>
          <a:xfrm>
            <a:off x="7132320" y="2514600"/>
            <a:ext cx="1508760" cy="109728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After a heal, the robot closer to done keeps the task.</a:t>
            </a:r>
            <a:endParaRPr lang="en-US" sz="1150" dirty="0"/>
          </a:p>
        </p:txBody>
      </p:sp>
      <p:sp>
        <p:nvSpPr>
          <p:cNvPr id="27" name="Shape 19"/>
          <p:cNvSpPr/>
          <p:nvPr/>
        </p:nvSpPr>
        <p:spPr>
          <a:xfrm>
            <a:off x="457200" y="3794760"/>
            <a:ext cx="8229600" cy="777240"/>
          </a:xfrm>
          <a:prstGeom prst="roundRect">
            <a:avLst>
              <a:gd name="adj" fmla="val 9412"/>
            </a:avLst>
          </a:prstGeom>
          <a:solidFill>
            <a:srgbClr val="1B2742"/>
          </a:solidFill>
          <a:ln w="9525">
            <a:solidFill>
              <a:srgbClr val="3B4A6B"/>
            </a:solidFill>
            <a:prstDash val="solid"/>
          </a:ln>
        </p:spPr>
      </p:sp>
      <p:sp>
        <p:nvSpPr>
          <p:cNvPr id="28" name="Text 20"/>
          <p:cNvSpPr txBox="1"/>
          <p:nvPr/>
        </p:nvSpPr>
        <p:spPr>
          <a:xfrm>
            <a:off x="685800" y="3794760"/>
            <a:ext cx="7772400" cy="777240"/>
          </a:xfrm>
          <a:prstGeom prst="rect">
            <a:avLst/>
          </a:prstGeom>
          <a:noFill/>
          <a:ln/>
        </p:spPr>
        <p:txBody>
          <a:bodyPr wrap="square" lIns="0" tIns="0" rIns="0" bIns="0" rtlCol="0" anchor="ctr"/>
          <a:lstStyle/>
          <a:p>
            <a:pPr indent="0" marL="0">
              <a:buNone/>
            </a:pPr>
            <a:r>
              <a:rPr lang="en-US" sz="1350" b="1" dirty="0">
                <a:solidFill>
                  <a:srgbClr val="FBBF24"/>
                </a:solidFill>
                <a:latin typeface="Calibri" pitchFamily="34" charset="0"/>
                <a:ea typeface="Calibri" pitchFamily="34" charset="-122"/>
                <a:cs typeface="Calibri" pitchFamily="34" charset="-120"/>
              </a:rPr>
              <a:t>Common thread: </a:t>
            </a:r>
            <a:pPr indent="0" marL="0">
              <a:buNone/>
            </a:pPr>
            <a:r>
              <a:rPr lang="en-US" sz="1350" dirty="0">
                <a:solidFill>
                  <a:srgbClr val="F1F5F9"/>
                </a:solidFill>
                <a:latin typeface="Calibri" pitchFamily="34" charset="0"/>
                <a:ea typeface="Calibri" pitchFamily="34" charset="-122"/>
                <a:cs typeface="Calibri" pitchFamily="34" charset="-120"/>
              </a:rPr>
              <a:t>every decision is a pure function of signed, shared data, so robots agree without talking.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04  ·  WALKTHROUGH</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One task, start to finish</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5</a:t>
            </a:r>
            <a:endParaRPr lang="en-US" sz="900" dirty="0"/>
          </a:p>
        </p:txBody>
      </p:sp>
      <p:sp>
        <p:nvSpPr>
          <p:cNvPr id="7" name="Text 4"/>
          <p:cNvSpPr txBox="1"/>
          <p:nvPr/>
        </p:nvSpPr>
        <p:spPr>
          <a:xfrm>
            <a:off x="457200" y="1051560"/>
            <a:ext cx="8229600" cy="228600"/>
          </a:xfrm>
          <a:prstGeom prst="rect">
            <a:avLst/>
          </a:prstGeom>
          <a:noFill/>
          <a:ln/>
        </p:spPr>
        <p:txBody>
          <a:bodyPr wrap="square" lIns="0" tIns="0" rIns="0" bIns="0" rtlCol="0" anchor="t"/>
          <a:lstStyle/>
          <a:p>
            <a:pPr indent="0" marL="0">
              <a:buNone/>
            </a:pPr>
            <a:r>
              <a:rPr lang="en-US" sz="1150" i="1" dirty="0">
                <a:solidFill>
                  <a:srgbClr val="94A3B8"/>
                </a:solidFill>
                <a:latin typeface="Calibri" pitchFamily="34" charset="0"/>
                <a:ea typeface="Calibri" pitchFamily="34" charset="-122"/>
                <a:cs typeface="Calibri" pitchFamily="34" charset="-120"/>
              </a:rPr>
              <a:t>Six robots, R1 to R6. A network cut means R4 cannot hear R6.</a:t>
            </a:r>
            <a:endParaRPr lang="en-US" sz="1150" dirty="0"/>
          </a:p>
        </p:txBody>
      </p:sp>
      <p:sp>
        <p:nvSpPr>
          <p:cNvPr id="8" name="Shape 5"/>
          <p:cNvSpPr/>
          <p:nvPr/>
        </p:nvSpPr>
        <p:spPr>
          <a:xfrm>
            <a:off x="466344" y="1444752"/>
            <a:ext cx="384048" cy="384048"/>
          </a:xfrm>
          <a:prstGeom prst="ellipse">
            <a:avLst/>
          </a:prstGeom>
          <a:solidFill>
            <a:srgbClr val="1B2742"/>
          </a:solidFill>
          <a:ln w="12700">
            <a:solidFill>
              <a:srgbClr val="FBBF24"/>
            </a:solidFill>
            <a:prstDash val="solid"/>
          </a:ln>
        </p:spPr>
      </p:sp>
      <p:sp>
        <p:nvSpPr>
          <p:cNvPr id="9" name="Text 6"/>
          <p:cNvSpPr txBox="1"/>
          <p:nvPr/>
        </p:nvSpPr>
        <p:spPr>
          <a:xfrm>
            <a:off x="466344" y="1444752"/>
            <a:ext cx="384048" cy="384048"/>
          </a:xfrm>
          <a:prstGeom prst="rect">
            <a:avLst/>
          </a:prstGeom>
          <a:noFill/>
          <a:ln/>
        </p:spPr>
        <p:txBody>
          <a:bodyPr wrap="square" lIns="0" tIns="0" rIns="0" bIns="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1005840" y="1417320"/>
            <a:ext cx="3474720" cy="237744"/>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Create</a:t>
            </a:r>
            <a:endParaRPr lang="en-US" sz="1300" dirty="0"/>
          </a:p>
        </p:txBody>
      </p:sp>
      <p:sp>
        <p:nvSpPr>
          <p:cNvPr id="11" name="Text 8"/>
          <p:cNvSpPr txBox="1"/>
          <p:nvPr/>
        </p:nvSpPr>
        <p:spPr>
          <a:xfrm>
            <a:off x="1005840" y="1673352"/>
            <a:ext cx="3474720" cy="4572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 task site issues T7; it gossips to every reachable robot.</a:t>
            </a:r>
            <a:endParaRPr lang="en-US" sz="1100" dirty="0"/>
          </a:p>
        </p:txBody>
      </p:sp>
      <p:sp>
        <p:nvSpPr>
          <p:cNvPr id="12" name="Shape 9"/>
          <p:cNvSpPr/>
          <p:nvPr/>
        </p:nvSpPr>
        <p:spPr>
          <a:xfrm>
            <a:off x="466344" y="2231136"/>
            <a:ext cx="384048" cy="384048"/>
          </a:xfrm>
          <a:prstGeom prst="ellipse">
            <a:avLst/>
          </a:prstGeom>
          <a:solidFill>
            <a:srgbClr val="1B2742"/>
          </a:solidFill>
          <a:ln w="12700">
            <a:solidFill>
              <a:srgbClr val="FBBF24"/>
            </a:solidFill>
            <a:prstDash val="solid"/>
          </a:ln>
        </p:spPr>
      </p:sp>
      <p:sp>
        <p:nvSpPr>
          <p:cNvPr id="13" name="Text 10"/>
          <p:cNvSpPr txBox="1"/>
          <p:nvPr/>
        </p:nvSpPr>
        <p:spPr>
          <a:xfrm>
            <a:off x="466344" y="2231136"/>
            <a:ext cx="384048" cy="384048"/>
          </a:xfrm>
          <a:prstGeom prst="rect">
            <a:avLst/>
          </a:prstGeom>
          <a:noFill/>
          <a:ln/>
        </p:spPr>
        <p:txBody>
          <a:bodyPr wrap="square" lIns="0" tIns="0" rIns="0" bIns="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2</a:t>
            </a:r>
            <a:endParaRPr lang="en-US" sz="1200" dirty="0"/>
          </a:p>
        </p:txBody>
      </p:sp>
      <p:sp>
        <p:nvSpPr>
          <p:cNvPr id="14" name="Text 11"/>
          <p:cNvSpPr txBox="1"/>
          <p:nvPr/>
        </p:nvSpPr>
        <p:spPr>
          <a:xfrm>
            <a:off x="1005840" y="2203704"/>
            <a:ext cx="3474720" cy="237744"/>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Compute</a:t>
            </a:r>
            <a:endParaRPr lang="en-US" sz="1300" dirty="0"/>
          </a:p>
        </p:txBody>
      </p:sp>
      <p:sp>
        <p:nvSpPr>
          <p:cNvPr id="15" name="Text 12"/>
          <p:cNvSpPr txBox="1"/>
          <p:nvPr/>
        </p:nvSpPr>
        <p:spPr>
          <a:xfrm>
            <a:off x="1005840" y="2459736"/>
            <a:ext cx="3474720" cy="4572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Each robot evaluates everyone’s bid from manifests. R4 ranks first.</a:t>
            </a:r>
            <a:endParaRPr lang="en-US" sz="1100" dirty="0"/>
          </a:p>
        </p:txBody>
      </p:sp>
      <p:sp>
        <p:nvSpPr>
          <p:cNvPr id="16" name="Shape 13"/>
          <p:cNvSpPr/>
          <p:nvPr/>
        </p:nvSpPr>
        <p:spPr>
          <a:xfrm>
            <a:off x="466344" y="3017520"/>
            <a:ext cx="384048" cy="384048"/>
          </a:xfrm>
          <a:prstGeom prst="ellipse">
            <a:avLst/>
          </a:prstGeom>
          <a:solidFill>
            <a:srgbClr val="FBBF24"/>
          </a:solidFill>
          <a:ln w="12700">
            <a:solidFill>
              <a:srgbClr val="FBBF24"/>
            </a:solidFill>
            <a:prstDash val="solid"/>
          </a:ln>
        </p:spPr>
      </p:sp>
      <p:sp>
        <p:nvSpPr>
          <p:cNvPr id="17" name="Text 14"/>
          <p:cNvSpPr txBox="1"/>
          <p:nvPr/>
        </p:nvSpPr>
        <p:spPr>
          <a:xfrm>
            <a:off x="466344" y="3017520"/>
            <a:ext cx="384048" cy="384048"/>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3</a:t>
            </a:r>
            <a:endParaRPr lang="en-US" sz="1200" dirty="0"/>
          </a:p>
        </p:txBody>
      </p:sp>
      <p:sp>
        <p:nvSpPr>
          <p:cNvPr id="18" name="Text 15"/>
          <p:cNvSpPr txBox="1"/>
          <p:nvPr/>
        </p:nvSpPr>
        <p:spPr>
          <a:xfrm>
            <a:off x="1005840" y="2990088"/>
            <a:ext cx="3474720" cy="237744"/>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Check ghosts</a:t>
            </a:r>
            <a:endParaRPr lang="en-US" sz="1300" dirty="0"/>
          </a:p>
        </p:txBody>
      </p:sp>
      <p:sp>
        <p:nvSpPr>
          <p:cNvPr id="19" name="Text 16"/>
          <p:cNvSpPr txBox="1"/>
          <p:nvPr/>
        </p:nvSpPr>
        <p:spPr>
          <a:xfrm>
            <a:off x="1005840" y="3246120"/>
            <a:ext cx="3474720" cy="4572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R6 is silent for 3.1 s. Its best possible bid, 0.85, beats R4’s 0.55: regret 0.30.</a:t>
            </a:r>
            <a:endParaRPr lang="en-US" sz="1100" dirty="0"/>
          </a:p>
        </p:txBody>
      </p:sp>
      <p:sp>
        <p:nvSpPr>
          <p:cNvPr id="20" name="Shape 17"/>
          <p:cNvSpPr/>
          <p:nvPr/>
        </p:nvSpPr>
        <p:spPr>
          <a:xfrm>
            <a:off x="466344" y="3803904"/>
            <a:ext cx="384048" cy="384048"/>
          </a:xfrm>
          <a:prstGeom prst="ellipse">
            <a:avLst/>
          </a:prstGeom>
          <a:solidFill>
            <a:srgbClr val="FBBF24"/>
          </a:solidFill>
          <a:ln w="12700">
            <a:solidFill>
              <a:srgbClr val="FBBF24"/>
            </a:solidFill>
            <a:prstDash val="solid"/>
          </a:ln>
        </p:spPr>
      </p:sp>
      <p:sp>
        <p:nvSpPr>
          <p:cNvPr id="21" name="Text 18"/>
          <p:cNvSpPr txBox="1"/>
          <p:nvPr/>
        </p:nvSpPr>
        <p:spPr>
          <a:xfrm>
            <a:off x="466344" y="3803904"/>
            <a:ext cx="384048" cy="384048"/>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1005840" y="3776472"/>
            <a:ext cx="3474720" cy="237744"/>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Wait</a:t>
            </a:r>
            <a:endParaRPr lang="en-US" sz="1300" dirty="0"/>
          </a:p>
        </p:txBody>
      </p:sp>
      <p:sp>
        <p:nvSpPr>
          <p:cNvPr id="23" name="Text 20"/>
          <p:cNvSpPr txBox="1"/>
          <p:nvPr/>
        </p:nvSpPr>
        <p:spPr>
          <a:xfrm>
            <a:off x="1005840" y="4032504"/>
            <a:ext cx="3474720" cy="4572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Wait = P × regret / W = 5 × 0.30 / 1.3 ≈ 1.15 s. R6 stays silent, so R4 claims.</a:t>
            </a:r>
            <a:endParaRPr lang="en-US" sz="1100" dirty="0"/>
          </a:p>
        </p:txBody>
      </p:sp>
      <p:sp>
        <p:nvSpPr>
          <p:cNvPr id="24" name="Shape 21"/>
          <p:cNvSpPr/>
          <p:nvPr/>
        </p:nvSpPr>
        <p:spPr>
          <a:xfrm>
            <a:off x="4672584" y="1444752"/>
            <a:ext cx="384048" cy="384048"/>
          </a:xfrm>
          <a:prstGeom prst="ellipse">
            <a:avLst/>
          </a:prstGeom>
          <a:solidFill>
            <a:srgbClr val="1B2742"/>
          </a:solidFill>
          <a:ln w="12700">
            <a:solidFill>
              <a:srgbClr val="FBBF24"/>
            </a:solidFill>
            <a:prstDash val="solid"/>
          </a:ln>
        </p:spPr>
      </p:sp>
      <p:sp>
        <p:nvSpPr>
          <p:cNvPr id="25" name="Text 22"/>
          <p:cNvSpPr txBox="1"/>
          <p:nvPr/>
        </p:nvSpPr>
        <p:spPr>
          <a:xfrm>
            <a:off x="4672584" y="1444752"/>
            <a:ext cx="384048" cy="384048"/>
          </a:xfrm>
          <a:prstGeom prst="rect">
            <a:avLst/>
          </a:prstGeom>
          <a:noFill/>
          <a:ln/>
        </p:spPr>
        <p:txBody>
          <a:bodyPr wrap="square" lIns="0" tIns="0" rIns="0" bIns="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5</a:t>
            </a:r>
            <a:endParaRPr lang="en-US" sz="1200" dirty="0"/>
          </a:p>
        </p:txBody>
      </p:sp>
      <p:sp>
        <p:nvSpPr>
          <p:cNvPr id="26" name="Text 23"/>
          <p:cNvSpPr txBox="1"/>
          <p:nvPr/>
        </p:nvSpPr>
        <p:spPr>
          <a:xfrm>
            <a:off x="5212080" y="1417320"/>
            <a:ext cx="3474720" cy="237744"/>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Hold a lease</a:t>
            </a:r>
            <a:endParaRPr lang="en-US" sz="1300" dirty="0"/>
          </a:p>
        </p:txBody>
      </p:sp>
      <p:sp>
        <p:nvSpPr>
          <p:cNvPr id="27" name="Text 24"/>
          <p:cNvSpPr txBox="1"/>
          <p:nvPr/>
        </p:nvSpPr>
        <p:spPr>
          <a:xfrm>
            <a:off x="5212080" y="1673352"/>
            <a:ext cx="3474720" cy="4572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R4 renews its claim only with a falling, physically possible remaining cost.</a:t>
            </a:r>
            <a:endParaRPr lang="en-US" sz="1100" dirty="0"/>
          </a:p>
        </p:txBody>
      </p:sp>
      <p:sp>
        <p:nvSpPr>
          <p:cNvPr id="28" name="Shape 25"/>
          <p:cNvSpPr/>
          <p:nvPr/>
        </p:nvSpPr>
        <p:spPr>
          <a:xfrm>
            <a:off x="4672584" y="2231136"/>
            <a:ext cx="384048" cy="384048"/>
          </a:xfrm>
          <a:prstGeom prst="ellipse">
            <a:avLst/>
          </a:prstGeom>
          <a:solidFill>
            <a:srgbClr val="1B2742"/>
          </a:solidFill>
          <a:ln w="12700">
            <a:solidFill>
              <a:srgbClr val="FBBF24"/>
            </a:solidFill>
            <a:prstDash val="solid"/>
          </a:ln>
        </p:spPr>
      </p:sp>
      <p:sp>
        <p:nvSpPr>
          <p:cNvPr id="29" name="Text 26"/>
          <p:cNvSpPr txBox="1"/>
          <p:nvPr/>
        </p:nvSpPr>
        <p:spPr>
          <a:xfrm>
            <a:off x="4672584" y="2231136"/>
            <a:ext cx="384048" cy="384048"/>
          </a:xfrm>
          <a:prstGeom prst="rect">
            <a:avLst/>
          </a:prstGeom>
          <a:noFill/>
          <a:ln/>
        </p:spPr>
        <p:txBody>
          <a:bodyPr wrap="square" lIns="0" tIns="0" rIns="0" bIns="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6</a:t>
            </a:r>
            <a:endParaRPr lang="en-US" sz="1200" dirty="0"/>
          </a:p>
        </p:txBody>
      </p:sp>
      <p:sp>
        <p:nvSpPr>
          <p:cNvPr id="30" name="Text 27"/>
          <p:cNvSpPr txBox="1"/>
          <p:nvPr/>
        </p:nvSpPr>
        <p:spPr>
          <a:xfrm>
            <a:off x="5212080" y="2203704"/>
            <a:ext cx="3474720" cy="237744"/>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Fail</a:t>
            </a:r>
            <a:endParaRPr lang="en-US" sz="1300" dirty="0"/>
          </a:p>
        </p:txBody>
      </p:sp>
      <p:sp>
        <p:nvSpPr>
          <p:cNvPr id="31" name="Text 28"/>
          <p:cNvSpPr txBox="1"/>
          <p:nvPr/>
        </p:nvSpPr>
        <p:spPr>
          <a:xfrm>
            <a:off x="5212080" y="2459736"/>
            <a:ext cx="3474720" cy="4572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R4 stalls. The ratchet fails, the lease lapses, and R1 (rank 1) takes over.</a:t>
            </a:r>
            <a:endParaRPr lang="en-US" sz="1100" dirty="0"/>
          </a:p>
        </p:txBody>
      </p:sp>
      <p:sp>
        <p:nvSpPr>
          <p:cNvPr id="32" name="Shape 29"/>
          <p:cNvSpPr/>
          <p:nvPr/>
        </p:nvSpPr>
        <p:spPr>
          <a:xfrm>
            <a:off x="4672584" y="3017520"/>
            <a:ext cx="384048" cy="384048"/>
          </a:xfrm>
          <a:prstGeom prst="ellipse">
            <a:avLst/>
          </a:prstGeom>
          <a:solidFill>
            <a:srgbClr val="1B2742"/>
          </a:solidFill>
          <a:ln w="12700">
            <a:solidFill>
              <a:srgbClr val="FBBF24"/>
            </a:solidFill>
            <a:prstDash val="solid"/>
          </a:ln>
        </p:spPr>
      </p:sp>
      <p:sp>
        <p:nvSpPr>
          <p:cNvPr id="33" name="Text 30"/>
          <p:cNvSpPr txBox="1"/>
          <p:nvPr/>
        </p:nvSpPr>
        <p:spPr>
          <a:xfrm>
            <a:off x="4672584" y="3017520"/>
            <a:ext cx="384048" cy="384048"/>
          </a:xfrm>
          <a:prstGeom prst="rect">
            <a:avLst/>
          </a:prstGeom>
          <a:noFill/>
          <a:ln/>
        </p:spPr>
        <p:txBody>
          <a:bodyPr wrap="square" lIns="0" tIns="0" rIns="0" bIns="0"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7</a:t>
            </a:r>
            <a:endParaRPr lang="en-US" sz="1200" dirty="0"/>
          </a:p>
        </p:txBody>
      </p:sp>
      <p:sp>
        <p:nvSpPr>
          <p:cNvPr id="34" name="Text 31"/>
          <p:cNvSpPr txBox="1"/>
          <p:nvPr/>
        </p:nvSpPr>
        <p:spPr>
          <a:xfrm>
            <a:off x="5212080" y="2990088"/>
            <a:ext cx="3474720" cy="237744"/>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Heal</a:t>
            </a:r>
            <a:endParaRPr lang="en-US" sz="1300" dirty="0"/>
          </a:p>
        </p:txBody>
      </p:sp>
      <p:sp>
        <p:nvSpPr>
          <p:cNvPr id="35" name="Text 32"/>
          <p:cNvSpPr txBox="1"/>
          <p:nvPr/>
        </p:nvSpPr>
        <p:spPr>
          <a:xfrm>
            <a:off x="5212080" y="3246120"/>
            <a:ext cx="3474720" cy="4572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The cut heals. R6 also worked on T7; the robot closer to done keeps it.</a:t>
            </a:r>
            <a:endParaRPr lang="en-US" sz="1100" dirty="0"/>
          </a:p>
        </p:txBody>
      </p:sp>
      <p:sp>
        <p:nvSpPr>
          <p:cNvPr id="36" name="Shape 33"/>
          <p:cNvSpPr/>
          <p:nvPr/>
        </p:nvSpPr>
        <p:spPr>
          <a:xfrm>
            <a:off x="4663440" y="3776472"/>
            <a:ext cx="4023360" cy="777240"/>
          </a:xfrm>
          <a:prstGeom prst="roundRect">
            <a:avLst>
              <a:gd name="adj" fmla="val 9412"/>
            </a:avLst>
          </a:prstGeom>
          <a:solidFill>
            <a:srgbClr val="1B2742"/>
          </a:solidFill>
          <a:ln w="9525">
            <a:solidFill>
              <a:srgbClr val="2DD4BF"/>
            </a:solidFill>
            <a:prstDash val="solid"/>
          </a:ln>
        </p:spPr>
      </p:sp>
      <p:sp>
        <p:nvSpPr>
          <p:cNvPr id="37" name="Text 34"/>
          <p:cNvSpPr txBox="1"/>
          <p:nvPr/>
        </p:nvSpPr>
        <p:spPr>
          <a:xfrm>
            <a:off x="4846320" y="3776472"/>
            <a:ext cx="3657600" cy="777240"/>
          </a:xfrm>
          <a:prstGeom prst="rect">
            <a:avLst/>
          </a:prstGeom>
          <a:noFill/>
          <a:ln/>
        </p:spPr>
        <p:txBody>
          <a:bodyPr wrap="square" lIns="0" tIns="0" rIns="0" bIns="0"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Every step is local computation over shared data. No coordinator, no vote.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05  ·  IMPLICIT BIDDING</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Mechanism 1: a bid is a function, not a message</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6</a:t>
            </a:r>
            <a:endParaRPr lang="en-US" sz="900" dirty="0"/>
          </a:p>
        </p:txBody>
      </p:sp>
      <p:sp>
        <p:nvSpPr>
          <p:cNvPr id="7" name="Text 4"/>
          <p:cNvSpPr txBox="1"/>
          <p:nvPr/>
        </p:nvSpPr>
        <p:spPr>
          <a:xfrm>
            <a:off x="457200" y="1298448"/>
            <a:ext cx="4754880" cy="201168"/>
          </a:xfrm>
          <a:prstGeom prst="rect">
            <a:avLst/>
          </a:prstGeom>
          <a:noFill/>
          <a:ln/>
        </p:spPr>
        <p:txBody>
          <a:bodyPr wrap="square" lIns="0" tIns="0" rIns="0" bIns="0" rtlCol="0" anchor="t"/>
          <a:lstStyle/>
          <a:p>
            <a:pPr indent="0" marL="0">
              <a:buNone/>
            </a:pPr>
            <a:r>
              <a:rPr lang="en-US" sz="950" b="1" spc="200" kern="0" dirty="0">
                <a:solidFill>
                  <a:srgbClr val="94A3B8"/>
                </a:solidFill>
                <a:latin typeface="Calibri" pitchFamily="34" charset="0"/>
                <a:ea typeface="Calibri" pitchFamily="34" charset="-122"/>
                <a:cs typeface="Calibri" pitchFamily="34" charset="-120"/>
              </a:rPr>
              <a:t>MANIFEST: SIGNED STATE EVERY ROBOT GOSSIPS</a:t>
            </a:r>
            <a:endParaRPr lang="en-US" sz="950" dirty="0"/>
          </a:p>
        </p:txBody>
      </p:sp>
      <p:sp>
        <p:nvSpPr>
          <p:cNvPr id="8" name="Shape 5"/>
          <p:cNvSpPr/>
          <p:nvPr/>
        </p:nvSpPr>
        <p:spPr>
          <a:xfrm>
            <a:off x="457200" y="1572768"/>
            <a:ext cx="435254" cy="256032"/>
          </a:xfrm>
          <a:prstGeom prst="roundRect">
            <a:avLst>
              <a:gd name="adj" fmla="val 50000"/>
            </a:avLst>
          </a:prstGeom>
          <a:solidFill>
            <a:srgbClr val="1B2742"/>
          </a:solidFill>
          <a:ln w="9525">
            <a:solidFill>
              <a:srgbClr val="3B4A6B"/>
            </a:solidFill>
            <a:prstDash val="solid"/>
          </a:ln>
        </p:spPr>
      </p:sp>
      <p:sp>
        <p:nvSpPr>
          <p:cNvPr id="9" name="Text 6"/>
          <p:cNvSpPr txBox="1"/>
          <p:nvPr/>
        </p:nvSpPr>
        <p:spPr>
          <a:xfrm>
            <a:off x="457200" y="1572768"/>
            <a:ext cx="435254"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id</a:t>
            </a:r>
            <a:endParaRPr lang="en-US" sz="1050" dirty="0"/>
          </a:p>
        </p:txBody>
      </p:sp>
      <p:sp>
        <p:nvSpPr>
          <p:cNvPr id="10" name="Shape 7"/>
          <p:cNvSpPr/>
          <p:nvPr/>
        </p:nvSpPr>
        <p:spPr>
          <a:xfrm>
            <a:off x="983894" y="1572768"/>
            <a:ext cx="506578" cy="256032"/>
          </a:xfrm>
          <a:prstGeom prst="roundRect">
            <a:avLst>
              <a:gd name="adj" fmla="val 50000"/>
            </a:avLst>
          </a:prstGeom>
          <a:solidFill>
            <a:srgbClr val="1B2742"/>
          </a:solidFill>
          <a:ln w="9525">
            <a:solidFill>
              <a:srgbClr val="3B4A6B"/>
            </a:solidFill>
            <a:prstDash val="solid"/>
          </a:ln>
        </p:spPr>
      </p:sp>
      <p:sp>
        <p:nvSpPr>
          <p:cNvPr id="11" name="Text 8"/>
          <p:cNvSpPr txBox="1"/>
          <p:nvPr/>
        </p:nvSpPr>
        <p:spPr>
          <a:xfrm>
            <a:off x="983894" y="1572768"/>
            <a:ext cx="506578"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seq</a:t>
            </a:r>
            <a:endParaRPr lang="en-US" sz="1050" dirty="0"/>
          </a:p>
        </p:txBody>
      </p:sp>
      <p:sp>
        <p:nvSpPr>
          <p:cNvPr id="12" name="Shape 9"/>
          <p:cNvSpPr/>
          <p:nvPr/>
        </p:nvSpPr>
        <p:spPr>
          <a:xfrm>
            <a:off x="1581912" y="1572768"/>
            <a:ext cx="934517" cy="256032"/>
          </a:xfrm>
          <a:prstGeom prst="roundRect">
            <a:avLst>
              <a:gd name="adj" fmla="val 50000"/>
            </a:avLst>
          </a:prstGeom>
          <a:solidFill>
            <a:srgbClr val="1B2742"/>
          </a:solidFill>
          <a:ln w="9525">
            <a:solidFill>
              <a:srgbClr val="3B4A6B"/>
            </a:solidFill>
            <a:prstDash val="solid"/>
          </a:ln>
        </p:spPr>
      </p:sp>
      <p:sp>
        <p:nvSpPr>
          <p:cNvPr id="13" name="Text 10"/>
          <p:cNvSpPr txBox="1"/>
          <p:nvPr/>
        </p:nvSpPr>
        <p:spPr>
          <a:xfrm>
            <a:off x="1581912" y="1572768"/>
            <a:ext cx="934517"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timestamp</a:t>
            </a:r>
            <a:endParaRPr lang="en-US" sz="1050" dirty="0"/>
          </a:p>
        </p:txBody>
      </p:sp>
      <p:sp>
        <p:nvSpPr>
          <p:cNvPr id="14" name="Shape 11"/>
          <p:cNvSpPr/>
          <p:nvPr/>
        </p:nvSpPr>
        <p:spPr>
          <a:xfrm>
            <a:off x="2607869" y="1572768"/>
            <a:ext cx="577901" cy="256032"/>
          </a:xfrm>
          <a:prstGeom prst="roundRect">
            <a:avLst>
              <a:gd name="adj" fmla="val 50000"/>
            </a:avLst>
          </a:prstGeom>
          <a:solidFill>
            <a:srgbClr val="1B2742"/>
          </a:solidFill>
          <a:ln w="9525">
            <a:solidFill>
              <a:srgbClr val="3B4A6B"/>
            </a:solidFill>
            <a:prstDash val="solid"/>
          </a:ln>
        </p:spPr>
      </p:sp>
      <p:sp>
        <p:nvSpPr>
          <p:cNvPr id="15" name="Text 12"/>
          <p:cNvSpPr txBox="1"/>
          <p:nvPr/>
        </p:nvSpPr>
        <p:spPr>
          <a:xfrm>
            <a:off x="2607869" y="1572768"/>
            <a:ext cx="577901"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pose</a:t>
            </a:r>
            <a:endParaRPr lang="en-US" sz="1050" dirty="0"/>
          </a:p>
        </p:txBody>
      </p:sp>
      <p:sp>
        <p:nvSpPr>
          <p:cNvPr id="16" name="Shape 13"/>
          <p:cNvSpPr/>
          <p:nvPr/>
        </p:nvSpPr>
        <p:spPr>
          <a:xfrm>
            <a:off x="3277210" y="1572768"/>
            <a:ext cx="863194" cy="256032"/>
          </a:xfrm>
          <a:prstGeom prst="roundRect">
            <a:avLst>
              <a:gd name="adj" fmla="val 50000"/>
            </a:avLst>
          </a:prstGeom>
          <a:solidFill>
            <a:srgbClr val="1B2742"/>
          </a:solidFill>
          <a:ln w="9525">
            <a:solidFill>
              <a:srgbClr val="3B4A6B"/>
            </a:solidFill>
            <a:prstDash val="solid"/>
          </a:ln>
        </p:spPr>
      </p:sp>
      <p:sp>
        <p:nvSpPr>
          <p:cNvPr id="17" name="Text 14"/>
          <p:cNvSpPr txBox="1"/>
          <p:nvPr/>
        </p:nvSpPr>
        <p:spPr>
          <a:xfrm>
            <a:off x="3277210" y="1572768"/>
            <a:ext cx="863194"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velocity</a:t>
            </a:r>
            <a:endParaRPr lang="en-US" sz="1050" dirty="0"/>
          </a:p>
        </p:txBody>
      </p:sp>
      <p:sp>
        <p:nvSpPr>
          <p:cNvPr id="18" name="Shape 15"/>
          <p:cNvSpPr/>
          <p:nvPr/>
        </p:nvSpPr>
        <p:spPr>
          <a:xfrm>
            <a:off x="457200" y="1892808"/>
            <a:ext cx="791870" cy="256032"/>
          </a:xfrm>
          <a:prstGeom prst="roundRect">
            <a:avLst>
              <a:gd name="adj" fmla="val 50000"/>
            </a:avLst>
          </a:prstGeom>
          <a:solidFill>
            <a:srgbClr val="1B2742"/>
          </a:solidFill>
          <a:ln w="9525">
            <a:solidFill>
              <a:srgbClr val="3B4A6B"/>
            </a:solidFill>
            <a:prstDash val="solid"/>
          </a:ln>
        </p:spPr>
      </p:sp>
      <p:sp>
        <p:nvSpPr>
          <p:cNvPr id="19" name="Text 16"/>
          <p:cNvSpPr txBox="1"/>
          <p:nvPr/>
        </p:nvSpPr>
        <p:spPr>
          <a:xfrm>
            <a:off x="457200" y="1892808"/>
            <a:ext cx="791870"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battery</a:t>
            </a:r>
            <a:endParaRPr lang="en-US" sz="1050" dirty="0"/>
          </a:p>
        </p:txBody>
      </p:sp>
      <p:sp>
        <p:nvSpPr>
          <p:cNvPr id="20" name="Shape 17"/>
          <p:cNvSpPr/>
          <p:nvPr/>
        </p:nvSpPr>
        <p:spPr>
          <a:xfrm>
            <a:off x="1340510" y="1892808"/>
            <a:ext cx="1148486" cy="256032"/>
          </a:xfrm>
          <a:prstGeom prst="roundRect">
            <a:avLst>
              <a:gd name="adj" fmla="val 50000"/>
            </a:avLst>
          </a:prstGeom>
          <a:solidFill>
            <a:srgbClr val="1B2742"/>
          </a:solidFill>
          <a:ln w="9525">
            <a:solidFill>
              <a:srgbClr val="3B4A6B"/>
            </a:solidFill>
            <a:prstDash val="solid"/>
          </a:ln>
        </p:spPr>
      </p:sp>
      <p:sp>
        <p:nvSpPr>
          <p:cNvPr id="21" name="Text 18"/>
          <p:cNvSpPr txBox="1"/>
          <p:nvPr/>
        </p:nvSpPr>
        <p:spPr>
          <a:xfrm>
            <a:off x="1340510" y="1892808"/>
            <a:ext cx="1148486"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capabilities</a:t>
            </a:r>
            <a:endParaRPr lang="en-US" sz="1050" dirty="0"/>
          </a:p>
        </p:txBody>
      </p:sp>
      <p:sp>
        <p:nvSpPr>
          <p:cNvPr id="22" name="Shape 19"/>
          <p:cNvSpPr/>
          <p:nvPr/>
        </p:nvSpPr>
        <p:spPr>
          <a:xfrm>
            <a:off x="2580437" y="1892808"/>
            <a:ext cx="649224" cy="256032"/>
          </a:xfrm>
          <a:prstGeom prst="roundRect">
            <a:avLst>
              <a:gd name="adj" fmla="val 50000"/>
            </a:avLst>
          </a:prstGeom>
          <a:solidFill>
            <a:srgbClr val="1B2742"/>
          </a:solidFill>
          <a:ln w="9525">
            <a:solidFill>
              <a:srgbClr val="3B4A6B"/>
            </a:solidFill>
            <a:prstDash val="solid"/>
          </a:ln>
        </p:spPr>
      </p:sp>
      <p:sp>
        <p:nvSpPr>
          <p:cNvPr id="23" name="Text 20"/>
          <p:cNvSpPr txBox="1"/>
          <p:nvPr/>
        </p:nvSpPr>
        <p:spPr>
          <a:xfrm>
            <a:off x="2580437" y="1892808"/>
            <a:ext cx="649224"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lease</a:t>
            </a:r>
            <a:endParaRPr lang="en-US" sz="1050" dirty="0"/>
          </a:p>
        </p:txBody>
      </p:sp>
      <p:sp>
        <p:nvSpPr>
          <p:cNvPr id="24" name="Shape 21"/>
          <p:cNvSpPr/>
          <p:nvPr/>
        </p:nvSpPr>
        <p:spPr>
          <a:xfrm>
            <a:off x="3321101" y="1892808"/>
            <a:ext cx="934517" cy="256032"/>
          </a:xfrm>
          <a:prstGeom prst="roundRect">
            <a:avLst>
              <a:gd name="adj" fmla="val 50000"/>
            </a:avLst>
          </a:prstGeom>
          <a:solidFill>
            <a:srgbClr val="1B2742"/>
          </a:solidFill>
          <a:ln w="9525">
            <a:solidFill>
              <a:srgbClr val="3B4A6B"/>
            </a:solidFill>
            <a:prstDash val="solid"/>
          </a:ln>
        </p:spPr>
      </p:sp>
      <p:sp>
        <p:nvSpPr>
          <p:cNvPr id="25" name="Text 22"/>
          <p:cNvSpPr txBox="1"/>
          <p:nvPr/>
        </p:nvSpPr>
        <p:spPr>
          <a:xfrm>
            <a:off x="3321101" y="1892808"/>
            <a:ext cx="934517"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signature</a:t>
            </a:r>
            <a:endParaRPr lang="en-US" sz="1050" dirty="0"/>
          </a:p>
        </p:txBody>
      </p:sp>
      <p:sp>
        <p:nvSpPr>
          <p:cNvPr id="26" name="Shape 23"/>
          <p:cNvSpPr/>
          <p:nvPr/>
        </p:nvSpPr>
        <p:spPr>
          <a:xfrm>
            <a:off x="457200" y="2286000"/>
            <a:ext cx="4754880" cy="777240"/>
          </a:xfrm>
          <a:prstGeom prst="roundRect">
            <a:avLst>
              <a:gd name="adj" fmla="val 9412"/>
            </a:avLst>
          </a:prstGeom>
          <a:solidFill>
            <a:srgbClr val="1B2742"/>
          </a:solidFill>
          <a:ln w="9525">
            <a:solidFill>
              <a:srgbClr val="2A3A5F"/>
            </a:solidFill>
            <a:prstDash val="solid"/>
          </a:ln>
        </p:spPr>
      </p:sp>
      <p:sp>
        <p:nvSpPr>
          <p:cNvPr id="27" name="Text 24"/>
          <p:cNvSpPr txBox="1"/>
          <p:nvPr/>
        </p:nvSpPr>
        <p:spPr>
          <a:xfrm>
            <a:off x="640080" y="2340864"/>
            <a:ext cx="4480560" cy="310896"/>
          </a:xfrm>
          <a:prstGeom prst="rect">
            <a:avLst/>
          </a:prstGeom>
          <a:noFill/>
          <a:ln/>
        </p:spPr>
        <p:txBody>
          <a:bodyPr wrap="square" lIns="0" tIns="0" rIns="0" bIns="0" rtlCol="0" anchor="ctr"/>
          <a:lstStyle/>
          <a:p>
            <a:pPr indent="0" marL="0">
              <a:buNone/>
            </a:pPr>
            <a:r>
              <a:rPr lang="en-US" sz="1300" b="1" dirty="0">
                <a:solidFill>
                  <a:srgbClr val="FBBF24"/>
                </a:solidFill>
                <a:latin typeface="Courier New" pitchFamily="34" charset="0"/>
                <a:ea typeface="Courier New" pitchFamily="34" charset="-122"/>
                <a:cs typeface="Courier New" pitchFamily="34" charset="-120"/>
              </a:rPr>
              <a:t>B = G · (0.30·s_dist + 0.25·s_batt</a:t>
            </a:r>
            <a:endParaRPr lang="en-US" sz="1300" dirty="0"/>
          </a:p>
        </p:txBody>
      </p:sp>
      <p:sp>
        <p:nvSpPr>
          <p:cNvPr id="28" name="Text 25"/>
          <p:cNvSpPr txBox="1"/>
          <p:nvPr/>
        </p:nvSpPr>
        <p:spPr>
          <a:xfrm>
            <a:off x="1353312" y="2651760"/>
            <a:ext cx="3749040" cy="310896"/>
          </a:xfrm>
          <a:prstGeom prst="rect">
            <a:avLst/>
          </a:prstGeom>
          <a:noFill/>
          <a:ln/>
        </p:spPr>
        <p:txBody>
          <a:bodyPr wrap="square" lIns="0" tIns="0" rIns="0" bIns="0" rtlCol="0" anchor="ctr"/>
          <a:lstStyle/>
          <a:p>
            <a:pPr indent="0" marL="0">
              <a:buNone/>
            </a:pPr>
            <a:r>
              <a:rPr lang="en-US" sz="1300" b="1" dirty="0">
                <a:solidFill>
                  <a:srgbClr val="FBBF24"/>
                </a:solidFill>
                <a:latin typeface="Courier New" pitchFamily="34" charset="0"/>
                <a:ea typeface="Courier New" pitchFamily="34" charset="-122"/>
                <a:cs typeface="Courier New" pitchFamily="34" charset="-120"/>
              </a:rPr>
              <a:t>+ 0.25·s_eta + 0.20·s_fit) − 0.3·σ</a:t>
            </a:r>
            <a:endParaRPr lang="en-US" sz="1300" dirty="0"/>
          </a:p>
        </p:txBody>
      </p:sp>
      <p:sp>
        <p:nvSpPr>
          <p:cNvPr id="29" name="Text 26"/>
          <p:cNvSpPr txBox="1"/>
          <p:nvPr/>
        </p:nvSpPr>
        <p:spPr>
          <a:xfrm>
            <a:off x="457200" y="3246120"/>
            <a:ext cx="365760" cy="384048"/>
          </a:xfrm>
          <a:prstGeom prst="rect">
            <a:avLst/>
          </a:prstGeom>
          <a:noFill/>
          <a:ln/>
        </p:spPr>
        <p:txBody>
          <a:bodyPr wrap="square" lIns="0" tIns="0" rIns="0" bIns="0" rtlCol="0" anchor="ctr"/>
          <a:lstStyle/>
          <a:p>
            <a:pPr algn="ctr" indent="0" marL="0">
              <a:buNone/>
            </a:pPr>
            <a:r>
              <a:rPr lang="en-US" sz="1400" b="1" dirty="0">
                <a:solidFill>
                  <a:srgbClr val="FBBF24"/>
                </a:solidFill>
                <a:latin typeface="Calibri" pitchFamily="34" charset="0"/>
                <a:ea typeface="Calibri" pitchFamily="34" charset="-122"/>
                <a:cs typeface="Calibri" pitchFamily="34" charset="-120"/>
              </a:rPr>
              <a:t>G</a:t>
            </a:r>
            <a:endParaRPr lang="en-US" sz="1400" dirty="0"/>
          </a:p>
        </p:txBody>
      </p:sp>
      <p:sp>
        <p:nvSpPr>
          <p:cNvPr id="30" name="Text 27"/>
          <p:cNvSpPr txBox="1"/>
          <p:nvPr/>
        </p:nvSpPr>
        <p:spPr>
          <a:xfrm>
            <a:off x="914400" y="3246120"/>
            <a:ext cx="4297680" cy="38404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Gate: capable, battery covers trip plus reserve, finishes before the deadline.</a:t>
            </a:r>
            <a:endParaRPr lang="en-US" sz="1100" dirty="0"/>
          </a:p>
        </p:txBody>
      </p:sp>
      <p:sp>
        <p:nvSpPr>
          <p:cNvPr id="31" name="Text 28"/>
          <p:cNvSpPr txBox="1"/>
          <p:nvPr/>
        </p:nvSpPr>
        <p:spPr>
          <a:xfrm>
            <a:off x="457200" y="3703320"/>
            <a:ext cx="365760" cy="384048"/>
          </a:xfrm>
          <a:prstGeom prst="rect">
            <a:avLst/>
          </a:prstGeom>
          <a:noFill/>
          <a:ln/>
        </p:spPr>
        <p:txBody>
          <a:bodyPr wrap="square" lIns="0" tIns="0" rIns="0" bIns="0" rtlCol="0" anchor="ctr"/>
          <a:lstStyle/>
          <a:p>
            <a:pPr algn="ctr" indent="0" marL="0">
              <a:buNone/>
            </a:pPr>
            <a:r>
              <a:rPr lang="en-US" sz="1400" b="1" dirty="0">
                <a:solidFill>
                  <a:srgbClr val="FBBF24"/>
                </a:solidFill>
                <a:latin typeface="Calibri" pitchFamily="34" charset="0"/>
                <a:ea typeface="Calibri" pitchFamily="34" charset="-122"/>
                <a:cs typeface="Calibri" pitchFamily="34" charset="-120"/>
              </a:rPr>
              <a:t>σ</a:t>
            </a:r>
            <a:endParaRPr lang="en-US" sz="1400" dirty="0"/>
          </a:p>
        </p:txBody>
      </p:sp>
      <p:sp>
        <p:nvSpPr>
          <p:cNvPr id="32" name="Text 29"/>
          <p:cNvSpPr txBox="1"/>
          <p:nvPr/>
        </p:nvSpPr>
        <p:spPr>
          <a:xfrm>
            <a:off x="914400" y="3703320"/>
            <a:ext cx="4297680" cy="38404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Uncertainty: pose noise, link quality, manifest age. Risky robots bid less.</a:t>
            </a:r>
            <a:endParaRPr lang="en-US" sz="1100" dirty="0"/>
          </a:p>
        </p:txBody>
      </p:sp>
      <p:sp>
        <p:nvSpPr>
          <p:cNvPr id="33" name="Text 30"/>
          <p:cNvSpPr txBox="1"/>
          <p:nvPr/>
        </p:nvSpPr>
        <p:spPr>
          <a:xfrm>
            <a:off x="457200" y="4160520"/>
            <a:ext cx="365760" cy="384048"/>
          </a:xfrm>
          <a:prstGeom prst="rect">
            <a:avLst/>
          </a:prstGeom>
          <a:noFill/>
          <a:ln/>
        </p:spPr>
        <p:txBody>
          <a:bodyPr wrap="square" lIns="0" tIns="0" rIns="0" bIns="0" rtlCol="0" anchor="ctr"/>
          <a:lstStyle/>
          <a:p>
            <a:pPr algn="ctr" indent="0" marL="0">
              <a:buNone/>
            </a:pPr>
            <a:r>
              <a:rPr lang="en-US" sz="1400" b="1" dirty="0">
                <a:solidFill>
                  <a:srgbClr val="FBBF24"/>
                </a:solidFill>
                <a:latin typeface="Calibri" pitchFamily="34" charset="0"/>
                <a:ea typeface="Calibri" pitchFamily="34" charset="-122"/>
                <a:cs typeface="Calibri" pitchFamily="34" charset="-120"/>
              </a:rPr>
              <a:t>=</a:t>
            </a:r>
            <a:endParaRPr lang="en-US" sz="1400" dirty="0"/>
          </a:p>
        </p:txBody>
      </p:sp>
      <p:sp>
        <p:nvSpPr>
          <p:cNvPr id="34" name="Text 31"/>
          <p:cNvSpPr txBox="1"/>
          <p:nvPr/>
        </p:nvSpPr>
        <p:spPr>
          <a:xfrm>
            <a:off x="914400" y="4160520"/>
            <a:ext cx="4297680" cy="38404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Deterministic: shared map, Dijkstra distance fields, lowest-ID tie-break.</a:t>
            </a:r>
            <a:endParaRPr lang="en-US" sz="1100" dirty="0"/>
          </a:p>
        </p:txBody>
      </p:sp>
      <p:sp>
        <p:nvSpPr>
          <p:cNvPr id="35" name="Shape 32"/>
          <p:cNvSpPr/>
          <p:nvPr/>
        </p:nvSpPr>
        <p:spPr>
          <a:xfrm>
            <a:off x="5486400" y="1325880"/>
            <a:ext cx="3200400" cy="1554480"/>
          </a:xfrm>
          <a:prstGeom prst="roundRect">
            <a:avLst>
              <a:gd name="adj" fmla="val 4706"/>
            </a:avLst>
          </a:prstGeom>
          <a:solidFill>
            <a:srgbClr val="131C31"/>
          </a:solidFill>
          <a:ln w="9525">
            <a:solidFill>
              <a:srgbClr val="2A3A5F"/>
            </a:solidFill>
            <a:prstDash val="solid"/>
          </a:ln>
        </p:spPr>
      </p:sp>
      <p:sp>
        <p:nvSpPr>
          <p:cNvPr id="36" name="Text 33"/>
          <p:cNvSpPr txBox="1"/>
          <p:nvPr/>
        </p:nvSpPr>
        <p:spPr>
          <a:xfrm>
            <a:off x="5669280" y="1371600"/>
            <a:ext cx="2834640" cy="868680"/>
          </a:xfrm>
          <a:prstGeom prst="rect">
            <a:avLst/>
          </a:prstGeom>
          <a:noFill/>
          <a:ln/>
        </p:spPr>
        <p:txBody>
          <a:bodyPr wrap="square" lIns="0" tIns="0" rIns="0" bIns="0" rtlCol="0" anchor="t"/>
          <a:lstStyle/>
          <a:p>
            <a:pPr indent="0" marL="0">
              <a:buNone/>
            </a:pPr>
            <a:r>
              <a:rPr lang="en-US" sz="5400" b="1" dirty="0">
                <a:solidFill>
                  <a:srgbClr val="FBBF24"/>
                </a:solidFill>
                <a:latin typeface="Calibri" pitchFamily="34" charset="0"/>
                <a:ea typeface="Calibri" pitchFamily="34" charset="-122"/>
                <a:cs typeface="Calibri" pitchFamily="34" charset="-120"/>
              </a:rPr>
              <a:t>0</a:t>
            </a:r>
            <a:endParaRPr lang="en-US" sz="5400" dirty="0"/>
          </a:p>
        </p:txBody>
      </p:sp>
      <p:sp>
        <p:nvSpPr>
          <p:cNvPr id="37" name="Text 34"/>
          <p:cNvSpPr txBox="1"/>
          <p:nvPr/>
        </p:nvSpPr>
        <p:spPr>
          <a:xfrm>
            <a:off x="5669280" y="2286000"/>
            <a:ext cx="2834640" cy="274320"/>
          </a:xfrm>
          <a:prstGeom prst="rect">
            <a:avLst/>
          </a:prstGeom>
          <a:noFill/>
          <a:ln/>
        </p:spPr>
        <p:txBody>
          <a:bodyPr wrap="square" lIns="0" tIns="0" rIns="0" bIns="0" rtlCol="0" anchor="t"/>
          <a:lstStyle/>
          <a:p>
            <a:pPr indent="0" marL="0">
              <a:buNone/>
            </a:pPr>
            <a:r>
              <a:rPr lang="en-US" sz="1300" dirty="0">
                <a:solidFill>
                  <a:srgbClr val="F1F5F9"/>
                </a:solidFill>
                <a:latin typeface="Calibri" pitchFamily="34" charset="0"/>
                <a:ea typeface="Calibri" pitchFamily="34" charset="-122"/>
                <a:cs typeface="Calibri" pitchFamily="34" charset="-120"/>
              </a:rPr>
              <a:t>bid messages per task</a:t>
            </a:r>
            <a:endParaRPr lang="en-US" sz="1300" dirty="0"/>
          </a:p>
        </p:txBody>
      </p:sp>
      <p:sp>
        <p:nvSpPr>
          <p:cNvPr id="38" name="Shape 35"/>
          <p:cNvSpPr/>
          <p:nvPr/>
        </p:nvSpPr>
        <p:spPr>
          <a:xfrm>
            <a:off x="5486400" y="3017520"/>
            <a:ext cx="3200400" cy="1600200"/>
          </a:xfrm>
          <a:prstGeom prst="roundRect">
            <a:avLst>
              <a:gd name="adj" fmla="val 4571"/>
            </a:avLst>
          </a:prstGeom>
          <a:solidFill>
            <a:srgbClr val="131C31"/>
          </a:solidFill>
          <a:ln w="9525">
            <a:solidFill>
              <a:srgbClr val="2A3A5F"/>
            </a:solidFill>
            <a:prstDash val="solid"/>
          </a:ln>
        </p:spPr>
      </p:sp>
      <p:sp>
        <p:nvSpPr>
          <p:cNvPr id="39" name="Text 36"/>
          <p:cNvSpPr txBox="1"/>
          <p:nvPr/>
        </p:nvSpPr>
        <p:spPr>
          <a:xfrm>
            <a:off x="5650992" y="3108960"/>
            <a:ext cx="2926080" cy="201168"/>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TRANSMISSIONS PER NEW TASK (ESTIMATE)</a:t>
            </a:r>
            <a:endParaRPr lang="en-US" sz="900" dirty="0"/>
          </a:p>
        </p:txBody>
      </p:sp>
      <p:sp>
        <p:nvSpPr>
          <p:cNvPr id="40" name="Text 37"/>
          <p:cNvSpPr txBox="1"/>
          <p:nvPr/>
        </p:nvSpPr>
        <p:spPr>
          <a:xfrm>
            <a:off x="5650992" y="3383280"/>
            <a:ext cx="2926080" cy="256032"/>
          </a:xfrm>
          <a:prstGeom prst="rect">
            <a:avLst/>
          </a:prstGeom>
          <a:noFill/>
          <a:ln/>
        </p:spPr>
        <p:txBody>
          <a:bodyPr wrap="square" lIns="0" tIns="0" rIns="0" bIns="0" rtlCol="0" anchor="t"/>
          <a:lstStyle/>
          <a:p>
            <a:pPr indent="0" marL="0">
              <a:buNone/>
            </a:pPr>
            <a:r>
              <a:rPr lang="en-US" sz="1250" dirty="0">
                <a:solidFill>
                  <a:srgbClr val="CBD5E1"/>
                </a:solidFill>
                <a:latin typeface="Calibri" pitchFamily="34" charset="0"/>
                <a:ea typeface="Calibri" pitchFamily="34" charset="-122"/>
                <a:cs typeface="Calibri" pitchFamily="34" charset="-120"/>
              </a:rPr>
              <a:t>Plain auction  </a:t>
            </a:r>
            <a:pPr indent="0" marL="0">
              <a:buNone/>
            </a:pPr>
            <a:r>
              <a:rPr lang="en-US" sz="1250" b="1" dirty="0">
                <a:solidFill>
                  <a:srgbClr val="F1F5F9"/>
                </a:solidFill>
                <a:latin typeface="Calibri" pitchFamily="34" charset="0"/>
                <a:ea typeface="Calibri" pitchFamily="34" charset="-122"/>
                <a:cs typeface="Calibri" pitchFamily="34" charset="-120"/>
              </a:rPr>
              <a:t>N(2 + h̄)</a:t>
            </a:r>
            <a:endParaRPr lang="en-US" sz="1250" dirty="0"/>
          </a:p>
        </p:txBody>
      </p:sp>
      <p:sp>
        <p:nvSpPr>
          <p:cNvPr id="41" name="Text 38"/>
          <p:cNvSpPr txBox="1"/>
          <p:nvPr/>
        </p:nvSpPr>
        <p:spPr>
          <a:xfrm>
            <a:off x="5650992" y="3657600"/>
            <a:ext cx="2926080" cy="256032"/>
          </a:xfrm>
          <a:prstGeom prst="rect">
            <a:avLst/>
          </a:prstGeom>
          <a:noFill/>
          <a:ln/>
        </p:spPr>
        <p:txBody>
          <a:bodyPr wrap="square" lIns="0" tIns="0" rIns="0" bIns="0" rtlCol="0" anchor="t"/>
          <a:lstStyle/>
          <a:p>
            <a:pPr indent="0" marL="0">
              <a:buNone/>
            </a:pPr>
            <a:r>
              <a:rPr lang="en-US" sz="1250" dirty="0">
                <a:solidFill>
                  <a:srgbClr val="CBD5E1"/>
                </a:solidFill>
                <a:latin typeface="Calibri" pitchFamily="34" charset="0"/>
                <a:ea typeface="Calibri" pitchFamily="34" charset="-122"/>
                <a:cs typeface="Calibri" pitchFamily="34" charset="-120"/>
              </a:rPr>
              <a:t>SHADE  </a:t>
            </a:r>
            <a:pPr indent="0" marL="0">
              <a:buNone/>
            </a:pPr>
            <a:r>
              <a:rPr lang="en-US" sz="1250" b="1" dirty="0">
                <a:solidFill>
                  <a:srgbClr val="FBBF24"/>
                </a:solidFill>
                <a:latin typeface="Calibri" pitchFamily="34" charset="0"/>
                <a:ea typeface="Calibri" pitchFamily="34" charset="-122"/>
                <a:cs typeface="Calibri" pitchFamily="34" charset="-120"/>
              </a:rPr>
              <a:t>2N</a:t>
            </a:r>
            <a:endParaRPr lang="en-US" sz="1250" dirty="0"/>
          </a:p>
        </p:txBody>
      </p:sp>
      <p:sp>
        <p:nvSpPr>
          <p:cNvPr id="42" name="Text 39"/>
          <p:cNvSpPr txBox="1"/>
          <p:nvPr/>
        </p:nvSpPr>
        <p:spPr>
          <a:xfrm>
            <a:off x="5650992" y="3986784"/>
            <a:ext cx="2926080" cy="502920"/>
          </a:xfrm>
          <a:prstGeom prst="rect">
            <a:avLst/>
          </a:prstGeom>
          <a:noFill/>
          <a:ln/>
        </p:spPr>
        <p:txBody>
          <a:bodyPr wrap="square" lIns="0" tIns="0" rIns="0" bIns="0" rtlCol="0" anchor="t"/>
          <a:lstStyle/>
          <a:p>
            <a:pPr indent="0" marL="0">
              <a:buNone/>
            </a:pPr>
            <a:r>
              <a:rPr lang="en-US" sz="1100" dirty="0">
                <a:solidFill>
                  <a:srgbClr val="2DD4BF"/>
                </a:solidFill>
                <a:latin typeface="Calibri" pitchFamily="34" charset="0"/>
                <a:ea typeface="Calibri" pitchFamily="34" charset="-122"/>
                <a:cs typeface="Calibri" pitchFamily="34" charset="-120"/>
              </a:rPr>
              <a:t>33–60% fewer, depending on average hop count 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06  ·  THE CORE NOVELTY</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Mechanism 2: ghost bids</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457200" y="1325880"/>
            <a:ext cx="4206240" cy="3291840"/>
          </a:xfrm>
          <a:prstGeom prst="roundRect">
            <a:avLst>
              <a:gd name="adj" fmla="val 2222"/>
            </a:avLst>
          </a:prstGeom>
          <a:solidFill>
            <a:srgbClr val="131C31"/>
          </a:solidFill>
          <a:ln w="9525">
            <a:solidFill>
              <a:srgbClr val="2A3A5F"/>
            </a:solidFill>
            <a:prstDash val="solid"/>
          </a:ln>
        </p:spPr>
      </p:sp>
      <p:sp>
        <p:nvSpPr>
          <p:cNvPr id="8" name="Shape 5"/>
          <p:cNvSpPr/>
          <p:nvPr/>
        </p:nvSpPr>
        <p:spPr>
          <a:xfrm>
            <a:off x="640080" y="1188720"/>
            <a:ext cx="1554480" cy="1554480"/>
          </a:xfrm>
          <a:prstGeom prst="ellipse">
            <a:avLst/>
          </a:prstGeom>
          <a:solidFill>
            <a:srgbClr val="2DD4BF">
              <a:alpha val="12000"/>
            </a:srgbClr>
          </a:solidFill>
          <a:ln w="12700">
            <a:solidFill>
              <a:srgbClr val="2DD4BF"/>
            </a:solidFill>
            <a:prstDash val="dash"/>
          </a:ln>
        </p:spPr>
      </p:sp>
      <p:sp>
        <p:nvSpPr>
          <p:cNvPr id="9" name="Shape 6"/>
          <p:cNvSpPr/>
          <p:nvPr/>
        </p:nvSpPr>
        <p:spPr>
          <a:xfrm>
            <a:off x="1261872" y="1810512"/>
            <a:ext cx="310896" cy="310896"/>
          </a:xfrm>
          <a:prstGeom prst="ellipse">
            <a:avLst/>
          </a:prstGeom>
          <a:solidFill>
            <a:srgbClr val="1B2742"/>
          </a:solidFill>
          <a:ln w="19050">
            <a:solidFill>
              <a:srgbClr val="2DD4BF"/>
            </a:solidFill>
            <a:prstDash val="solid"/>
          </a:ln>
        </p:spPr>
      </p:sp>
      <p:sp>
        <p:nvSpPr>
          <p:cNvPr id="10" name="Text 7"/>
          <p:cNvSpPr txBox="1"/>
          <p:nvPr/>
        </p:nvSpPr>
        <p:spPr>
          <a:xfrm>
            <a:off x="1261872" y="1810512"/>
            <a:ext cx="310896" cy="310896"/>
          </a:xfrm>
          <a:prstGeom prst="rect">
            <a:avLst/>
          </a:prstGeom>
          <a:noFill/>
          <a:ln/>
        </p:spPr>
        <p:txBody>
          <a:bodyPr wrap="square" lIns="0" tIns="0" rIns="0" bIns="0" rtlCol="0" anchor="ctr"/>
          <a:lstStyle/>
          <a:p>
            <a:pPr algn="ctr" indent="0" marL="0">
              <a:buNone/>
            </a:pPr>
            <a:r>
              <a:rPr lang="en-US" sz="850" b="1" dirty="0">
                <a:solidFill>
                  <a:srgbClr val="2DD4BF"/>
                </a:solidFill>
                <a:latin typeface="Calibri" pitchFamily="34" charset="0"/>
                <a:ea typeface="Calibri" pitchFamily="34" charset="-122"/>
                <a:cs typeface="Calibri" pitchFamily="34" charset="-120"/>
              </a:rPr>
              <a:t>R6</a:t>
            </a:r>
            <a:endParaRPr lang="en-US" sz="850" dirty="0"/>
          </a:p>
        </p:txBody>
      </p:sp>
      <p:sp>
        <p:nvSpPr>
          <p:cNvPr id="11" name="Text 8"/>
          <p:cNvSpPr txBox="1"/>
          <p:nvPr/>
        </p:nvSpPr>
        <p:spPr>
          <a:xfrm>
            <a:off x="685800" y="2788920"/>
            <a:ext cx="1645920" cy="201168"/>
          </a:xfrm>
          <a:prstGeom prst="rect">
            <a:avLst/>
          </a:prstGeom>
          <a:noFill/>
          <a:ln/>
        </p:spPr>
        <p:txBody>
          <a:bodyPr wrap="square" lIns="0" tIns="0" rIns="0" bIns="0" rtlCol="0" anchor="t"/>
          <a:lstStyle/>
          <a:p>
            <a:pPr indent="0" marL="0">
              <a:buNone/>
            </a:pPr>
            <a:r>
              <a:rPr lang="en-US" sz="950" dirty="0">
                <a:solidFill>
                  <a:srgbClr val="2DD4BF"/>
                </a:solidFill>
                <a:latin typeface="Calibri" pitchFamily="34" charset="0"/>
                <a:ea typeface="Calibri" pitchFamily="34" charset="-122"/>
                <a:cs typeface="Calibri" pitchFamily="34" charset="-120"/>
              </a:rPr>
              <a:t>last heard 3.1 s ago</a:t>
            </a:r>
            <a:endParaRPr lang="en-US" sz="950" dirty="0"/>
          </a:p>
        </p:txBody>
      </p:sp>
      <p:sp>
        <p:nvSpPr>
          <p:cNvPr id="12" name="Text 9"/>
          <p:cNvSpPr txBox="1"/>
          <p:nvPr/>
        </p:nvSpPr>
        <p:spPr>
          <a:xfrm>
            <a:off x="2286000" y="1481328"/>
            <a:ext cx="2286000" cy="20116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reachable set = v_max × age</a:t>
            </a:r>
            <a:endParaRPr lang="en-US" sz="950" dirty="0"/>
          </a:p>
        </p:txBody>
      </p:sp>
      <p:sp>
        <p:nvSpPr>
          <p:cNvPr id="13" name="Shape 10"/>
          <p:cNvSpPr/>
          <p:nvPr/>
        </p:nvSpPr>
        <p:spPr>
          <a:xfrm>
            <a:off x="3429000" y="2331720"/>
            <a:ext cx="347472" cy="347472"/>
          </a:xfrm>
          <a:prstGeom prst="rect">
            <a:avLst/>
          </a:prstGeom>
          <a:solidFill>
            <a:srgbClr val="0B1120"/>
          </a:solidFill>
          <a:ln w="22225">
            <a:solidFill>
              <a:srgbClr val="FBBF24"/>
            </a:solidFill>
            <a:prstDash val="solid"/>
          </a:ln>
        </p:spPr>
      </p:sp>
      <p:sp>
        <p:nvSpPr>
          <p:cNvPr id="14" name="Text 11"/>
          <p:cNvSpPr txBox="1"/>
          <p:nvPr/>
        </p:nvSpPr>
        <p:spPr>
          <a:xfrm>
            <a:off x="3429000" y="2331720"/>
            <a:ext cx="347472" cy="347472"/>
          </a:xfrm>
          <a:prstGeom prst="rect">
            <a:avLst/>
          </a:prstGeom>
          <a:noFill/>
          <a:ln/>
        </p:spPr>
        <p:txBody>
          <a:bodyPr wrap="square" lIns="0" tIns="0" rIns="0" bIns="0" rtlCol="0" anchor="ctr"/>
          <a:lstStyle/>
          <a:p>
            <a:pPr algn="ctr" indent="0" marL="0">
              <a:buNone/>
            </a:pPr>
            <a:r>
              <a:rPr lang="en-US" sz="950" b="1" dirty="0">
                <a:solidFill>
                  <a:srgbClr val="FBBF24"/>
                </a:solidFill>
                <a:latin typeface="Calibri" pitchFamily="34" charset="0"/>
                <a:ea typeface="Calibri" pitchFamily="34" charset="-122"/>
                <a:cs typeface="Calibri" pitchFamily="34" charset="-120"/>
              </a:rPr>
              <a:t>T7</a:t>
            </a:r>
            <a:endParaRPr lang="en-US" sz="950" dirty="0"/>
          </a:p>
        </p:txBody>
      </p:sp>
      <p:sp>
        <p:nvSpPr>
          <p:cNvPr id="15" name="Shape 12"/>
          <p:cNvSpPr/>
          <p:nvPr/>
        </p:nvSpPr>
        <p:spPr>
          <a:xfrm>
            <a:off x="2148840" y="2212848"/>
            <a:ext cx="1252728" cy="256032"/>
          </a:xfrm>
          <a:prstGeom prst="line">
            <a:avLst/>
          </a:prstGeom>
          <a:noFill/>
          <a:ln w="15875">
            <a:solidFill>
              <a:srgbClr val="2DD4BF"/>
            </a:solidFill>
            <a:prstDash val="dash"/>
            <a:tailEnd type="triangle"/>
          </a:ln>
        </p:spPr>
      </p:sp>
      <p:sp>
        <p:nvSpPr>
          <p:cNvPr id="16" name="Text 13"/>
          <p:cNvSpPr txBox="1"/>
          <p:nvPr/>
        </p:nvSpPr>
        <p:spPr>
          <a:xfrm>
            <a:off x="2286000" y="2587752"/>
            <a:ext cx="1280160" cy="201168"/>
          </a:xfrm>
          <a:prstGeom prst="rect">
            <a:avLst/>
          </a:prstGeom>
          <a:noFill/>
          <a:ln/>
        </p:spPr>
        <p:txBody>
          <a:bodyPr wrap="square" lIns="0" tIns="0" rIns="0" bIns="0" rtlCol="0" anchor="t"/>
          <a:lstStyle/>
          <a:p>
            <a:pPr indent="0" marL="0">
              <a:buNone/>
            </a:pPr>
            <a:r>
              <a:rPr lang="en-US" sz="950" b="1" dirty="0">
                <a:solidFill>
                  <a:srgbClr val="2DD4BF"/>
                </a:solidFill>
                <a:latin typeface="Calibri" pitchFamily="34" charset="0"/>
                <a:ea typeface="Calibri" pitchFamily="34" charset="-122"/>
                <a:cs typeface="Calibri" pitchFamily="34" charset="-120"/>
              </a:rPr>
              <a:t>ghost bound 0.85</a:t>
            </a:r>
            <a:endParaRPr lang="en-US" sz="950" dirty="0"/>
          </a:p>
        </p:txBody>
      </p:sp>
      <p:sp>
        <p:nvSpPr>
          <p:cNvPr id="17" name="Shape 14"/>
          <p:cNvSpPr/>
          <p:nvPr/>
        </p:nvSpPr>
        <p:spPr>
          <a:xfrm>
            <a:off x="1106424" y="3712464"/>
            <a:ext cx="347472" cy="347472"/>
          </a:xfrm>
          <a:prstGeom prst="ellipse">
            <a:avLst/>
          </a:prstGeom>
          <a:solidFill>
            <a:srgbClr val="FBBF24"/>
          </a:solidFill>
          <a:ln w="12700">
            <a:solidFill>
              <a:srgbClr val="0B1120"/>
            </a:solidFill>
            <a:prstDash val="solid"/>
          </a:ln>
        </p:spPr>
      </p:sp>
      <p:sp>
        <p:nvSpPr>
          <p:cNvPr id="18" name="Text 15"/>
          <p:cNvSpPr txBox="1"/>
          <p:nvPr/>
        </p:nvSpPr>
        <p:spPr>
          <a:xfrm>
            <a:off x="1106424" y="3712464"/>
            <a:ext cx="347472" cy="347472"/>
          </a:xfrm>
          <a:prstGeom prst="rect">
            <a:avLst/>
          </a:prstGeom>
          <a:noFill/>
          <a:ln/>
        </p:spPr>
        <p:txBody>
          <a:bodyPr wrap="square" lIns="0" tIns="0" rIns="0" bIns="0" rtlCol="0" anchor="ctr"/>
          <a:lstStyle/>
          <a:p>
            <a:pPr algn="ctr" indent="0" marL="0">
              <a:buNone/>
            </a:pPr>
            <a:r>
              <a:rPr lang="en-US" sz="900" b="1" dirty="0">
                <a:solidFill>
                  <a:srgbClr val="0B1120"/>
                </a:solidFill>
                <a:latin typeface="Calibri" pitchFamily="34" charset="0"/>
                <a:ea typeface="Calibri" pitchFamily="34" charset="-122"/>
                <a:cs typeface="Calibri" pitchFamily="34" charset="-120"/>
              </a:rPr>
              <a:t>R4</a:t>
            </a:r>
            <a:endParaRPr lang="en-US" sz="900" dirty="0"/>
          </a:p>
        </p:txBody>
      </p:sp>
      <p:sp>
        <p:nvSpPr>
          <p:cNvPr id="19" name="Shape 16"/>
          <p:cNvSpPr/>
          <p:nvPr/>
        </p:nvSpPr>
        <p:spPr>
          <a:xfrm flipV="1">
            <a:off x="1463040" y="2697480"/>
            <a:ext cx="1965960" cy="1051560"/>
          </a:xfrm>
          <a:prstGeom prst="line">
            <a:avLst/>
          </a:prstGeom>
          <a:noFill/>
          <a:ln w="15875">
            <a:solidFill>
              <a:srgbClr val="FBBF24"/>
            </a:solidFill>
            <a:prstDash val="solid"/>
            <a:tailEnd type="triangle"/>
          </a:ln>
        </p:spPr>
      </p:sp>
      <p:sp>
        <p:nvSpPr>
          <p:cNvPr id="20" name="Text 17"/>
          <p:cNvSpPr txBox="1"/>
          <p:nvPr/>
        </p:nvSpPr>
        <p:spPr>
          <a:xfrm>
            <a:off x="2423160" y="3429000"/>
            <a:ext cx="1280160" cy="201168"/>
          </a:xfrm>
          <a:prstGeom prst="rect">
            <a:avLst/>
          </a:prstGeom>
          <a:noFill/>
          <a:ln/>
        </p:spPr>
        <p:txBody>
          <a:bodyPr wrap="square" lIns="0" tIns="0" rIns="0" bIns="0" rtlCol="0" anchor="t"/>
          <a:lstStyle/>
          <a:p>
            <a:pPr indent="0" marL="0">
              <a:buNone/>
            </a:pPr>
            <a:r>
              <a:rPr lang="en-US" sz="950" b="1" dirty="0">
                <a:solidFill>
                  <a:srgbClr val="FBBF24"/>
                </a:solidFill>
                <a:latin typeface="Calibri" pitchFamily="34" charset="0"/>
                <a:ea typeface="Calibri" pitchFamily="34" charset="-122"/>
                <a:cs typeface="Calibri" pitchFamily="34" charset="-120"/>
              </a:rPr>
              <a:t>R4 bid 0.55</a:t>
            </a:r>
            <a:endParaRPr lang="en-US" sz="950" dirty="0"/>
          </a:p>
        </p:txBody>
      </p:sp>
      <p:sp>
        <p:nvSpPr>
          <p:cNvPr id="21" name="Text 18"/>
          <p:cNvSpPr txBox="1"/>
          <p:nvPr/>
        </p:nvSpPr>
        <p:spPr>
          <a:xfrm>
            <a:off x="640080" y="4251960"/>
            <a:ext cx="3840480" cy="228600"/>
          </a:xfrm>
          <a:prstGeom prst="rect">
            <a:avLst/>
          </a:prstGeom>
          <a:noFill/>
          <a:ln/>
        </p:spPr>
        <p:txBody>
          <a:bodyPr wrap="square" lIns="0" tIns="0" rIns="0" bIns="0"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regret = 0.85 − 0.55 = 0.30</a:t>
            </a:r>
            <a:endParaRPr lang="en-US" sz="1100" dirty="0"/>
          </a:p>
        </p:txBody>
      </p:sp>
      <p:sp>
        <p:nvSpPr>
          <p:cNvPr id="22" name="Shape 19"/>
          <p:cNvSpPr/>
          <p:nvPr/>
        </p:nvSpPr>
        <p:spPr>
          <a:xfrm>
            <a:off x="4892040" y="1325880"/>
            <a:ext cx="3794760" cy="640080"/>
          </a:xfrm>
          <a:prstGeom prst="roundRect">
            <a:avLst>
              <a:gd name="adj" fmla="val 11429"/>
            </a:avLst>
          </a:prstGeom>
          <a:solidFill>
            <a:srgbClr val="131C31"/>
          </a:solidFill>
          <a:ln w="9525">
            <a:solidFill>
              <a:srgbClr val="2A3A5F"/>
            </a:solidFill>
            <a:prstDash val="solid"/>
          </a:ln>
        </p:spPr>
      </p:sp>
      <p:sp>
        <p:nvSpPr>
          <p:cNvPr id="23" name="Text 20"/>
          <p:cNvSpPr txBox="1"/>
          <p:nvPr/>
        </p:nvSpPr>
        <p:spPr>
          <a:xfrm>
            <a:off x="5029200" y="1389888"/>
            <a:ext cx="3566160" cy="182880"/>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GHOST UPPER BOUND</a:t>
            </a:r>
            <a:endParaRPr lang="en-US" sz="900" dirty="0"/>
          </a:p>
        </p:txBody>
      </p:sp>
      <p:sp>
        <p:nvSpPr>
          <p:cNvPr id="24" name="Text 21"/>
          <p:cNvSpPr txBox="1"/>
          <p:nvPr/>
        </p:nvSpPr>
        <p:spPr>
          <a:xfrm>
            <a:off x="5029200" y="1600200"/>
            <a:ext cx="3566160" cy="292608"/>
          </a:xfrm>
          <a:prstGeom prst="rect">
            <a:avLst/>
          </a:prstGeom>
          <a:noFill/>
          <a:ln/>
        </p:spPr>
        <p:txBody>
          <a:bodyPr wrap="square" lIns="0" tIns="0" rIns="0" bIns="0" rtlCol="0" anchor="ctr"/>
          <a:lstStyle/>
          <a:p>
            <a:pPr indent="0" marL="0">
              <a:buNone/>
            </a:pPr>
            <a:r>
              <a:rPr lang="en-US" sz="1200" b="1" dirty="0">
                <a:solidFill>
                  <a:srgbClr val="FBBF24"/>
                </a:solidFill>
                <a:latin typeface="Courier New" pitchFamily="34" charset="0"/>
                <a:ea typeface="Courier New" pitchFamily="34" charset="-122"/>
                <a:cs typeface="Courier New" pitchFamily="34" charset="-120"/>
              </a:rPr>
              <a:t>B_ghost = B(d − v_max·age, σ = 0)</a:t>
            </a:r>
            <a:endParaRPr lang="en-US" sz="1200" dirty="0"/>
          </a:p>
        </p:txBody>
      </p:sp>
      <p:sp>
        <p:nvSpPr>
          <p:cNvPr id="25" name="Shape 22"/>
          <p:cNvSpPr/>
          <p:nvPr/>
        </p:nvSpPr>
        <p:spPr>
          <a:xfrm>
            <a:off x="4892040" y="2057400"/>
            <a:ext cx="3794760" cy="640080"/>
          </a:xfrm>
          <a:prstGeom prst="roundRect">
            <a:avLst>
              <a:gd name="adj" fmla="val 11429"/>
            </a:avLst>
          </a:prstGeom>
          <a:solidFill>
            <a:srgbClr val="131C31"/>
          </a:solidFill>
          <a:ln w="9525">
            <a:solidFill>
              <a:srgbClr val="2A3A5F"/>
            </a:solidFill>
            <a:prstDash val="solid"/>
          </a:ln>
        </p:spPr>
      </p:sp>
      <p:sp>
        <p:nvSpPr>
          <p:cNvPr id="26" name="Text 23"/>
          <p:cNvSpPr txBox="1"/>
          <p:nvPr/>
        </p:nvSpPr>
        <p:spPr>
          <a:xfrm>
            <a:off x="5029200" y="2121408"/>
            <a:ext cx="3566160" cy="182880"/>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REGRET</a:t>
            </a:r>
            <a:endParaRPr lang="en-US" sz="900" dirty="0"/>
          </a:p>
        </p:txBody>
      </p:sp>
      <p:sp>
        <p:nvSpPr>
          <p:cNvPr id="27" name="Text 24"/>
          <p:cNvSpPr txBox="1"/>
          <p:nvPr/>
        </p:nvSpPr>
        <p:spPr>
          <a:xfrm>
            <a:off x="5029200" y="2331720"/>
            <a:ext cx="3566160" cy="292608"/>
          </a:xfrm>
          <a:prstGeom prst="rect">
            <a:avLst/>
          </a:prstGeom>
          <a:noFill/>
          <a:ln/>
        </p:spPr>
        <p:txBody>
          <a:bodyPr wrap="square" lIns="0" tIns="0" rIns="0" bIns="0" rtlCol="0" anchor="ctr"/>
          <a:lstStyle/>
          <a:p>
            <a:pPr indent="0" marL="0">
              <a:buNone/>
            </a:pPr>
            <a:r>
              <a:rPr lang="en-US" sz="1200" b="1" dirty="0">
                <a:solidFill>
                  <a:srgbClr val="FBBF24"/>
                </a:solidFill>
                <a:latin typeface="Courier New" pitchFamily="34" charset="0"/>
                <a:ea typeface="Courier New" pitchFamily="34" charset="-122"/>
                <a:cs typeface="Courier New" pitchFamily="34" charset="-120"/>
              </a:rPr>
              <a:t>ρ = max(0, max B_ghost − B_mine)</a:t>
            </a:r>
            <a:endParaRPr lang="en-US" sz="1200" dirty="0"/>
          </a:p>
        </p:txBody>
      </p:sp>
      <p:sp>
        <p:nvSpPr>
          <p:cNvPr id="28" name="Shape 25"/>
          <p:cNvSpPr/>
          <p:nvPr/>
        </p:nvSpPr>
        <p:spPr>
          <a:xfrm>
            <a:off x="4892040" y="2788920"/>
            <a:ext cx="3794760" cy="640080"/>
          </a:xfrm>
          <a:prstGeom prst="roundRect">
            <a:avLst>
              <a:gd name="adj" fmla="val 11429"/>
            </a:avLst>
          </a:prstGeom>
          <a:solidFill>
            <a:srgbClr val="131C31"/>
          </a:solidFill>
          <a:ln w="9525">
            <a:solidFill>
              <a:srgbClr val="2A3A5F"/>
            </a:solidFill>
            <a:prstDash val="solid"/>
          </a:ln>
        </p:spPr>
      </p:sp>
      <p:sp>
        <p:nvSpPr>
          <p:cNvPr id="29" name="Text 26"/>
          <p:cNvSpPr txBox="1"/>
          <p:nvPr/>
        </p:nvSpPr>
        <p:spPr>
          <a:xfrm>
            <a:off x="5029200" y="2852928"/>
            <a:ext cx="3566160" cy="182880"/>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TOLERANCE, GROWS WITH TASK AGE</a:t>
            </a:r>
            <a:endParaRPr lang="en-US" sz="900" dirty="0"/>
          </a:p>
        </p:txBody>
      </p:sp>
      <p:sp>
        <p:nvSpPr>
          <p:cNvPr id="30" name="Text 27"/>
          <p:cNvSpPr txBox="1"/>
          <p:nvPr/>
        </p:nvSpPr>
        <p:spPr>
          <a:xfrm>
            <a:off x="5029200" y="3063240"/>
            <a:ext cx="3566160" cy="292608"/>
          </a:xfrm>
          <a:prstGeom prst="rect">
            <a:avLst/>
          </a:prstGeom>
          <a:noFill/>
          <a:ln/>
        </p:spPr>
        <p:txBody>
          <a:bodyPr wrap="square" lIns="0" tIns="0" rIns="0" bIns="0" rtlCol="0" anchor="ctr"/>
          <a:lstStyle/>
          <a:p>
            <a:pPr indent="0" marL="0">
              <a:buNone/>
            </a:pPr>
            <a:r>
              <a:rPr lang="en-US" sz="1200" b="1" dirty="0">
                <a:solidFill>
                  <a:srgbClr val="FBBF24"/>
                </a:solidFill>
                <a:latin typeface="Courier New" pitchFamily="34" charset="0"/>
                <a:ea typeface="Courier New" pitchFamily="34" charset="-122"/>
                <a:cs typeface="Courier New" pitchFamily="34" charset="-120"/>
              </a:rPr>
              <a:t>ε = W · min(1, age / P)</a:t>
            </a:r>
            <a:endParaRPr lang="en-US" sz="1200" dirty="0"/>
          </a:p>
        </p:txBody>
      </p:sp>
      <p:sp>
        <p:nvSpPr>
          <p:cNvPr id="31" name="Shape 28"/>
          <p:cNvSpPr/>
          <p:nvPr/>
        </p:nvSpPr>
        <p:spPr>
          <a:xfrm>
            <a:off x="4892040" y="3520440"/>
            <a:ext cx="3794760" cy="640080"/>
          </a:xfrm>
          <a:prstGeom prst="roundRect">
            <a:avLst>
              <a:gd name="adj" fmla="val 11429"/>
            </a:avLst>
          </a:prstGeom>
          <a:solidFill>
            <a:srgbClr val="1B2742"/>
          </a:solidFill>
          <a:ln w="9525">
            <a:solidFill>
              <a:srgbClr val="FBBF24"/>
            </a:solidFill>
            <a:prstDash val="solid"/>
          </a:ln>
        </p:spPr>
      </p:sp>
      <p:sp>
        <p:nvSpPr>
          <p:cNvPr id="32" name="Text 29"/>
          <p:cNvSpPr txBox="1"/>
          <p:nvPr/>
        </p:nvSpPr>
        <p:spPr>
          <a:xfrm>
            <a:off x="5029200" y="3584448"/>
            <a:ext cx="3566160" cy="182880"/>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CLAIM RULE</a:t>
            </a:r>
            <a:endParaRPr lang="en-US" sz="900" dirty="0"/>
          </a:p>
        </p:txBody>
      </p:sp>
      <p:sp>
        <p:nvSpPr>
          <p:cNvPr id="33" name="Text 30"/>
          <p:cNvSpPr txBox="1"/>
          <p:nvPr/>
        </p:nvSpPr>
        <p:spPr>
          <a:xfrm>
            <a:off x="5029200" y="3794760"/>
            <a:ext cx="3566160" cy="292608"/>
          </a:xfrm>
          <a:prstGeom prst="rect">
            <a:avLst/>
          </a:prstGeom>
          <a:noFill/>
          <a:ln/>
        </p:spPr>
        <p:txBody>
          <a:bodyPr wrap="square" lIns="0" tIns="0" rIns="0" bIns="0" rtlCol="0" anchor="ctr"/>
          <a:lstStyle/>
          <a:p>
            <a:pPr indent="0" marL="0">
              <a:buNone/>
            </a:pPr>
            <a:r>
              <a:rPr lang="en-US" sz="1200" b="1" dirty="0">
                <a:solidFill>
                  <a:srgbClr val="FBBF24"/>
                </a:solidFill>
                <a:latin typeface="Courier New" pitchFamily="34" charset="0"/>
                <a:ea typeface="Courier New" pitchFamily="34" charset="-122"/>
                <a:cs typeface="Courier New" pitchFamily="34" charset="-120"/>
              </a:rPr>
              <a:t>claim when ρ ≤ ε</a:t>
            </a:r>
            <a:endParaRPr lang="en-US" sz="1200" dirty="0"/>
          </a:p>
        </p:txBody>
      </p:sp>
      <p:sp>
        <p:nvSpPr>
          <p:cNvPr id="34" name="Text 31"/>
          <p:cNvSpPr txBox="1"/>
          <p:nvPr/>
        </p:nvSpPr>
        <p:spPr>
          <a:xfrm>
            <a:off x="4892040" y="4251960"/>
            <a:ext cx="3794760" cy="411480"/>
          </a:xfrm>
          <a:prstGeom prst="rect">
            <a:avLst/>
          </a:prstGeom>
          <a:noFill/>
          <a:ln/>
        </p:spPr>
        <p:txBody>
          <a:bodyPr wrap="square" lIns="0" tIns="0" rIns="0" bIns="0" rtlCol="0" anchor="t"/>
          <a:lstStyle/>
          <a:p>
            <a:pPr indent="0" marL="0">
              <a:buNone/>
            </a:pPr>
            <a:r>
              <a:rPr lang="en-US" sz="1100" dirty="0">
                <a:solidFill>
                  <a:srgbClr val="2DD4BF"/>
                </a:solidFill>
                <a:latin typeface="Calibri" pitchFamily="34" charset="0"/>
                <a:ea typeface="Calibri" pitchFamily="34" charset="-122"/>
                <a:cs typeface="Calibri" pitchFamily="34" charset="-120"/>
              </a:rPr>
              <a:t>Unlike a timeout, this asks per task: could this silent robot beat me here, and by how much?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07  ·  REGRET-BOUNDED CLAIMING</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Waiting in proportion to what could be lost</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457200" y="1325880"/>
            <a:ext cx="5120640" cy="3291840"/>
          </a:xfrm>
          <a:prstGeom prst="roundRect">
            <a:avLst>
              <a:gd name="adj" fmla="val 2222"/>
            </a:avLst>
          </a:prstGeom>
          <a:solidFill>
            <a:srgbClr val="131C31"/>
          </a:solidFill>
          <a:ln w="9525">
            <a:solidFill>
              <a:srgbClr val="2A3A5F"/>
            </a:solidFill>
            <a:prstDash val="solid"/>
          </a:ln>
        </p:spPr>
      </p:sp>
      <p:graphicFrame>
        <p:nvGraphicFramePr>
          <p:cNvPr id="8" name="Chart 0" descr=""/>
          <p:cNvGraphicFramePr/>
          <p:nvPr/>
        </p:nvGraphicFramePr>
        <p:xfrm>
          <a:off x="548640" y="137160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5806440" y="1325880"/>
            <a:ext cx="2880360" cy="1005840"/>
          </a:xfrm>
          <a:prstGeom prst="roundRect">
            <a:avLst>
              <a:gd name="adj" fmla="val 7273"/>
            </a:avLst>
          </a:prstGeom>
          <a:solidFill>
            <a:srgbClr val="131C31"/>
          </a:solidFill>
          <a:ln w="9525">
            <a:solidFill>
              <a:srgbClr val="2A3A5F"/>
            </a:solidFill>
            <a:prstDash val="solid"/>
          </a:ln>
        </p:spPr>
      </p:sp>
      <p:sp>
        <p:nvSpPr>
          <p:cNvPr id="10" name="Text 6"/>
          <p:cNvSpPr txBox="1"/>
          <p:nvPr/>
        </p:nvSpPr>
        <p:spPr>
          <a:xfrm>
            <a:off x="5989320" y="1417320"/>
            <a:ext cx="2560320" cy="457200"/>
          </a:xfrm>
          <a:prstGeom prst="rect">
            <a:avLst/>
          </a:prstGeom>
          <a:noFill/>
          <a:ln/>
        </p:spPr>
        <p:txBody>
          <a:bodyPr wrap="square" lIns="0" tIns="0" rIns="0" bIns="0" rtlCol="0" anchor="t"/>
          <a:lstStyle/>
          <a:p>
            <a:pPr indent="0" marL="0">
              <a:buNone/>
            </a:pPr>
            <a:r>
              <a:rPr lang="en-US" sz="2400" b="1" dirty="0">
                <a:solidFill>
                  <a:srgbClr val="FBBF24"/>
                </a:solidFill>
                <a:latin typeface="Calibri" pitchFamily="34" charset="0"/>
                <a:ea typeface="Calibri" pitchFamily="34" charset="-122"/>
                <a:cs typeface="Calibri" pitchFamily="34" charset="-120"/>
              </a:rPr>
              <a:t>≈ 1.15 s</a:t>
            </a:r>
            <a:endParaRPr lang="en-US" sz="2400" dirty="0"/>
          </a:p>
        </p:txBody>
      </p:sp>
      <p:sp>
        <p:nvSpPr>
          <p:cNvPr id="11" name="Text 7"/>
          <p:cNvSpPr txBox="1"/>
          <p:nvPr/>
        </p:nvSpPr>
        <p:spPr>
          <a:xfrm>
            <a:off x="5989320" y="1874520"/>
            <a:ext cx="2560320" cy="41148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wait at regret 0.30 (wait = P × ρ / W)</a:t>
            </a:r>
            <a:endParaRPr lang="en-US" sz="1050" dirty="0"/>
          </a:p>
        </p:txBody>
      </p:sp>
      <p:sp>
        <p:nvSpPr>
          <p:cNvPr id="12" name="Shape 8"/>
          <p:cNvSpPr/>
          <p:nvPr/>
        </p:nvSpPr>
        <p:spPr>
          <a:xfrm>
            <a:off x="5806440" y="2468880"/>
            <a:ext cx="2880360" cy="1005840"/>
          </a:xfrm>
          <a:prstGeom prst="roundRect">
            <a:avLst>
              <a:gd name="adj" fmla="val 7273"/>
            </a:avLst>
          </a:prstGeom>
          <a:solidFill>
            <a:srgbClr val="131C31"/>
          </a:solidFill>
          <a:ln w="9525">
            <a:solidFill>
              <a:srgbClr val="2A3A5F"/>
            </a:solidFill>
            <a:prstDash val="solid"/>
          </a:ln>
        </p:spPr>
      </p:sp>
      <p:sp>
        <p:nvSpPr>
          <p:cNvPr id="13" name="Text 9"/>
          <p:cNvSpPr txBox="1"/>
          <p:nvPr/>
        </p:nvSpPr>
        <p:spPr>
          <a:xfrm>
            <a:off x="5989320" y="2560320"/>
            <a:ext cx="2560320" cy="457200"/>
          </a:xfrm>
          <a:prstGeom prst="rect">
            <a:avLst/>
          </a:prstGeom>
          <a:noFill/>
          <a:ln/>
        </p:spPr>
        <p:txBody>
          <a:bodyPr wrap="square" lIns="0" tIns="0" rIns="0" bIns="0" rtlCol="0" anchor="t"/>
          <a:lstStyle/>
          <a:p>
            <a:pPr indent="0" marL="0">
              <a:buNone/>
            </a:pPr>
            <a:r>
              <a:rPr lang="en-US" sz="2400" b="1" dirty="0">
                <a:solidFill>
                  <a:srgbClr val="FBBF24"/>
                </a:solidFill>
                <a:latin typeface="Calibri" pitchFamily="34" charset="0"/>
                <a:ea typeface="Calibri" pitchFamily="34" charset="-122"/>
                <a:cs typeface="Calibri" pitchFamily="34" charset="-120"/>
              </a:rPr>
              <a:t>≈ 0.19 s</a:t>
            </a:r>
            <a:endParaRPr lang="en-US" sz="2400" dirty="0"/>
          </a:p>
        </p:txBody>
      </p:sp>
      <p:sp>
        <p:nvSpPr>
          <p:cNvPr id="14" name="Text 10"/>
          <p:cNvSpPr txBox="1"/>
          <p:nvPr/>
        </p:nvSpPr>
        <p:spPr>
          <a:xfrm>
            <a:off x="5989320" y="3017520"/>
            <a:ext cx="2560320" cy="41148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wait at regret 0.05</a:t>
            </a:r>
            <a:endParaRPr lang="en-US" sz="1050" dirty="0"/>
          </a:p>
        </p:txBody>
      </p:sp>
      <p:sp>
        <p:nvSpPr>
          <p:cNvPr id="15" name="Shape 11"/>
          <p:cNvSpPr/>
          <p:nvPr/>
        </p:nvSpPr>
        <p:spPr>
          <a:xfrm>
            <a:off x="5806440" y="3611880"/>
            <a:ext cx="2880360" cy="1005840"/>
          </a:xfrm>
          <a:prstGeom prst="roundRect">
            <a:avLst>
              <a:gd name="adj" fmla="val 7273"/>
            </a:avLst>
          </a:prstGeom>
          <a:solidFill>
            <a:srgbClr val="131C31"/>
          </a:solidFill>
          <a:ln w="9525">
            <a:solidFill>
              <a:srgbClr val="2A3A5F"/>
            </a:solidFill>
            <a:prstDash val="solid"/>
          </a:ln>
        </p:spPr>
      </p:sp>
      <p:sp>
        <p:nvSpPr>
          <p:cNvPr id="16" name="Text 12"/>
          <p:cNvSpPr txBox="1"/>
          <p:nvPr/>
        </p:nvSpPr>
        <p:spPr>
          <a:xfrm>
            <a:off x="5989320" y="3703320"/>
            <a:ext cx="2560320" cy="457200"/>
          </a:xfrm>
          <a:prstGeom prst="rect">
            <a:avLst/>
          </a:prstGeom>
          <a:noFill/>
          <a:ln/>
        </p:spPr>
        <p:txBody>
          <a:bodyPr wrap="square" lIns="0" tIns="0" rIns="0" bIns="0" rtlCol="0" anchor="t"/>
          <a:lstStyle/>
          <a:p>
            <a:pPr indent="0" marL="0">
              <a:buNone/>
            </a:pPr>
            <a:r>
              <a:rPr lang="en-US" sz="2400" b="1" dirty="0">
                <a:solidFill>
                  <a:srgbClr val="FBBF24"/>
                </a:solidFill>
                <a:latin typeface="Calibri" pitchFamily="34" charset="0"/>
                <a:ea typeface="Calibri" pitchFamily="34" charset="-122"/>
                <a:cs typeface="Calibri" pitchFamily="34" charset="-120"/>
              </a:rPr>
              <a:t>≤ P</a:t>
            </a:r>
            <a:endParaRPr lang="en-US" sz="2400" dirty="0"/>
          </a:p>
        </p:txBody>
      </p:sp>
      <p:sp>
        <p:nvSpPr>
          <p:cNvPr id="17" name="Text 13"/>
          <p:cNvSpPr txBox="1"/>
          <p:nvPr/>
        </p:nvSpPr>
        <p:spPr>
          <a:xfrm>
            <a:off x="5989320" y="4160520"/>
            <a:ext cx="2560320" cy="41148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after the patience window any robot may claim: starvation is bounded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08  ·  RECOVERY WITHOUT RE-AUCTION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Mechanisms 3 and 4: ranks and progress leases</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457200" y="1325880"/>
            <a:ext cx="4023360" cy="3291840"/>
          </a:xfrm>
          <a:prstGeom prst="roundRect">
            <a:avLst>
              <a:gd name="adj" fmla="val 2222"/>
            </a:avLst>
          </a:prstGeom>
          <a:solidFill>
            <a:srgbClr val="131C31"/>
          </a:solidFill>
          <a:ln w="9525">
            <a:solidFill>
              <a:srgbClr val="2A3A5F"/>
            </a:solidFill>
            <a:prstDash val="solid"/>
          </a:ln>
        </p:spPr>
      </p:sp>
      <p:sp>
        <p:nvSpPr>
          <p:cNvPr id="8" name="Text 5"/>
          <p:cNvSpPr txBox="1"/>
          <p:nvPr/>
        </p:nvSpPr>
        <p:spPr>
          <a:xfrm>
            <a:off x="640080" y="1417320"/>
            <a:ext cx="36576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SUCCESSION RANKS</a:t>
            </a:r>
            <a:endParaRPr lang="en-US" sz="1000" dirty="0"/>
          </a:p>
        </p:txBody>
      </p:sp>
      <p:sp>
        <p:nvSpPr>
          <p:cNvPr id="9" name="Text 6"/>
          <p:cNvSpPr txBox="1"/>
          <p:nvPr/>
        </p:nvSpPr>
        <p:spPr>
          <a:xfrm>
            <a:off x="640080" y="1664208"/>
            <a:ext cx="3657600" cy="457200"/>
          </a:xfrm>
          <a:prstGeom prst="rect">
            <a:avLst/>
          </a:prstGeom>
          <a:noFill/>
          <a:ln/>
        </p:spPr>
        <p:txBody>
          <a:bodyPr wrap="square" lIns="0" tIns="0" rIns="0" bIns="0" rtlCol="0" anchor="t"/>
          <a:lstStyle/>
          <a:p>
            <a:pPr indent="0" marL="0">
              <a:buNone/>
            </a:pPr>
            <a:r>
              <a:rPr lang="en-US" sz="1150" dirty="0">
                <a:solidFill>
                  <a:srgbClr val="F1F5F9"/>
                </a:solidFill>
                <a:latin typeface="Calibri" pitchFamily="34" charset="0"/>
                <a:ea typeface="Calibri" pitchFamily="34" charset="-122"/>
                <a:cs typeface="Calibri" pitchFamily="34" charset="-120"/>
              </a:rPr>
              <a:t>Everyone computes the same ranked list. Rank i waits i × δ before claiming.</a:t>
            </a:r>
            <a:endParaRPr lang="en-US" sz="1150" dirty="0"/>
          </a:p>
        </p:txBody>
      </p:sp>
      <p:sp>
        <p:nvSpPr>
          <p:cNvPr id="10" name="Text 7"/>
          <p:cNvSpPr txBox="1"/>
          <p:nvPr/>
        </p:nvSpPr>
        <p:spPr>
          <a:xfrm>
            <a:off x="640080" y="2286000"/>
            <a:ext cx="914400" cy="292608"/>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R4  rank 0</a:t>
            </a:r>
            <a:endParaRPr lang="en-US" sz="1050" dirty="0"/>
          </a:p>
        </p:txBody>
      </p:sp>
      <p:sp>
        <p:nvSpPr>
          <p:cNvPr id="11" name="Shape 8"/>
          <p:cNvSpPr/>
          <p:nvPr/>
        </p:nvSpPr>
        <p:spPr>
          <a:xfrm>
            <a:off x="1600200" y="2340864"/>
            <a:ext cx="1609344" cy="182880"/>
          </a:xfrm>
          <a:prstGeom prst="rect">
            <a:avLst/>
          </a:prstGeom>
          <a:solidFill>
            <a:srgbClr val="FBBF24"/>
          </a:solidFill>
          <a:ln w="12700">
            <a:solidFill>
              <a:srgbClr val="FBBF24"/>
            </a:solidFill>
            <a:prstDash val="solid"/>
          </a:ln>
        </p:spPr>
      </p:sp>
      <p:sp>
        <p:nvSpPr>
          <p:cNvPr id="12" name="Text 9"/>
          <p:cNvSpPr txBox="1"/>
          <p:nvPr/>
        </p:nvSpPr>
        <p:spPr>
          <a:xfrm>
            <a:off x="3300984" y="2286000"/>
            <a:ext cx="1188720" cy="29260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claims at once</a:t>
            </a:r>
            <a:endParaRPr lang="en-US" sz="1000" dirty="0"/>
          </a:p>
        </p:txBody>
      </p:sp>
      <p:sp>
        <p:nvSpPr>
          <p:cNvPr id="13" name="Text 10"/>
          <p:cNvSpPr txBox="1"/>
          <p:nvPr/>
        </p:nvSpPr>
        <p:spPr>
          <a:xfrm>
            <a:off x="640080" y="2697480"/>
            <a:ext cx="914400" cy="292608"/>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R1  rank 1</a:t>
            </a:r>
            <a:endParaRPr lang="en-US" sz="1050" dirty="0"/>
          </a:p>
        </p:txBody>
      </p:sp>
      <p:sp>
        <p:nvSpPr>
          <p:cNvPr id="14" name="Shape 11"/>
          <p:cNvSpPr/>
          <p:nvPr/>
        </p:nvSpPr>
        <p:spPr>
          <a:xfrm>
            <a:off x="1600200" y="2752344"/>
            <a:ext cx="1404518" cy="182880"/>
          </a:xfrm>
          <a:prstGeom prst="rect">
            <a:avLst/>
          </a:prstGeom>
          <a:solidFill>
            <a:srgbClr val="3B4A6B"/>
          </a:solidFill>
          <a:ln w="12700">
            <a:solidFill>
              <a:srgbClr val="3B4A6B"/>
            </a:solidFill>
            <a:prstDash val="solid"/>
          </a:ln>
        </p:spPr>
      </p:sp>
      <p:sp>
        <p:nvSpPr>
          <p:cNvPr id="15" name="Text 12"/>
          <p:cNvSpPr txBox="1"/>
          <p:nvPr/>
        </p:nvSpPr>
        <p:spPr>
          <a:xfrm>
            <a:off x="3096158" y="2697480"/>
            <a:ext cx="1188720" cy="29260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+ 0.3 s</a:t>
            </a:r>
            <a:endParaRPr lang="en-US" sz="1000" dirty="0"/>
          </a:p>
        </p:txBody>
      </p:sp>
      <p:sp>
        <p:nvSpPr>
          <p:cNvPr id="16" name="Text 13"/>
          <p:cNvSpPr txBox="1"/>
          <p:nvPr/>
        </p:nvSpPr>
        <p:spPr>
          <a:xfrm>
            <a:off x="640080" y="3108960"/>
            <a:ext cx="914400" cy="292608"/>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R2  rank 2</a:t>
            </a:r>
            <a:endParaRPr lang="en-US" sz="1050" dirty="0"/>
          </a:p>
        </p:txBody>
      </p:sp>
      <p:sp>
        <p:nvSpPr>
          <p:cNvPr id="17" name="Shape 14"/>
          <p:cNvSpPr/>
          <p:nvPr/>
        </p:nvSpPr>
        <p:spPr>
          <a:xfrm>
            <a:off x="1600200" y="3163824"/>
            <a:ext cx="1199693" cy="182880"/>
          </a:xfrm>
          <a:prstGeom prst="rect">
            <a:avLst/>
          </a:prstGeom>
          <a:solidFill>
            <a:srgbClr val="3B4A6B"/>
          </a:solidFill>
          <a:ln w="12700">
            <a:solidFill>
              <a:srgbClr val="3B4A6B"/>
            </a:solidFill>
            <a:prstDash val="solid"/>
          </a:ln>
        </p:spPr>
      </p:sp>
      <p:sp>
        <p:nvSpPr>
          <p:cNvPr id="18" name="Text 15"/>
          <p:cNvSpPr txBox="1"/>
          <p:nvPr/>
        </p:nvSpPr>
        <p:spPr>
          <a:xfrm>
            <a:off x="2891333" y="3108960"/>
            <a:ext cx="1188720" cy="29260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+ 0.6 s</a:t>
            </a:r>
            <a:endParaRPr lang="en-US" sz="1000" dirty="0"/>
          </a:p>
        </p:txBody>
      </p:sp>
      <p:sp>
        <p:nvSpPr>
          <p:cNvPr id="19" name="Text 16"/>
          <p:cNvSpPr txBox="1"/>
          <p:nvPr/>
        </p:nvSpPr>
        <p:spPr>
          <a:xfrm>
            <a:off x="640080" y="3611880"/>
            <a:ext cx="3657600" cy="82296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When an owner fails, the next rank is already known. Recovery = lease lapse + i × δ, with no new auction round.</a:t>
            </a:r>
            <a:endParaRPr lang="en-US" sz="1100" dirty="0"/>
          </a:p>
        </p:txBody>
      </p:sp>
      <p:sp>
        <p:nvSpPr>
          <p:cNvPr id="20" name="Shape 17"/>
          <p:cNvSpPr/>
          <p:nvPr/>
        </p:nvSpPr>
        <p:spPr>
          <a:xfrm>
            <a:off x="4663440" y="1325880"/>
            <a:ext cx="4023360" cy="3291840"/>
          </a:xfrm>
          <a:prstGeom prst="roundRect">
            <a:avLst>
              <a:gd name="adj" fmla="val 2222"/>
            </a:avLst>
          </a:prstGeom>
          <a:solidFill>
            <a:srgbClr val="131C31"/>
          </a:solidFill>
          <a:ln w="9525">
            <a:solidFill>
              <a:srgbClr val="2A3A5F"/>
            </a:solidFill>
            <a:prstDash val="solid"/>
          </a:ln>
        </p:spPr>
      </p:sp>
      <p:sp>
        <p:nvSpPr>
          <p:cNvPr id="21" name="Text 18"/>
          <p:cNvSpPr txBox="1"/>
          <p:nvPr/>
        </p:nvSpPr>
        <p:spPr>
          <a:xfrm>
            <a:off x="4846320" y="1417320"/>
            <a:ext cx="36576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PROGRESS-RATCHET LEASE</a:t>
            </a:r>
            <a:endParaRPr lang="en-US" sz="1000" dirty="0"/>
          </a:p>
        </p:txBody>
      </p:sp>
      <p:sp>
        <p:nvSpPr>
          <p:cNvPr id="22" name="Text 19"/>
          <p:cNvSpPr txBox="1"/>
          <p:nvPr/>
        </p:nvSpPr>
        <p:spPr>
          <a:xfrm>
            <a:off x="4846320" y="1664208"/>
            <a:ext cx="3657600" cy="274320"/>
          </a:xfrm>
          <a:prstGeom prst="rect">
            <a:avLst/>
          </a:prstGeom>
          <a:noFill/>
          <a:ln/>
        </p:spPr>
        <p:txBody>
          <a:bodyPr wrap="square" lIns="0" tIns="0" rIns="0" bIns="0" rtlCol="0" anchor="t"/>
          <a:lstStyle/>
          <a:p>
            <a:pPr indent="0" marL="0">
              <a:buNone/>
            </a:pPr>
            <a:r>
              <a:rPr lang="en-US" sz="1150" dirty="0">
                <a:solidFill>
                  <a:srgbClr val="F1F5F9"/>
                </a:solidFill>
                <a:latin typeface="Calibri" pitchFamily="34" charset="0"/>
                <a:ea typeface="Calibri" pitchFamily="34" charset="-122"/>
                <a:cs typeface="Calibri" pitchFamily="34" charset="-120"/>
              </a:rPr>
              <a:t>A claim is renewed only by proof of progress.</a:t>
            </a:r>
            <a:endParaRPr lang="en-US" sz="1150" dirty="0"/>
          </a:p>
        </p:txBody>
      </p:sp>
      <p:sp>
        <p:nvSpPr>
          <p:cNvPr id="23" name="Shape 20"/>
          <p:cNvSpPr/>
          <p:nvPr/>
        </p:nvSpPr>
        <p:spPr>
          <a:xfrm>
            <a:off x="4846320" y="2103120"/>
            <a:ext cx="3657600" cy="530352"/>
          </a:xfrm>
          <a:prstGeom prst="roundRect">
            <a:avLst>
              <a:gd name="adj" fmla="val 13793"/>
            </a:avLst>
          </a:prstGeom>
          <a:solidFill>
            <a:srgbClr val="1B2742"/>
          </a:solidFill>
          <a:ln w="9525">
            <a:solidFill>
              <a:srgbClr val="2A3A5F"/>
            </a:solidFill>
            <a:prstDash val="solid"/>
          </a:ln>
        </p:spPr>
      </p:sp>
      <p:sp>
        <p:nvSpPr>
          <p:cNvPr id="24" name="Text 21"/>
          <p:cNvSpPr txBox="1"/>
          <p:nvPr/>
        </p:nvSpPr>
        <p:spPr>
          <a:xfrm>
            <a:off x="4983480" y="2103120"/>
            <a:ext cx="822960" cy="530352"/>
          </a:xfrm>
          <a:prstGeom prst="rect">
            <a:avLst/>
          </a:prstGeom>
          <a:noFill/>
          <a:ln/>
        </p:spPr>
        <p:txBody>
          <a:bodyPr wrap="square" lIns="0" tIns="0" rIns="0" bIns="0" rtlCol="0" anchor="ctr"/>
          <a:lstStyle/>
          <a:p>
            <a:pPr indent="0" marL="0">
              <a:buNone/>
            </a:pPr>
            <a:r>
              <a:rPr lang="en-US" sz="1200" b="1" dirty="0">
                <a:solidFill>
                  <a:srgbClr val="FBBF24"/>
                </a:solidFill>
                <a:latin typeface="Calibri" pitchFamily="34" charset="0"/>
                <a:ea typeface="Calibri" pitchFamily="34" charset="-122"/>
                <a:cs typeface="Calibri" pitchFamily="34" charset="-120"/>
              </a:rPr>
              <a:t>Ratchet</a:t>
            </a:r>
            <a:endParaRPr lang="en-US" sz="1200" dirty="0"/>
          </a:p>
        </p:txBody>
      </p:sp>
      <p:sp>
        <p:nvSpPr>
          <p:cNvPr id="25" name="Text 22"/>
          <p:cNvSpPr txBox="1"/>
          <p:nvPr/>
        </p:nvSpPr>
        <p:spPr>
          <a:xfrm>
            <a:off x="5806440" y="2103120"/>
            <a:ext cx="2651760" cy="530352"/>
          </a:xfrm>
          <a:prstGeom prst="rect">
            <a:avLst/>
          </a:prstGeom>
          <a:noFill/>
          <a:ln/>
        </p:spPr>
        <p:txBody>
          <a:bodyPr wrap="square" lIns="0" tIns="0" rIns="0" bIns="0" rtlCol="0" anchor="ctr"/>
          <a:lstStyle/>
          <a:p>
            <a:pPr indent="0" marL="0">
              <a:buNone/>
            </a:pPr>
            <a:r>
              <a:rPr lang="en-US" sz="1100" dirty="0">
                <a:solidFill>
                  <a:srgbClr val="F1F5F9"/>
                </a:solidFill>
                <a:latin typeface="Calibri" pitchFamily="34" charset="0"/>
                <a:ea typeface="Calibri" pitchFamily="34" charset="-122"/>
                <a:cs typeface="Calibri" pitchFamily="34" charset="-120"/>
              </a:rPr>
              <a:t>remaining cost falls ≥ 0.5 s per second</a:t>
            </a:r>
            <a:endParaRPr lang="en-US" sz="1100" dirty="0"/>
          </a:p>
        </p:txBody>
      </p:sp>
      <p:sp>
        <p:nvSpPr>
          <p:cNvPr id="26" name="Shape 23"/>
          <p:cNvSpPr/>
          <p:nvPr/>
        </p:nvSpPr>
        <p:spPr>
          <a:xfrm>
            <a:off x="4846320" y="2743200"/>
            <a:ext cx="3657600" cy="530352"/>
          </a:xfrm>
          <a:prstGeom prst="roundRect">
            <a:avLst>
              <a:gd name="adj" fmla="val 13793"/>
            </a:avLst>
          </a:prstGeom>
          <a:solidFill>
            <a:srgbClr val="1B2742"/>
          </a:solidFill>
          <a:ln w="9525">
            <a:solidFill>
              <a:srgbClr val="2A3A5F"/>
            </a:solidFill>
            <a:prstDash val="solid"/>
          </a:ln>
        </p:spPr>
      </p:sp>
      <p:sp>
        <p:nvSpPr>
          <p:cNvPr id="27" name="Text 24"/>
          <p:cNvSpPr txBox="1"/>
          <p:nvPr/>
        </p:nvSpPr>
        <p:spPr>
          <a:xfrm>
            <a:off x="4983480" y="2743200"/>
            <a:ext cx="822960" cy="530352"/>
          </a:xfrm>
          <a:prstGeom prst="rect">
            <a:avLst/>
          </a:prstGeom>
          <a:noFill/>
          <a:ln/>
        </p:spPr>
        <p:txBody>
          <a:bodyPr wrap="square" lIns="0" tIns="0" rIns="0" bIns="0" rtlCol="0" anchor="ctr"/>
          <a:lstStyle/>
          <a:p>
            <a:pPr indent="0" marL="0">
              <a:buNone/>
            </a:pPr>
            <a:r>
              <a:rPr lang="en-US" sz="1200" b="1" dirty="0">
                <a:solidFill>
                  <a:srgbClr val="FBBF24"/>
                </a:solidFill>
                <a:latin typeface="Calibri" pitchFamily="34" charset="0"/>
                <a:ea typeface="Calibri" pitchFamily="34" charset="-122"/>
                <a:cs typeface="Calibri" pitchFamily="34" charset="-120"/>
              </a:rPr>
              <a:t>Floor</a:t>
            </a:r>
            <a:endParaRPr lang="en-US" sz="1200" dirty="0"/>
          </a:p>
        </p:txBody>
      </p:sp>
      <p:sp>
        <p:nvSpPr>
          <p:cNvPr id="28" name="Text 25"/>
          <p:cNvSpPr txBox="1"/>
          <p:nvPr/>
        </p:nvSpPr>
        <p:spPr>
          <a:xfrm>
            <a:off x="5806440" y="2743200"/>
            <a:ext cx="2651760" cy="530352"/>
          </a:xfrm>
          <a:prstGeom prst="rect">
            <a:avLst/>
          </a:prstGeom>
          <a:noFill/>
          <a:ln/>
        </p:spPr>
        <p:txBody>
          <a:bodyPr wrap="square" lIns="0" tIns="0" rIns="0" bIns="0" rtlCol="0" anchor="ctr"/>
          <a:lstStyle/>
          <a:p>
            <a:pPr indent="0" marL="0">
              <a:buNone/>
            </a:pPr>
            <a:r>
              <a:rPr lang="en-US" sz="1100" dirty="0">
                <a:solidFill>
                  <a:srgbClr val="F1F5F9"/>
                </a:solidFill>
                <a:latin typeface="Calibri" pitchFamily="34" charset="0"/>
                <a:ea typeface="Calibri" pitchFamily="34" charset="-122"/>
                <a:cs typeface="Calibri" pitchFamily="34" charset="-120"/>
              </a:rPr>
              <a:t>remaining cost ≥ distance ÷ v_max + work left</a:t>
            </a:r>
            <a:endParaRPr lang="en-US" sz="1100" dirty="0"/>
          </a:p>
        </p:txBody>
      </p:sp>
      <p:sp>
        <p:nvSpPr>
          <p:cNvPr id="29" name="Text 26"/>
          <p:cNvSpPr txBox="1"/>
          <p:nvPr/>
        </p:nvSpPr>
        <p:spPr>
          <a:xfrm>
            <a:off x="4846320" y="3474720"/>
            <a:ext cx="3657600" cy="9144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 stalled robot reporting a constant cost fails the ratchet. One faking a falling cost breaks the floor. Peers catch it either way, without a vote.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09  ·  BYZANTINE CONTAINMENT</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Mechanism 5: containing faulty robots</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
        <p:nvSpPr>
          <p:cNvPr id="7" name="Text 4"/>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Faulty robots hold valid keys but cannot forge signatures or beat physics. Three strikes quarantine a robot (60 s, doubling). No honest majority assumed.</a:t>
            </a:r>
            <a:endParaRPr lang="en-US" sz="1100" dirty="0"/>
          </a:p>
        </p:txBody>
      </p:sp>
      <p:sp>
        <p:nvSpPr>
          <p:cNvPr id="8" name="Shape 5"/>
          <p:cNvSpPr/>
          <p:nvPr/>
        </p:nvSpPr>
        <p:spPr>
          <a:xfrm>
            <a:off x="457200" y="1691640"/>
            <a:ext cx="1920240" cy="1371600"/>
          </a:xfrm>
          <a:prstGeom prst="roundRect">
            <a:avLst>
              <a:gd name="adj" fmla="val 5333"/>
            </a:avLst>
          </a:prstGeom>
          <a:solidFill>
            <a:srgbClr val="131C31"/>
          </a:solidFill>
          <a:ln w="9525">
            <a:solidFill>
              <a:srgbClr val="2A3A5F"/>
            </a:solidFill>
            <a:prstDash val="solid"/>
          </a:ln>
        </p:spPr>
      </p:sp>
      <p:sp>
        <p:nvSpPr>
          <p:cNvPr id="9" name="Text 6"/>
          <p:cNvSpPr txBox="1"/>
          <p:nvPr/>
        </p:nvSpPr>
        <p:spPr>
          <a:xfrm>
            <a:off x="585216" y="1801368"/>
            <a:ext cx="169164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Position liar</a:t>
            </a:r>
            <a:endParaRPr lang="en-US" sz="1250" dirty="0"/>
          </a:p>
        </p:txBody>
      </p:sp>
      <p:sp>
        <p:nvSpPr>
          <p:cNvPr id="10" name="Text 7"/>
          <p:cNvSpPr txBox="1"/>
          <p:nvPr/>
        </p:nvSpPr>
        <p:spPr>
          <a:xfrm>
            <a:off x="585216" y="2093976"/>
            <a:ext cx="1691640" cy="5669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Kinematic check plus two witness sightings</a:t>
            </a:r>
            <a:endParaRPr lang="en-US" sz="1050" dirty="0"/>
          </a:p>
        </p:txBody>
      </p:sp>
      <p:sp>
        <p:nvSpPr>
          <p:cNvPr id="11" name="Text 8"/>
          <p:cNvSpPr txBox="1"/>
          <p:nvPr/>
        </p:nvSpPr>
        <p:spPr>
          <a:xfrm>
            <a:off x="585216" y="2697480"/>
            <a:ext cx="16916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Bid ignored, strike</a:t>
            </a:r>
            <a:endParaRPr lang="en-US" sz="1050" dirty="0"/>
          </a:p>
        </p:txBody>
      </p:sp>
      <p:sp>
        <p:nvSpPr>
          <p:cNvPr id="12" name="Shape 9"/>
          <p:cNvSpPr/>
          <p:nvPr/>
        </p:nvSpPr>
        <p:spPr>
          <a:xfrm>
            <a:off x="2560320" y="1691640"/>
            <a:ext cx="1920240" cy="1371600"/>
          </a:xfrm>
          <a:prstGeom prst="roundRect">
            <a:avLst>
              <a:gd name="adj" fmla="val 5333"/>
            </a:avLst>
          </a:prstGeom>
          <a:solidFill>
            <a:srgbClr val="131C31"/>
          </a:solidFill>
          <a:ln w="9525">
            <a:solidFill>
              <a:srgbClr val="2A3A5F"/>
            </a:solidFill>
            <a:prstDash val="solid"/>
          </a:ln>
        </p:spPr>
      </p:sp>
      <p:sp>
        <p:nvSpPr>
          <p:cNvPr id="13" name="Text 10"/>
          <p:cNvSpPr txBox="1"/>
          <p:nvPr/>
        </p:nvSpPr>
        <p:spPr>
          <a:xfrm>
            <a:off x="2688336" y="1801368"/>
            <a:ext cx="169164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Battery liar</a:t>
            </a:r>
            <a:endParaRPr lang="en-US" sz="1250" dirty="0"/>
          </a:p>
        </p:txBody>
      </p:sp>
      <p:sp>
        <p:nvSpPr>
          <p:cNvPr id="14" name="Text 11"/>
          <p:cNvSpPr txBox="1"/>
          <p:nvPr/>
        </p:nvSpPr>
        <p:spPr>
          <a:xfrm>
            <a:off x="2688336" y="2093976"/>
            <a:ext cx="1691640" cy="5669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Battery cannot rise or stay flat while working</a:t>
            </a:r>
            <a:endParaRPr lang="en-US" sz="1050" dirty="0"/>
          </a:p>
        </p:txBody>
      </p:sp>
      <p:sp>
        <p:nvSpPr>
          <p:cNvPr id="15" name="Text 12"/>
          <p:cNvSpPr txBox="1"/>
          <p:nvPr/>
        </p:nvSpPr>
        <p:spPr>
          <a:xfrm>
            <a:off x="2688336" y="2697480"/>
            <a:ext cx="16916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Strike, then quarantine</a:t>
            </a:r>
            <a:endParaRPr lang="en-US" sz="1050" dirty="0"/>
          </a:p>
        </p:txBody>
      </p:sp>
      <p:sp>
        <p:nvSpPr>
          <p:cNvPr id="16" name="Shape 13"/>
          <p:cNvSpPr/>
          <p:nvPr/>
        </p:nvSpPr>
        <p:spPr>
          <a:xfrm>
            <a:off x="4663440" y="1691640"/>
            <a:ext cx="1920240" cy="1371600"/>
          </a:xfrm>
          <a:prstGeom prst="roundRect">
            <a:avLst>
              <a:gd name="adj" fmla="val 5333"/>
            </a:avLst>
          </a:prstGeom>
          <a:solidFill>
            <a:srgbClr val="131C31"/>
          </a:solidFill>
          <a:ln w="9525">
            <a:solidFill>
              <a:srgbClr val="2A3A5F"/>
            </a:solidFill>
            <a:prstDash val="solid"/>
          </a:ln>
        </p:spPr>
      </p:sp>
      <p:sp>
        <p:nvSpPr>
          <p:cNvPr id="17" name="Text 14"/>
          <p:cNvSpPr txBox="1"/>
          <p:nvPr/>
        </p:nvSpPr>
        <p:spPr>
          <a:xfrm>
            <a:off x="4791456" y="1801368"/>
            <a:ext cx="169164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Stall after claim</a:t>
            </a:r>
            <a:endParaRPr lang="en-US" sz="1250" dirty="0"/>
          </a:p>
        </p:txBody>
      </p:sp>
      <p:sp>
        <p:nvSpPr>
          <p:cNvPr id="18" name="Text 15"/>
          <p:cNvSpPr txBox="1"/>
          <p:nvPr/>
        </p:nvSpPr>
        <p:spPr>
          <a:xfrm>
            <a:off x="4791456" y="2093976"/>
            <a:ext cx="1691640" cy="5669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Progress ratchet and physical floor</a:t>
            </a:r>
            <a:endParaRPr lang="en-US" sz="1050" dirty="0"/>
          </a:p>
        </p:txBody>
      </p:sp>
      <p:sp>
        <p:nvSpPr>
          <p:cNvPr id="19" name="Text 16"/>
          <p:cNvSpPr txBox="1"/>
          <p:nvPr/>
        </p:nvSpPr>
        <p:spPr>
          <a:xfrm>
            <a:off x="4791456" y="2697480"/>
            <a:ext cx="16916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One lease period lost</a:t>
            </a:r>
            <a:endParaRPr lang="en-US" sz="1050" dirty="0"/>
          </a:p>
        </p:txBody>
      </p:sp>
      <p:sp>
        <p:nvSpPr>
          <p:cNvPr id="20" name="Shape 17"/>
          <p:cNvSpPr/>
          <p:nvPr/>
        </p:nvSpPr>
        <p:spPr>
          <a:xfrm>
            <a:off x="6766560" y="1691640"/>
            <a:ext cx="1920240" cy="1371600"/>
          </a:xfrm>
          <a:prstGeom prst="roundRect">
            <a:avLst>
              <a:gd name="adj" fmla="val 5333"/>
            </a:avLst>
          </a:prstGeom>
          <a:solidFill>
            <a:srgbClr val="131C31"/>
          </a:solidFill>
          <a:ln w="9525">
            <a:solidFill>
              <a:srgbClr val="2A3A5F"/>
            </a:solidFill>
            <a:prstDash val="solid"/>
          </a:ln>
        </p:spPr>
      </p:sp>
      <p:sp>
        <p:nvSpPr>
          <p:cNvPr id="21" name="Text 18"/>
          <p:cNvSpPr txBox="1"/>
          <p:nvPr/>
        </p:nvSpPr>
        <p:spPr>
          <a:xfrm>
            <a:off x="6894576" y="1801368"/>
            <a:ext cx="169164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Equivocation</a:t>
            </a:r>
            <a:endParaRPr lang="en-US" sz="1250" dirty="0"/>
          </a:p>
        </p:txBody>
      </p:sp>
      <p:sp>
        <p:nvSpPr>
          <p:cNvPr id="22" name="Text 19"/>
          <p:cNvSpPr txBox="1"/>
          <p:nvPr/>
        </p:nvSpPr>
        <p:spPr>
          <a:xfrm>
            <a:off x="6894576" y="2093976"/>
            <a:ext cx="1691640" cy="5669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Two signed manifests with the same sequence number</a:t>
            </a:r>
            <a:endParaRPr lang="en-US" sz="1050" dirty="0"/>
          </a:p>
        </p:txBody>
      </p:sp>
      <p:sp>
        <p:nvSpPr>
          <p:cNvPr id="23" name="Text 20"/>
          <p:cNvSpPr txBox="1"/>
          <p:nvPr/>
        </p:nvSpPr>
        <p:spPr>
          <a:xfrm>
            <a:off x="6894576" y="2697480"/>
            <a:ext cx="16916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Key banned fleet-wide</a:t>
            </a:r>
            <a:endParaRPr lang="en-US" sz="1050" dirty="0"/>
          </a:p>
        </p:txBody>
      </p:sp>
      <p:sp>
        <p:nvSpPr>
          <p:cNvPr id="24" name="Shape 21"/>
          <p:cNvSpPr/>
          <p:nvPr/>
        </p:nvSpPr>
        <p:spPr>
          <a:xfrm>
            <a:off x="457200" y="3200400"/>
            <a:ext cx="1920240" cy="1371600"/>
          </a:xfrm>
          <a:prstGeom prst="roundRect">
            <a:avLst>
              <a:gd name="adj" fmla="val 5333"/>
            </a:avLst>
          </a:prstGeom>
          <a:solidFill>
            <a:srgbClr val="131C31"/>
          </a:solidFill>
          <a:ln w="9525">
            <a:solidFill>
              <a:srgbClr val="2A3A5F"/>
            </a:solidFill>
            <a:prstDash val="solid"/>
          </a:ln>
        </p:spPr>
      </p:sp>
      <p:sp>
        <p:nvSpPr>
          <p:cNvPr id="25" name="Text 22"/>
          <p:cNvSpPr txBox="1"/>
          <p:nvPr/>
        </p:nvSpPr>
        <p:spPr>
          <a:xfrm>
            <a:off x="585216" y="3310128"/>
            <a:ext cx="169164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False DONE</a:t>
            </a:r>
            <a:endParaRPr lang="en-US" sz="1250" dirty="0"/>
          </a:p>
        </p:txBody>
      </p:sp>
      <p:sp>
        <p:nvSpPr>
          <p:cNvPr id="26" name="Text 23"/>
          <p:cNvSpPr txBox="1"/>
          <p:nvPr/>
        </p:nvSpPr>
        <p:spPr>
          <a:xfrm>
            <a:off x="585216" y="3602736"/>
            <a:ext cx="1691640" cy="5669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Only the task site can sign a completion</a:t>
            </a:r>
            <a:endParaRPr lang="en-US" sz="1050" dirty="0"/>
          </a:p>
        </p:txBody>
      </p:sp>
      <p:sp>
        <p:nvSpPr>
          <p:cNvPr id="27" name="Text 24"/>
          <p:cNvSpPr txBox="1"/>
          <p:nvPr/>
        </p:nvSpPr>
        <p:spPr>
          <a:xfrm>
            <a:off x="585216" y="4206240"/>
            <a:ext cx="16916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Rejected, strike</a:t>
            </a:r>
            <a:endParaRPr lang="en-US" sz="1050" dirty="0"/>
          </a:p>
        </p:txBody>
      </p:sp>
      <p:sp>
        <p:nvSpPr>
          <p:cNvPr id="28" name="Shape 25"/>
          <p:cNvSpPr/>
          <p:nvPr/>
        </p:nvSpPr>
        <p:spPr>
          <a:xfrm>
            <a:off x="2560320" y="3200400"/>
            <a:ext cx="1920240" cy="1371600"/>
          </a:xfrm>
          <a:prstGeom prst="roundRect">
            <a:avLst>
              <a:gd name="adj" fmla="val 5333"/>
            </a:avLst>
          </a:prstGeom>
          <a:solidFill>
            <a:srgbClr val="131C31"/>
          </a:solidFill>
          <a:ln w="9525">
            <a:solidFill>
              <a:srgbClr val="2A3A5F"/>
            </a:solidFill>
            <a:prstDash val="solid"/>
          </a:ln>
        </p:spPr>
      </p:sp>
      <p:sp>
        <p:nvSpPr>
          <p:cNvPr id="29" name="Text 26"/>
          <p:cNvSpPr txBox="1"/>
          <p:nvPr/>
        </p:nvSpPr>
        <p:spPr>
          <a:xfrm>
            <a:off x="2688336" y="3310128"/>
            <a:ext cx="169164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Capability inflation</a:t>
            </a:r>
            <a:endParaRPr lang="en-US" sz="1250" dirty="0"/>
          </a:p>
        </p:txBody>
      </p:sp>
      <p:sp>
        <p:nvSpPr>
          <p:cNvPr id="30" name="Text 27"/>
          <p:cNvSpPr txBox="1"/>
          <p:nvPr/>
        </p:nvSpPr>
        <p:spPr>
          <a:xfrm>
            <a:off x="2688336" y="3602736"/>
            <a:ext cx="1691640" cy="5669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Capabilities must match the key registry</a:t>
            </a:r>
            <a:endParaRPr lang="en-US" sz="1050" dirty="0"/>
          </a:p>
        </p:txBody>
      </p:sp>
      <p:sp>
        <p:nvSpPr>
          <p:cNvPr id="31" name="Text 28"/>
          <p:cNvSpPr txBox="1"/>
          <p:nvPr/>
        </p:nvSpPr>
        <p:spPr>
          <a:xfrm>
            <a:off x="2688336" y="4206240"/>
            <a:ext cx="16916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Rejected, strike</a:t>
            </a:r>
            <a:endParaRPr lang="en-US" sz="1050" dirty="0"/>
          </a:p>
        </p:txBody>
      </p:sp>
      <p:sp>
        <p:nvSpPr>
          <p:cNvPr id="32" name="Shape 29"/>
          <p:cNvSpPr/>
          <p:nvPr/>
        </p:nvSpPr>
        <p:spPr>
          <a:xfrm>
            <a:off x="4663440" y="3200400"/>
            <a:ext cx="1920240" cy="1371600"/>
          </a:xfrm>
          <a:prstGeom prst="roundRect">
            <a:avLst>
              <a:gd name="adj" fmla="val 5333"/>
            </a:avLst>
          </a:prstGeom>
          <a:solidFill>
            <a:srgbClr val="131C31"/>
          </a:solidFill>
          <a:ln w="9525">
            <a:solidFill>
              <a:srgbClr val="2A3A5F"/>
            </a:solidFill>
            <a:prstDash val="solid"/>
          </a:ln>
        </p:spPr>
      </p:sp>
      <p:sp>
        <p:nvSpPr>
          <p:cNvPr id="33" name="Text 30"/>
          <p:cNvSpPr txBox="1"/>
          <p:nvPr/>
        </p:nvSpPr>
        <p:spPr>
          <a:xfrm>
            <a:off x="4791456" y="3310128"/>
            <a:ext cx="169164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Task flood</a:t>
            </a:r>
            <a:endParaRPr lang="en-US" sz="1250" dirty="0"/>
          </a:p>
        </p:txBody>
      </p:sp>
      <p:sp>
        <p:nvSpPr>
          <p:cNvPr id="34" name="Text 31"/>
          <p:cNvSpPr txBox="1"/>
          <p:nvPr/>
        </p:nvSpPr>
        <p:spPr>
          <a:xfrm>
            <a:off x="4791456" y="3602736"/>
            <a:ext cx="1691640" cy="5669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Only authorised issuers may create tasks</a:t>
            </a:r>
            <a:endParaRPr lang="en-US" sz="1050" dirty="0"/>
          </a:p>
        </p:txBody>
      </p:sp>
      <p:sp>
        <p:nvSpPr>
          <p:cNvPr id="35" name="Text 32"/>
          <p:cNvSpPr txBox="1"/>
          <p:nvPr/>
        </p:nvSpPr>
        <p:spPr>
          <a:xfrm>
            <a:off x="4791456" y="4206240"/>
            <a:ext cx="16916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Rejected, strike</a:t>
            </a:r>
            <a:endParaRPr lang="en-US" sz="1050" dirty="0"/>
          </a:p>
        </p:txBody>
      </p:sp>
      <p:sp>
        <p:nvSpPr>
          <p:cNvPr id="36" name="Shape 33"/>
          <p:cNvSpPr/>
          <p:nvPr/>
        </p:nvSpPr>
        <p:spPr>
          <a:xfrm>
            <a:off x="6766560" y="3200400"/>
            <a:ext cx="1920240" cy="1371600"/>
          </a:xfrm>
          <a:prstGeom prst="roundRect">
            <a:avLst>
              <a:gd name="adj" fmla="val 5333"/>
            </a:avLst>
          </a:prstGeom>
          <a:solidFill>
            <a:srgbClr val="131C31"/>
          </a:solidFill>
          <a:ln w="9525">
            <a:solidFill>
              <a:srgbClr val="F87171"/>
            </a:solidFill>
            <a:prstDash val="solid"/>
          </a:ln>
        </p:spPr>
      </p:sp>
      <p:sp>
        <p:nvSpPr>
          <p:cNvPr id="37" name="Text 34"/>
          <p:cNvSpPr txBox="1"/>
          <p:nvPr/>
        </p:nvSpPr>
        <p:spPr>
          <a:xfrm>
            <a:off x="6894576" y="3310128"/>
            <a:ext cx="1691640" cy="237744"/>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Small unobserved lie</a:t>
            </a:r>
            <a:endParaRPr lang="en-US" sz="1250" dirty="0"/>
          </a:p>
        </p:txBody>
      </p:sp>
      <p:sp>
        <p:nvSpPr>
          <p:cNvPr id="38" name="Text 35"/>
          <p:cNvSpPr txBox="1"/>
          <p:nvPr/>
        </p:nvSpPr>
        <p:spPr>
          <a:xfrm>
            <a:off x="6894576" y="3602736"/>
            <a:ext cx="1691640" cy="5669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Stays inside the physical envelope</a:t>
            </a:r>
            <a:endParaRPr lang="en-US" sz="1050" dirty="0"/>
          </a:p>
        </p:txBody>
      </p:sp>
      <p:sp>
        <p:nvSpPr>
          <p:cNvPr id="39" name="Text 36"/>
          <p:cNvSpPr txBox="1"/>
          <p:nvPr/>
        </p:nvSpPr>
        <p:spPr>
          <a:xfrm>
            <a:off x="6894576" y="4206240"/>
            <a:ext cx="1691640" cy="256032"/>
          </a:xfrm>
          <a:prstGeom prst="rect">
            <a:avLst/>
          </a:prstGeom>
          <a:noFill/>
          <a:ln/>
        </p:spPr>
        <p:txBody>
          <a:bodyPr wrap="square" lIns="0" tIns="0" rIns="0" bIns="0" rtlCol="0" anchor="t"/>
          <a:lstStyle/>
          <a:p>
            <a:pPr indent="0" marL="0">
              <a:buNone/>
            </a:pPr>
            <a:r>
              <a:rPr lang="en-US" sz="1050" b="1" dirty="0">
                <a:solidFill>
                  <a:srgbClr val="F87171"/>
                </a:solidFill>
                <a:latin typeface="Calibri" pitchFamily="34" charset="0"/>
                <a:ea typeface="Calibri" pitchFamily="34" charset="-122"/>
                <a:cs typeface="Calibri" pitchFamily="34" charset="-120"/>
              </a:rPr>
              <a:t>Bounded, not removed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10  ·  LEDGER AND FINISH-LINE RULE</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Mechanism 6: merging after a partition</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457200" y="1325880"/>
            <a:ext cx="4023360" cy="1554480"/>
          </a:xfrm>
          <a:prstGeom prst="roundRect">
            <a:avLst>
              <a:gd name="adj" fmla="val 4706"/>
            </a:avLst>
          </a:prstGeom>
          <a:solidFill>
            <a:srgbClr val="131C31"/>
          </a:solidFill>
          <a:ln w="9525">
            <a:solidFill>
              <a:srgbClr val="2A3A5F"/>
            </a:solidFill>
            <a:prstDash val="solid"/>
          </a:ln>
        </p:spPr>
      </p:sp>
      <p:sp>
        <p:nvSpPr>
          <p:cNvPr id="8" name="Text 5"/>
          <p:cNvSpPr txBox="1"/>
          <p:nvPr/>
        </p:nvSpPr>
        <p:spPr>
          <a:xfrm>
            <a:off x="640080" y="1417320"/>
            <a:ext cx="36576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LEDGER: FOUR GROW-ONLY SETS</a:t>
            </a:r>
            <a:endParaRPr lang="en-US" sz="1000" dirty="0"/>
          </a:p>
        </p:txBody>
      </p:sp>
      <p:sp>
        <p:nvSpPr>
          <p:cNvPr id="9" name="Shape 6"/>
          <p:cNvSpPr/>
          <p:nvPr/>
        </p:nvSpPr>
        <p:spPr>
          <a:xfrm>
            <a:off x="640080" y="1737360"/>
            <a:ext cx="649224" cy="274320"/>
          </a:xfrm>
          <a:prstGeom prst="roundRect">
            <a:avLst>
              <a:gd name="adj" fmla="val 50000"/>
            </a:avLst>
          </a:prstGeom>
          <a:solidFill>
            <a:srgbClr val="1B2742"/>
          </a:solidFill>
          <a:ln w="9525">
            <a:solidFill>
              <a:srgbClr val="3B4A6B"/>
            </a:solidFill>
            <a:prstDash val="solid"/>
          </a:ln>
        </p:spPr>
      </p:sp>
      <p:sp>
        <p:nvSpPr>
          <p:cNvPr id="10" name="Text 7"/>
          <p:cNvSpPr txBox="1"/>
          <p:nvPr/>
        </p:nvSpPr>
        <p:spPr>
          <a:xfrm>
            <a:off x="640080" y="1737360"/>
            <a:ext cx="649224" cy="274320"/>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TASKS</a:t>
            </a:r>
            <a:endParaRPr lang="en-US" sz="1050" dirty="0"/>
          </a:p>
        </p:txBody>
      </p:sp>
      <p:sp>
        <p:nvSpPr>
          <p:cNvPr id="11" name="Shape 8"/>
          <p:cNvSpPr/>
          <p:nvPr/>
        </p:nvSpPr>
        <p:spPr>
          <a:xfrm>
            <a:off x="1380744" y="1737360"/>
            <a:ext cx="720547" cy="274320"/>
          </a:xfrm>
          <a:prstGeom prst="roundRect">
            <a:avLst>
              <a:gd name="adj" fmla="val 50000"/>
            </a:avLst>
          </a:prstGeom>
          <a:solidFill>
            <a:srgbClr val="1B2742"/>
          </a:solidFill>
          <a:ln w="9525">
            <a:solidFill>
              <a:srgbClr val="3B4A6B"/>
            </a:solidFill>
            <a:prstDash val="solid"/>
          </a:ln>
        </p:spPr>
      </p:sp>
      <p:sp>
        <p:nvSpPr>
          <p:cNvPr id="12" name="Text 9"/>
          <p:cNvSpPr txBox="1"/>
          <p:nvPr/>
        </p:nvSpPr>
        <p:spPr>
          <a:xfrm>
            <a:off x="1380744" y="1737360"/>
            <a:ext cx="720547" cy="274320"/>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CLAIMS</a:t>
            </a:r>
            <a:endParaRPr lang="en-US" sz="1050" dirty="0"/>
          </a:p>
        </p:txBody>
      </p:sp>
      <p:sp>
        <p:nvSpPr>
          <p:cNvPr id="13" name="Shape 10"/>
          <p:cNvSpPr/>
          <p:nvPr/>
        </p:nvSpPr>
        <p:spPr>
          <a:xfrm>
            <a:off x="2192731" y="1737360"/>
            <a:ext cx="720547" cy="274320"/>
          </a:xfrm>
          <a:prstGeom prst="roundRect">
            <a:avLst>
              <a:gd name="adj" fmla="val 50000"/>
            </a:avLst>
          </a:prstGeom>
          <a:solidFill>
            <a:srgbClr val="1B2742"/>
          </a:solidFill>
          <a:ln w="9525">
            <a:solidFill>
              <a:srgbClr val="3B4A6B"/>
            </a:solidFill>
            <a:prstDash val="solid"/>
          </a:ln>
        </p:spPr>
      </p:sp>
      <p:sp>
        <p:nvSpPr>
          <p:cNvPr id="14" name="Text 11"/>
          <p:cNvSpPr txBox="1"/>
          <p:nvPr/>
        </p:nvSpPr>
        <p:spPr>
          <a:xfrm>
            <a:off x="2192731" y="1737360"/>
            <a:ext cx="720547" cy="274320"/>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YIELDS</a:t>
            </a:r>
            <a:endParaRPr lang="en-US" sz="1050" dirty="0"/>
          </a:p>
        </p:txBody>
      </p:sp>
      <p:sp>
        <p:nvSpPr>
          <p:cNvPr id="15" name="Shape 12"/>
          <p:cNvSpPr/>
          <p:nvPr/>
        </p:nvSpPr>
        <p:spPr>
          <a:xfrm>
            <a:off x="3004718" y="1737360"/>
            <a:ext cx="649224" cy="274320"/>
          </a:xfrm>
          <a:prstGeom prst="roundRect">
            <a:avLst>
              <a:gd name="adj" fmla="val 50000"/>
            </a:avLst>
          </a:prstGeom>
          <a:solidFill>
            <a:srgbClr val="1B2742"/>
          </a:solidFill>
          <a:ln w="9525">
            <a:solidFill>
              <a:srgbClr val="3B4A6B"/>
            </a:solidFill>
            <a:prstDash val="solid"/>
          </a:ln>
        </p:spPr>
      </p:sp>
      <p:sp>
        <p:nvSpPr>
          <p:cNvPr id="16" name="Text 13"/>
          <p:cNvSpPr txBox="1"/>
          <p:nvPr/>
        </p:nvSpPr>
        <p:spPr>
          <a:xfrm>
            <a:off x="3004718" y="1737360"/>
            <a:ext cx="649224" cy="274320"/>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DONES</a:t>
            </a:r>
            <a:endParaRPr lang="en-US" sz="1050" dirty="0"/>
          </a:p>
        </p:txBody>
      </p:sp>
      <p:sp>
        <p:nvSpPr>
          <p:cNvPr id="17" name="Text 14"/>
          <p:cNvSpPr txBox="1"/>
          <p:nvPr/>
        </p:nvSpPr>
        <p:spPr>
          <a:xfrm>
            <a:off x="640080" y="2148840"/>
            <a:ext cx="3657600" cy="6400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Merge = set union, so replicas converge after any partition, in any order, with duplicates.</a:t>
            </a:r>
            <a:endParaRPr lang="en-US" sz="1100" dirty="0"/>
          </a:p>
        </p:txBody>
      </p:sp>
      <p:sp>
        <p:nvSpPr>
          <p:cNvPr id="18" name="Shape 15"/>
          <p:cNvSpPr/>
          <p:nvPr/>
        </p:nvSpPr>
        <p:spPr>
          <a:xfrm>
            <a:off x="4663440" y="1325880"/>
            <a:ext cx="4023360" cy="1554480"/>
          </a:xfrm>
          <a:prstGeom prst="roundRect">
            <a:avLst>
              <a:gd name="adj" fmla="val 4706"/>
            </a:avLst>
          </a:prstGeom>
          <a:solidFill>
            <a:srgbClr val="131C31"/>
          </a:solidFill>
          <a:ln w="9525">
            <a:solidFill>
              <a:srgbClr val="2A3A5F"/>
            </a:solidFill>
            <a:prstDash val="solid"/>
          </a:ln>
        </p:spPr>
      </p:sp>
      <p:sp>
        <p:nvSpPr>
          <p:cNvPr id="19" name="Text 16"/>
          <p:cNvSpPr txBox="1"/>
          <p:nvPr/>
        </p:nvSpPr>
        <p:spPr>
          <a:xfrm>
            <a:off x="4846320" y="1417320"/>
            <a:ext cx="36576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FINISH-LINE YIELD RULE</a:t>
            </a:r>
            <a:endParaRPr lang="en-US" sz="1000" dirty="0"/>
          </a:p>
        </p:txBody>
      </p:sp>
      <p:sp>
        <p:nvSpPr>
          <p:cNvPr id="20" name="Text 17"/>
          <p:cNvSpPr txBox="1"/>
          <p:nvPr/>
        </p:nvSpPr>
        <p:spPr>
          <a:xfrm>
            <a:off x="4846320" y="1691640"/>
            <a:ext cx="3749040" cy="274320"/>
          </a:xfrm>
          <a:prstGeom prst="rect">
            <a:avLst/>
          </a:prstGeom>
          <a:noFill/>
          <a:ln/>
        </p:spPr>
        <p:txBody>
          <a:bodyPr wrap="square" lIns="0" tIns="0" rIns="0" bIns="0" rtlCol="0" anchor="t"/>
          <a:lstStyle/>
          <a:p>
            <a:pPr indent="0" marL="0">
              <a:buNone/>
            </a:pPr>
            <a:r>
              <a:rPr lang="en-US" sz="1150" b="1" dirty="0">
                <a:solidFill>
                  <a:srgbClr val="FBBF24"/>
                </a:solidFill>
                <a:latin typeface="Courier New" pitchFamily="34" charset="0"/>
                <a:ea typeface="Courier New" pitchFamily="34" charset="-122"/>
                <a:cs typeface="Courier New" pitchFamily="34" charset="-120"/>
              </a:rPr>
              <a:t>A yields if  c_B &lt; c_A − m</a:t>
            </a:r>
            <a:endParaRPr lang="en-US" sz="1150" dirty="0"/>
          </a:p>
        </p:txBody>
      </p:sp>
      <p:sp>
        <p:nvSpPr>
          <p:cNvPr id="21" name="Text 18"/>
          <p:cNvSpPr txBox="1"/>
          <p:nvPr/>
        </p:nvSpPr>
        <p:spPr>
          <a:xfrm>
            <a:off x="4846320" y="1965960"/>
            <a:ext cx="3749040" cy="274320"/>
          </a:xfrm>
          <a:prstGeom prst="rect">
            <a:avLst/>
          </a:prstGeom>
          <a:noFill/>
          <a:ln/>
        </p:spPr>
        <p:txBody>
          <a:bodyPr wrap="square" lIns="0" tIns="0" rIns="0" bIns="0" rtlCol="0" anchor="t"/>
          <a:lstStyle/>
          <a:p>
            <a:pPr indent="0" marL="0">
              <a:buNone/>
            </a:pPr>
            <a:r>
              <a:rPr lang="en-US" sz="1150" b="1" dirty="0">
                <a:solidFill>
                  <a:srgbClr val="FBBF24"/>
                </a:solidFill>
                <a:latin typeface="Courier New" pitchFamily="34" charset="0"/>
                <a:ea typeface="Courier New" pitchFamily="34" charset="-122"/>
                <a:cs typeface="Courier New" pitchFamily="34" charset="-120"/>
              </a:rPr>
              <a:t>or |c_B − c_A| ≤ m and id_B &lt; id_A</a:t>
            </a:r>
            <a:endParaRPr lang="en-US" sz="1150" dirty="0"/>
          </a:p>
        </p:txBody>
      </p:sp>
      <p:sp>
        <p:nvSpPr>
          <p:cNvPr id="22" name="Text 19"/>
          <p:cNvSpPr txBox="1"/>
          <p:nvPr/>
        </p:nvSpPr>
        <p:spPr>
          <a:xfrm>
            <a:off x="4846320" y="2331720"/>
            <a:ext cx="3657600" cy="45720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 = remaining cost, m = hysteresis margin. Closer to done keeps the task.</a:t>
            </a:r>
            <a:endParaRPr lang="en-US" sz="1100" dirty="0"/>
          </a:p>
        </p:txBody>
      </p:sp>
      <p:sp>
        <p:nvSpPr>
          <p:cNvPr id="23" name="Shape 20"/>
          <p:cNvSpPr/>
          <p:nvPr/>
        </p:nvSpPr>
        <p:spPr>
          <a:xfrm>
            <a:off x="457200" y="3017520"/>
            <a:ext cx="8229600" cy="1600200"/>
          </a:xfrm>
          <a:prstGeom prst="roundRect">
            <a:avLst>
              <a:gd name="adj" fmla="val 4571"/>
            </a:avLst>
          </a:prstGeom>
          <a:solidFill>
            <a:srgbClr val="1B2742"/>
          </a:solidFill>
          <a:ln w="15875">
            <a:solidFill>
              <a:srgbClr val="FBBF24"/>
            </a:solidFill>
            <a:prstDash val="solid"/>
          </a:ln>
        </p:spPr>
      </p:sp>
      <p:sp>
        <p:nvSpPr>
          <p:cNvPr id="24" name="Text 21"/>
          <p:cNvSpPr txBox="1"/>
          <p:nvPr/>
        </p:nvSpPr>
        <p:spPr>
          <a:xfrm>
            <a:off x="685800" y="3127248"/>
            <a:ext cx="77724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LEMMA 1  ·  AT LEAST ONE OWNER CONTINUES</a:t>
            </a:r>
            <a:endParaRPr lang="en-US" sz="1000" dirty="0"/>
          </a:p>
        </p:txBody>
      </p:sp>
      <p:sp>
        <p:nvSpPr>
          <p:cNvPr id="25" name="Text 22"/>
          <p:cNvSpPr txBox="1"/>
          <p:nvPr/>
        </p:nvSpPr>
        <p:spPr>
          <a:xfrm>
            <a:off x="685800" y="3401568"/>
            <a:ext cx="7772400" cy="32004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If honest remaining costs never rise, two honest contenders can never both yield.</a:t>
            </a:r>
            <a:endParaRPr lang="en-US" sz="1500" dirty="0"/>
          </a:p>
        </p:txBody>
      </p:sp>
      <p:sp>
        <p:nvSpPr>
          <p:cNvPr id="26" name="Text 23"/>
          <p:cNvSpPr txBox="1"/>
          <p:nvPr/>
        </p:nvSpPr>
        <p:spPr>
          <a:xfrm>
            <a:off x="685800" y="3794760"/>
            <a:ext cx="7772400" cy="73152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Each robot judges the other from an older record, which can only overstate the other’s cost. Each of the four combinations of clauses leads to a contradiction, so no task is ever lost in a merge.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11  ·  FORMAL GUARANTEES</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What SHADE guarantees, and what it does not</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457200" y="1325880"/>
            <a:ext cx="1920240" cy="1417320"/>
          </a:xfrm>
          <a:prstGeom prst="roundRect">
            <a:avLst>
              <a:gd name="adj" fmla="val 5161"/>
            </a:avLst>
          </a:prstGeom>
          <a:solidFill>
            <a:srgbClr val="131C31"/>
          </a:solidFill>
          <a:ln w="9525">
            <a:solidFill>
              <a:srgbClr val="2A3A5F"/>
            </a:solidFill>
            <a:prstDash val="solid"/>
          </a:ln>
        </p:spPr>
      </p:sp>
      <p:sp>
        <p:nvSpPr>
          <p:cNvPr id="8" name="Text 5"/>
          <p:cNvSpPr txBox="1"/>
          <p:nvPr/>
        </p:nvSpPr>
        <p:spPr>
          <a:xfrm>
            <a:off x="585216" y="1435608"/>
            <a:ext cx="1645920" cy="219456"/>
          </a:xfrm>
          <a:prstGeom prst="rect">
            <a:avLst/>
          </a:prstGeom>
          <a:noFill/>
          <a:ln/>
        </p:spPr>
        <p:txBody>
          <a:bodyPr wrap="square" lIns="0" tIns="0" rIns="0" bIns="0" rtlCol="0" anchor="t"/>
          <a:lstStyle/>
          <a:p>
            <a:pPr indent="0" marL="0">
              <a:buNone/>
            </a:pPr>
            <a:r>
              <a:rPr lang="en-US" sz="1100" b="1" dirty="0">
                <a:solidFill>
                  <a:srgbClr val="FBBF24"/>
                </a:solidFill>
                <a:latin typeface="Calibri" pitchFamily="34" charset="0"/>
                <a:ea typeface="Calibri" pitchFamily="34" charset="-122"/>
                <a:cs typeface="Calibri" pitchFamily="34" charset="-120"/>
              </a:rPr>
              <a:t>G1</a:t>
            </a:r>
            <a:endParaRPr lang="en-US" sz="1100" dirty="0"/>
          </a:p>
        </p:txBody>
      </p:sp>
      <p:sp>
        <p:nvSpPr>
          <p:cNvPr id="9" name="Text 6"/>
          <p:cNvSpPr txBox="1"/>
          <p:nvPr/>
        </p:nvSpPr>
        <p:spPr>
          <a:xfrm>
            <a:off x="585216" y="1673352"/>
            <a:ext cx="169164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Convergence</a:t>
            </a:r>
            <a:endParaRPr lang="en-US" sz="1300" dirty="0"/>
          </a:p>
        </p:txBody>
      </p:sp>
      <p:sp>
        <p:nvSpPr>
          <p:cNvPr id="10" name="Text 7"/>
          <p:cNvSpPr txBox="1"/>
          <p:nvPr/>
        </p:nvSpPr>
        <p:spPr>
          <a:xfrm>
            <a:off x="585216" y="1984248"/>
            <a:ext cx="1691640" cy="68580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Same records give the same task state on every robot.</a:t>
            </a:r>
            <a:endParaRPr lang="en-US" sz="1050" dirty="0"/>
          </a:p>
        </p:txBody>
      </p:sp>
      <p:sp>
        <p:nvSpPr>
          <p:cNvPr id="11" name="Shape 8"/>
          <p:cNvSpPr/>
          <p:nvPr/>
        </p:nvSpPr>
        <p:spPr>
          <a:xfrm>
            <a:off x="2560320" y="1325880"/>
            <a:ext cx="1920240" cy="1417320"/>
          </a:xfrm>
          <a:prstGeom prst="roundRect">
            <a:avLst>
              <a:gd name="adj" fmla="val 5161"/>
            </a:avLst>
          </a:prstGeom>
          <a:solidFill>
            <a:srgbClr val="131C31"/>
          </a:solidFill>
          <a:ln w="9525">
            <a:solidFill>
              <a:srgbClr val="2A3A5F"/>
            </a:solidFill>
            <a:prstDash val="solid"/>
          </a:ln>
        </p:spPr>
      </p:sp>
      <p:sp>
        <p:nvSpPr>
          <p:cNvPr id="12" name="Text 9"/>
          <p:cNvSpPr txBox="1"/>
          <p:nvPr/>
        </p:nvSpPr>
        <p:spPr>
          <a:xfrm>
            <a:off x="2688336" y="1435608"/>
            <a:ext cx="1645920" cy="219456"/>
          </a:xfrm>
          <a:prstGeom prst="rect">
            <a:avLst/>
          </a:prstGeom>
          <a:noFill/>
          <a:ln/>
        </p:spPr>
        <p:txBody>
          <a:bodyPr wrap="square" lIns="0" tIns="0" rIns="0" bIns="0" rtlCol="0" anchor="t"/>
          <a:lstStyle/>
          <a:p>
            <a:pPr indent="0" marL="0">
              <a:buNone/>
            </a:pPr>
            <a:r>
              <a:rPr lang="en-US" sz="1100" b="1" dirty="0">
                <a:solidFill>
                  <a:srgbClr val="FBBF24"/>
                </a:solidFill>
                <a:latin typeface="Calibri" pitchFamily="34" charset="0"/>
                <a:ea typeface="Calibri" pitchFamily="34" charset="-122"/>
                <a:cs typeface="Calibri" pitchFamily="34" charset="-120"/>
              </a:rPr>
              <a:t>G2</a:t>
            </a:r>
            <a:endParaRPr lang="en-US" sz="1100" dirty="0"/>
          </a:p>
        </p:txBody>
      </p:sp>
      <p:sp>
        <p:nvSpPr>
          <p:cNvPr id="13" name="Text 10"/>
          <p:cNvSpPr txBox="1"/>
          <p:nvPr/>
        </p:nvSpPr>
        <p:spPr>
          <a:xfrm>
            <a:off x="2688336" y="1673352"/>
            <a:ext cx="169164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No lost task</a:t>
            </a:r>
            <a:endParaRPr lang="en-US" sz="1300" dirty="0"/>
          </a:p>
        </p:txBody>
      </p:sp>
      <p:sp>
        <p:nvSpPr>
          <p:cNvPr id="14" name="Text 11"/>
          <p:cNvSpPr txBox="1"/>
          <p:nvPr/>
        </p:nvSpPr>
        <p:spPr>
          <a:xfrm>
            <a:off x="2688336" y="1984248"/>
            <a:ext cx="1691640" cy="68580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Two honest contenders never both yield (Lemma 1).</a:t>
            </a:r>
            <a:endParaRPr lang="en-US" sz="1050" dirty="0"/>
          </a:p>
        </p:txBody>
      </p:sp>
      <p:sp>
        <p:nvSpPr>
          <p:cNvPr id="15" name="Shape 12"/>
          <p:cNvSpPr/>
          <p:nvPr/>
        </p:nvSpPr>
        <p:spPr>
          <a:xfrm>
            <a:off x="4663440" y="1325880"/>
            <a:ext cx="1920240" cy="1417320"/>
          </a:xfrm>
          <a:prstGeom prst="roundRect">
            <a:avLst>
              <a:gd name="adj" fmla="val 5161"/>
            </a:avLst>
          </a:prstGeom>
          <a:solidFill>
            <a:srgbClr val="131C31"/>
          </a:solidFill>
          <a:ln w="9525">
            <a:solidFill>
              <a:srgbClr val="2A3A5F"/>
            </a:solidFill>
            <a:prstDash val="solid"/>
          </a:ln>
        </p:spPr>
      </p:sp>
      <p:sp>
        <p:nvSpPr>
          <p:cNvPr id="16" name="Text 13"/>
          <p:cNvSpPr txBox="1"/>
          <p:nvPr/>
        </p:nvSpPr>
        <p:spPr>
          <a:xfrm>
            <a:off x="4791456" y="1435608"/>
            <a:ext cx="1645920" cy="219456"/>
          </a:xfrm>
          <a:prstGeom prst="rect">
            <a:avLst/>
          </a:prstGeom>
          <a:noFill/>
          <a:ln/>
        </p:spPr>
        <p:txBody>
          <a:bodyPr wrap="square" lIns="0" tIns="0" rIns="0" bIns="0" rtlCol="0" anchor="t"/>
          <a:lstStyle/>
          <a:p>
            <a:pPr indent="0" marL="0">
              <a:buNone/>
            </a:pPr>
            <a:r>
              <a:rPr lang="en-US" sz="1100" b="1" dirty="0">
                <a:solidFill>
                  <a:srgbClr val="FBBF24"/>
                </a:solidFill>
                <a:latin typeface="Calibri" pitchFamily="34" charset="0"/>
                <a:ea typeface="Calibri" pitchFamily="34" charset="-122"/>
                <a:cs typeface="Calibri" pitchFamily="34" charset="-120"/>
              </a:rPr>
              <a:t>G3</a:t>
            </a:r>
            <a:endParaRPr lang="en-US" sz="1100" dirty="0"/>
          </a:p>
        </p:txBody>
      </p:sp>
      <p:sp>
        <p:nvSpPr>
          <p:cNvPr id="17" name="Text 14"/>
          <p:cNvSpPr txBox="1"/>
          <p:nvPr/>
        </p:nvSpPr>
        <p:spPr>
          <a:xfrm>
            <a:off x="4791456" y="1673352"/>
            <a:ext cx="169164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Bounded starvation</a:t>
            </a:r>
            <a:endParaRPr lang="en-US" sz="1300" dirty="0"/>
          </a:p>
        </p:txBody>
      </p:sp>
      <p:sp>
        <p:nvSpPr>
          <p:cNvPr id="18" name="Text 15"/>
          <p:cNvSpPr txBox="1"/>
          <p:nvPr/>
        </p:nvSpPr>
        <p:spPr>
          <a:xfrm>
            <a:off x="4791456" y="1984248"/>
            <a:ext cx="1691640" cy="68580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Claimed within P + (n−1)·δ + gossip delay.</a:t>
            </a:r>
            <a:endParaRPr lang="en-US" sz="1050" dirty="0"/>
          </a:p>
        </p:txBody>
      </p:sp>
      <p:sp>
        <p:nvSpPr>
          <p:cNvPr id="19" name="Shape 16"/>
          <p:cNvSpPr/>
          <p:nvPr/>
        </p:nvSpPr>
        <p:spPr>
          <a:xfrm>
            <a:off x="6766560" y="1325880"/>
            <a:ext cx="1920240" cy="1417320"/>
          </a:xfrm>
          <a:prstGeom prst="roundRect">
            <a:avLst>
              <a:gd name="adj" fmla="val 5161"/>
            </a:avLst>
          </a:prstGeom>
          <a:solidFill>
            <a:srgbClr val="131C31"/>
          </a:solidFill>
          <a:ln w="9525">
            <a:solidFill>
              <a:srgbClr val="2A3A5F"/>
            </a:solidFill>
            <a:prstDash val="solid"/>
          </a:ln>
        </p:spPr>
      </p:sp>
      <p:sp>
        <p:nvSpPr>
          <p:cNvPr id="20" name="Text 17"/>
          <p:cNvSpPr txBox="1"/>
          <p:nvPr/>
        </p:nvSpPr>
        <p:spPr>
          <a:xfrm>
            <a:off x="6894576" y="1435608"/>
            <a:ext cx="1645920" cy="219456"/>
          </a:xfrm>
          <a:prstGeom prst="rect">
            <a:avLst/>
          </a:prstGeom>
          <a:noFill/>
          <a:ln/>
        </p:spPr>
        <p:txBody>
          <a:bodyPr wrap="square" lIns="0" tIns="0" rIns="0" bIns="0" rtlCol="0" anchor="t"/>
          <a:lstStyle/>
          <a:p>
            <a:pPr indent="0" marL="0">
              <a:buNone/>
            </a:pPr>
            <a:r>
              <a:rPr lang="en-US" sz="1100" b="1" dirty="0">
                <a:solidFill>
                  <a:srgbClr val="FBBF24"/>
                </a:solidFill>
                <a:latin typeface="Calibri" pitchFamily="34" charset="0"/>
                <a:ea typeface="Calibri" pitchFamily="34" charset="-122"/>
                <a:cs typeface="Calibri" pitchFamily="34" charset="-120"/>
              </a:rPr>
              <a:t>G4</a:t>
            </a:r>
            <a:endParaRPr lang="en-US" sz="1100" dirty="0"/>
          </a:p>
        </p:txBody>
      </p:sp>
      <p:sp>
        <p:nvSpPr>
          <p:cNvPr id="21" name="Text 18"/>
          <p:cNvSpPr txBox="1"/>
          <p:nvPr/>
        </p:nvSpPr>
        <p:spPr>
          <a:xfrm>
            <a:off x="6894576" y="1673352"/>
            <a:ext cx="169164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Bounded regret</a:t>
            </a:r>
            <a:endParaRPr lang="en-US" sz="1300" dirty="0"/>
          </a:p>
        </p:txBody>
      </p:sp>
      <p:sp>
        <p:nvSpPr>
          <p:cNvPr id="22" name="Text 19"/>
          <p:cNvSpPr txBox="1"/>
          <p:nvPr/>
        </p:nvSpPr>
        <p:spPr>
          <a:xfrm>
            <a:off x="6894576" y="1984248"/>
            <a:ext cx="1691640" cy="68580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Every claim’s regret is at most ε at claim time.</a:t>
            </a:r>
            <a:endParaRPr lang="en-US" sz="1050" dirty="0"/>
          </a:p>
        </p:txBody>
      </p:sp>
      <p:sp>
        <p:nvSpPr>
          <p:cNvPr id="23" name="Shape 20"/>
          <p:cNvSpPr/>
          <p:nvPr/>
        </p:nvSpPr>
        <p:spPr>
          <a:xfrm>
            <a:off x="457200" y="2880360"/>
            <a:ext cx="1920240" cy="1417320"/>
          </a:xfrm>
          <a:prstGeom prst="roundRect">
            <a:avLst>
              <a:gd name="adj" fmla="val 5161"/>
            </a:avLst>
          </a:prstGeom>
          <a:solidFill>
            <a:srgbClr val="131C31"/>
          </a:solidFill>
          <a:ln w="9525">
            <a:solidFill>
              <a:srgbClr val="2A3A5F"/>
            </a:solidFill>
            <a:prstDash val="solid"/>
          </a:ln>
        </p:spPr>
      </p:sp>
      <p:sp>
        <p:nvSpPr>
          <p:cNvPr id="24" name="Text 21"/>
          <p:cNvSpPr txBox="1"/>
          <p:nvPr/>
        </p:nvSpPr>
        <p:spPr>
          <a:xfrm>
            <a:off x="585216" y="2990088"/>
            <a:ext cx="1645920" cy="219456"/>
          </a:xfrm>
          <a:prstGeom prst="rect">
            <a:avLst/>
          </a:prstGeom>
          <a:noFill/>
          <a:ln/>
        </p:spPr>
        <p:txBody>
          <a:bodyPr wrap="square" lIns="0" tIns="0" rIns="0" bIns="0" rtlCol="0" anchor="t"/>
          <a:lstStyle/>
          <a:p>
            <a:pPr indent="0" marL="0">
              <a:buNone/>
            </a:pPr>
            <a:r>
              <a:rPr lang="en-US" sz="1100" b="1" dirty="0">
                <a:solidFill>
                  <a:srgbClr val="FBBF24"/>
                </a:solidFill>
                <a:latin typeface="Calibri" pitchFamily="34" charset="0"/>
                <a:ea typeface="Calibri" pitchFamily="34" charset="-122"/>
                <a:cs typeface="Calibri" pitchFamily="34" charset="-120"/>
              </a:rPr>
              <a:t>G5</a:t>
            </a:r>
            <a:endParaRPr lang="en-US" sz="1100" dirty="0"/>
          </a:p>
        </p:txBody>
      </p:sp>
      <p:sp>
        <p:nvSpPr>
          <p:cNvPr id="25" name="Text 22"/>
          <p:cNvSpPr txBox="1"/>
          <p:nvPr/>
        </p:nvSpPr>
        <p:spPr>
          <a:xfrm>
            <a:off x="585216" y="3227832"/>
            <a:ext cx="169164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Byzantine delay</a:t>
            </a:r>
            <a:endParaRPr lang="en-US" sz="1300" dirty="0"/>
          </a:p>
        </p:txBody>
      </p:sp>
      <p:sp>
        <p:nvSpPr>
          <p:cNvPr id="26" name="Text 23"/>
          <p:cNvSpPr txBox="1"/>
          <p:nvPr/>
        </p:nvSpPr>
        <p:spPr>
          <a:xfrm>
            <a:off x="585216" y="3538728"/>
            <a:ext cx="1691640" cy="68580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At most one lease period per fault, then a strike.</a:t>
            </a:r>
            <a:endParaRPr lang="en-US" sz="1050" dirty="0"/>
          </a:p>
        </p:txBody>
      </p:sp>
      <p:sp>
        <p:nvSpPr>
          <p:cNvPr id="27" name="Shape 24"/>
          <p:cNvSpPr/>
          <p:nvPr/>
        </p:nvSpPr>
        <p:spPr>
          <a:xfrm>
            <a:off x="2560320" y="2880360"/>
            <a:ext cx="1920240" cy="1417320"/>
          </a:xfrm>
          <a:prstGeom prst="roundRect">
            <a:avLst>
              <a:gd name="adj" fmla="val 5161"/>
            </a:avLst>
          </a:prstGeom>
          <a:solidFill>
            <a:srgbClr val="131C31"/>
          </a:solidFill>
          <a:ln w="9525">
            <a:solidFill>
              <a:srgbClr val="2A3A5F"/>
            </a:solidFill>
            <a:prstDash val="solid"/>
          </a:ln>
        </p:spPr>
      </p:sp>
      <p:sp>
        <p:nvSpPr>
          <p:cNvPr id="28" name="Text 25"/>
          <p:cNvSpPr txBox="1"/>
          <p:nvPr/>
        </p:nvSpPr>
        <p:spPr>
          <a:xfrm>
            <a:off x="2688336" y="2990088"/>
            <a:ext cx="1645920" cy="219456"/>
          </a:xfrm>
          <a:prstGeom prst="rect">
            <a:avLst/>
          </a:prstGeom>
          <a:noFill/>
          <a:ln/>
        </p:spPr>
        <p:txBody>
          <a:bodyPr wrap="square" lIns="0" tIns="0" rIns="0" bIns="0" rtlCol="0" anchor="t"/>
          <a:lstStyle/>
          <a:p>
            <a:pPr indent="0" marL="0">
              <a:buNone/>
            </a:pPr>
            <a:r>
              <a:rPr lang="en-US" sz="1100" b="1" dirty="0">
                <a:solidFill>
                  <a:srgbClr val="FBBF24"/>
                </a:solidFill>
                <a:latin typeface="Calibri" pitchFamily="34" charset="0"/>
                <a:ea typeface="Calibri" pitchFamily="34" charset="-122"/>
                <a:cs typeface="Calibri" pitchFamily="34" charset="-120"/>
              </a:rPr>
              <a:t>G6</a:t>
            </a:r>
            <a:endParaRPr lang="en-US" sz="1100" dirty="0"/>
          </a:p>
        </p:txBody>
      </p:sp>
      <p:sp>
        <p:nvSpPr>
          <p:cNvPr id="29" name="Text 26"/>
          <p:cNvSpPr txBox="1"/>
          <p:nvPr/>
        </p:nvSpPr>
        <p:spPr>
          <a:xfrm>
            <a:off x="2688336" y="3227832"/>
            <a:ext cx="169164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Bounded duplicates</a:t>
            </a:r>
            <a:endParaRPr lang="en-US" sz="1300" dirty="0"/>
          </a:p>
        </p:txBody>
      </p:sp>
      <p:sp>
        <p:nvSpPr>
          <p:cNvPr id="30" name="Text 27"/>
          <p:cNvSpPr txBox="1"/>
          <p:nvPr/>
        </p:nvSpPr>
        <p:spPr>
          <a:xfrm>
            <a:off x="2688336" y="3538728"/>
            <a:ext cx="1691640" cy="68580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Duplicate ownership ends soon after a heal.</a:t>
            </a:r>
            <a:endParaRPr lang="en-US" sz="1050" dirty="0"/>
          </a:p>
        </p:txBody>
      </p:sp>
      <p:sp>
        <p:nvSpPr>
          <p:cNvPr id="31" name="Shape 28"/>
          <p:cNvSpPr/>
          <p:nvPr/>
        </p:nvSpPr>
        <p:spPr>
          <a:xfrm>
            <a:off x="4663440" y="2880360"/>
            <a:ext cx="1920240" cy="1417320"/>
          </a:xfrm>
          <a:prstGeom prst="roundRect">
            <a:avLst>
              <a:gd name="adj" fmla="val 5161"/>
            </a:avLst>
          </a:prstGeom>
          <a:solidFill>
            <a:srgbClr val="131C31"/>
          </a:solidFill>
          <a:ln w="9525">
            <a:solidFill>
              <a:srgbClr val="2A3A5F"/>
            </a:solidFill>
            <a:prstDash val="solid"/>
          </a:ln>
        </p:spPr>
      </p:sp>
      <p:sp>
        <p:nvSpPr>
          <p:cNvPr id="32" name="Text 29"/>
          <p:cNvSpPr txBox="1"/>
          <p:nvPr/>
        </p:nvSpPr>
        <p:spPr>
          <a:xfrm>
            <a:off x="4791456" y="2990088"/>
            <a:ext cx="1645920" cy="219456"/>
          </a:xfrm>
          <a:prstGeom prst="rect">
            <a:avLst/>
          </a:prstGeom>
          <a:noFill/>
          <a:ln/>
        </p:spPr>
        <p:txBody>
          <a:bodyPr wrap="square" lIns="0" tIns="0" rIns="0" bIns="0" rtlCol="0" anchor="t"/>
          <a:lstStyle/>
          <a:p>
            <a:pPr indent="0" marL="0">
              <a:buNone/>
            </a:pPr>
            <a:r>
              <a:rPr lang="en-US" sz="1100" b="1" dirty="0">
                <a:solidFill>
                  <a:srgbClr val="FBBF24"/>
                </a:solidFill>
                <a:latin typeface="Calibri" pitchFamily="34" charset="0"/>
                <a:ea typeface="Calibri" pitchFamily="34" charset="-122"/>
                <a:cs typeface="Calibri" pitchFamily="34" charset="-120"/>
              </a:rPr>
              <a:t>G7</a:t>
            </a:r>
            <a:endParaRPr lang="en-US" sz="1100" dirty="0"/>
          </a:p>
        </p:txBody>
      </p:sp>
      <p:sp>
        <p:nvSpPr>
          <p:cNvPr id="33" name="Text 30"/>
          <p:cNvSpPr txBox="1"/>
          <p:nvPr/>
        </p:nvSpPr>
        <p:spPr>
          <a:xfrm>
            <a:off x="4791456" y="3227832"/>
            <a:ext cx="169164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No deadlock</a:t>
            </a:r>
            <a:endParaRPr lang="en-US" sz="1300" dirty="0"/>
          </a:p>
        </p:txBody>
      </p:sp>
      <p:sp>
        <p:nvSpPr>
          <p:cNvPr id="34" name="Text 31"/>
          <p:cNvSpPr txBox="1"/>
          <p:nvPr/>
        </p:nvSpPr>
        <p:spPr>
          <a:xfrm>
            <a:off x="4791456" y="3538728"/>
            <a:ext cx="1691640" cy="68580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Every wait is a timer; nobody waits on a reply.</a:t>
            </a:r>
            <a:endParaRPr lang="en-US" sz="1050" dirty="0"/>
          </a:p>
        </p:txBody>
      </p:sp>
      <p:sp>
        <p:nvSpPr>
          <p:cNvPr id="35" name="Shape 32"/>
          <p:cNvSpPr/>
          <p:nvPr/>
        </p:nvSpPr>
        <p:spPr>
          <a:xfrm>
            <a:off x="6766560" y="2880360"/>
            <a:ext cx="1920240" cy="1417320"/>
          </a:xfrm>
          <a:prstGeom prst="roundRect">
            <a:avLst>
              <a:gd name="adj" fmla="val 5161"/>
            </a:avLst>
          </a:prstGeom>
          <a:solidFill>
            <a:srgbClr val="131C31"/>
          </a:solidFill>
          <a:ln w="9525">
            <a:solidFill>
              <a:srgbClr val="F87171"/>
            </a:solidFill>
            <a:prstDash val="solid"/>
          </a:ln>
        </p:spPr>
      </p:sp>
      <p:sp>
        <p:nvSpPr>
          <p:cNvPr id="36" name="Text 33"/>
          <p:cNvSpPr txBox="1"/>
          <p:nvPr/>
        </p:nvSpPr>
        <p:spPr>
          <a:xfrm>
            <a:off x="6894576" y="2990088"/>
            <a:ext cx="1645920" cy="219456"/>
          </a:xfrm>
          <a:prstGeom prst="rect">
            <a:avLst/>
          </a:prstGeom>
          <a:noFill/>
          <a:ln/>
        </p:spPr>
        <p:txBody>
          <a:bodyPr wrap="square" lIns="0" tIns="0" rIns="0" bIns="0" rtlCol="0" anchor="t"/>
          <a:lstStyle/>
          <a:p>
            <a:pPr indent="0" marL="0">
              <a:buNone/>
            </a:pPr>
            <a:r>
              <a:rPr lang="en-US" sz="1100" b="1" dirty="0">
                <a:solidFill>
                  <a:srgbClr val="F87171"/>
                </a:solidFill>
                <a:latin typeface="Calibri" pitchFamily="34" charset="0"/>
                <a:ea typeface="Calibri" pitchFamily="34" charset="-122"/>
                <a:cs typeface="Calibri" pitchFamily="34" charset="-120"/>
              </a:rPr>
              <a:t>✗</a:t>
            </a:r>
            <a:endParaRPr lang="en-US" sz="1100" dirty="0"/>
          </a:p>
        </p:txBody>
      </p:sp>
      <p:sp>
        <p:nvSpPr>
          <p:cNvPr id="37" name="Text 34"/>
          <p:cNvSpPr txBox="1"/>
          <p:nvPr/>
        </p:nvSpPr>
        <p:spPr>
          <a:xfrm>
            <a:off x="6894576" y="3227832"/>
            <a:ext cx="1691640" cy="27432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Not promised</a:t>
            </a:r>
            <a:endParaRPr lang="en-US" sz="1300" dirty="0"/>
          </a:p>
        </p:txBody>
      </p:sp>
      <p:sp>
        <p:nvSpPr>
          <p:cNvPr id="38" name="Text 35"/>
          <p:cNvSpPr txBox="1"/>
          <p:nvPr/>
        </p:nvSpPr>
        <p:spPr>
          <a:xfrm>
            <a:off x="6894576" y="3538728"/>
            <a:ext cx="1691640" cy="68580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Exactly-once during a partition; global optimality; catching unobserved small lies.</a:t>
            </a:r>
            <a:endParaRPr lang="en-US" sz="1050" dirty="0"/>
          </a:p>
        </p:txBody>
      </p:sp>
      <p:sp>
        <p:nvSpPr>
          <p:cNvPr id="39" name="Text 36"/>
          <p:cNvSpPr txBox="1"/>
          <p:nvPr/>
        </p:nvSpPr>
        <p:spPr>
          <a:xfrm>
            <a:off x="457200" y="4462272"/>
            <a:ext cx="8229600" cy="22860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Assumptions: bounded clock drift, unforgeable signatures, known speed and drain limits, fair-lossy links.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12  ·  ARCHITECTURE</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System architecture</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457200" y="1280160"/>
            <a:ext cx="8229600" cy="2450592"/>
          </a:xfrm>
          <a:prstGeom prst="roundRect">
            <a:avLst>
              <a:gd name="adj" fmla="val 2985"/>
            </a:avLst>
          </a:prstGeom>
          <a:solidFill>
            <a:srgbClr val="131C31"/>
          </a:solidFill>
          <a:ln w="12700">
            <a:solidFill>
              <a:srgbClr val="FBBF24"/>
            </a:solidFill>
            <a:prstDash val="solid"/>
          </a:ln>
        </p:spPr>
      </p:sp>
      <p:sp>
        <p:nvSpPr>
          <p:cNvPr id="8" name="Text 5"/>
          <p:cNvSpPr txBox="1"/>
          <p:nvPr/>
        </p:nvSpPr>
        <p:spPr>
          <a:xfrm>
            <a:off x="594360" y="1344168"/>
            <a:ext cx="4572000" cy="201168"/>
          </a:xfrm>
          <a:prstGeom prst="rect">
            <a:avLst/>
          </a:prstGeom>
          <a:noFill/>
          <a:ln/>
        </p:spPr>
        <p:txBody>
          <a:bodyPr wrap="square" lIns="0" tIns="0" rIns="0" bIns="0" rtlCol="0" anchor="t"/>
          <a:lstStyle/>
          <a:p>
            <a:pPr indent="0" marL="0">
              <a:buNone/>
            </a:pPr>
            <a:r>
              <a:rPr lang="en-US" sz="900" b="1" spc="200" kern="0" dirty="0">
                <a:solidFill>
                  <a:srgbClr val="FBBF24"/>
                </a:solidFill>
                <a:latin typeface="Calibri" pitchFamily="34" charset="0"/>
                <a:ea typeface="Calibri" pitchFamily="34" charset="-122"/>
                <a:cs typeface="Calibri" pitchFamily="34" charset="-120"/>
              </a:rPr>
              <a:t>ROBOT AGENT  ·  IDENTICAL ON EVERY ROBOT</a:t>
            </a:r>
            <a:endParaRPr lang="en-US" sz="900" dirty="0"/>
          </a:p>
        </p:txBody>
      </p:sp>
      <p:sp>
        <p:nvSpPr>
          <p:cNvPr id="9" name="Text 6"/>
          <p:cNvSpPr txBox="1"/>
          <p:nvPr/>
        </p:nvSpPr>
        <p:spPr>
          <a:xfrm>
            <a:off x="5029200" y="1344168"/>
            <a:ext cx="3520440" cy="201168"/>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same agent × N robots, linked by gossip</a:t>
            </a:r>
            <a:endParaRPr lang="en-US" sz="900" dirty="0"/>
          </a:p>
        </p:txBody>
      </p:sp>
      <p:sp>
        <p:nvSpPr>
          <p:cNvPr id="10" name="Shape 7"/>
          <p:cNvSpPr/>
          <p:nvPr/>
        </p:nvSpPr>
        <p:spPr>
          <a:xfrm>
            <a:off x="594360" y="1627632"/>
            <a:ext cx="1874520" cy="749808"/>
          </a:xfrm>
          <a:prstGeom prst="roundRect">
            <a:avLst>
              <a:gd name="adj" fmla="val 9756"/>
            </a:avLst>
          </a:prstGeom>
          <a:solidFill>
            <a:srgbClr val="1B2742"/>
          </a:solidFill>
          <a:ln w="9525">
            <a:solidFill>
              <a:srgbClr val="3B4A6B"/>
            </a:solidFill>
            <a:prstDash val="solid"/>
          </a:ln>
        </p:spPr>
      </p:sp>
      <p:sp>
        <p:nvSpPr>
          <p:cNvPr id="11" name="Text 8"/>
          <p:cNvSpPr txBox="1"/>
          <p:nvPr/>
        </p:nvSpPr>
        <p:spPr>
          <a:xfrm>
            <a:off x="685800" y="1700784"/>
            <a:ext cx="1691640" cy="228600"/>
          </a:xfrm>
          <a:prstGeom prst="rect">
            <a:avLst/>
          </a:prstGeom>
          <a:noFill/>
          <a:ln/>
        </p:spPr>
        <p:txBody>
          <a:bodyPr wrap="square" lIns="0" tIns="0" rIns="0" bIns="0" rtlCol="0" anchor="t"/>
          <a:lstStyle/>
          <a:p>
            <a:pPr indent="0" marL="0">
              <a:buNone/>
            </a:pPr>
            <a:r>
              <a:rPr lang="en-US" sz="1150" b="1" dirty="0">
                <a:solidFill>
                  <a:srgbClr val="F1F5F9"/>
                </a:solidFill>
                <a:latin typeface="Calibri" pitchFamily="34" charset="0"/>
                <a:ea typeface="Calibri" pitchFamily="34" charset="-122"/>
                <a:cs typeface="Calibri" pitchFamily="34" charset="-120"/>
              </a:rPr>
              <a:t>Publisher</a:t>
            </a:r>
            <a:endParaRPr lang="en-US" sz="1150" dirty="0"/>
          </a:p>
        </p:txBody>
      </p:sp>
      <p:sp>
        <p:nvSpPr>
          <p:cNvPr id="12" name="Text 9"/>
          <p:cNvSpPr txBox="1"/>
          <p:nvPr/>
        </p:nvSpPr>
        <p:spPr>
          <a:xfrm>
            <a:off x="685800" y="1956816"/>
            <a:ext cx="1691640" cy="38404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signs manifests, sends on drift</a:t>
            </a:r>
            <a:endParaRPr lang="en-US" sz="950" dirty="0"/>
          </a:p>
        </p:txBody>
      </p:sp>
      <p:sp>
        <p:nvSpPr>
          <p:cNvPr id="13" name="Shape 10"/>
          <p:cNvSpPr/>
          <p:nvPr/>
        </p:nvSpPr>
        <p:spPr>
          <a:xfrm>
            <a:off x="2606040" y="1627632"/>
            <a:ext cx="1874520" cy="749808"/>
          </a:xfrm>
          <a:prstGeom prst="roundRect">
            <a:avLst>
              <a:gd name="adj" fmla="val 9756"/>
            </a:avLst>
          </a:prstGeom>
          <a:solidFill>
            <a:srgbClr val="1B2742"/>
          </a:solidFill>
          <a:ln w="9525">
            <a:solidFill>
              <a:srgbClr val="3B4A6B"/>
            </a:solidFill>
            <a:prstDash val="solid"/>
          </a:ln>
        </p:spPr>
      </p:sp>
      <p:sp>
        <p:nvSpPr>
          <p:cNvPr id="14" name="Text 11"/>
          <p:cNvSpPr txBox="1"/>
          <p:nvPr/>
        </p:nvSpPr>
        <p:spPr>
          <a:xfrm>
            <a:off x="2697480" y="1700784"/>
            <a:ext cx="1691640" cy="228600"/>
          </a:xfrm>
          <a:prstGeom prst="rect">
            <a:avLst/>
          </a:prstGeom>
          <a:noFill/>
          <a:ln/>
        </p:spPr>
        <p:txBody>
          <a:bodyPr wrap="square" lIns="0" tIns="0" rIns="0" bIns="0" rtlCol="0" anchor="t"/>
          <a:lstStyle/>
          <a:p>
            <a:pPr indent="0" marL="0">
              <a:buNone/>
            </a:pPr>
            <a:r>
              <a:rPr lang="en-US" sz="1150" b="1" dirty="0">
                <a:solidFill>
                  <a:srgbClr val="F1F5F9"/>
                </a:solidFill>
                <a:latin typeface="Calibri" pitchFamily="34" charset="0"/>
                <a:ea typeface="Calibri" pitchFamily="34" charset="-122"/>
                <a:cs typeface="Calibri" pitchFamily="34" charset="-120"/>
              </a:rPr>
              <a:t>Gate + Trust</a:t>
            </a:r>
            <a:endParaRPr lang="en-US" sz="1150" dirty="0"/>
          </a:p>
        </p:txBody>
      </p:sp>
      <p:sp>
        <p:nvSpPr>
          <p:cNvPr id="15" name="Text 12"/>
          <p:cNvSpPr txBox="1"/>
          <p:nvPr/>
        </p:nvSpPr>
        <p:spPr>
          <a:xfrm>
            <a:off x="2697480" y="1956816"/>
            <a:ext cx="1691640" cy="38404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6 checks, strikes, quarantine</a:t>
            </a:r>
            <a:endParaRPr lang="en-US" sz="950" dirty="0"/>
          </a:p>
        </p:txBody>
      </p:sp>
      <p:sp>
        <p:nvSpPr>
          <p:cNvPr id="16" name="Shape 13"/>
          <p:cNvSpPr/>
          <p:nvPr/>
        </p:nvSpPr>
        <p:spPr>
          <a:xfrm>
            <a:off x="4617720" y="1627632"/>
            <a:ext cx="1874520" cy="749808"/>
          </a:xfrm>
          <a:prstGeom prst="roundRect">
            <a:avLst>
              <a:gd name="adj" fmla="val 9756"/>
            </a:avLst>
          </a:prstGeom>
          <a:solidFill>
            <a:srgbClr val="2A2410"/>
          </a:solidFill>
          <a:ln w="19050">
            <a:solidFill>
              <a:srgbClr val="FBBF24"/>
            </a:solidFill>
            <a:prstDash val="solid"/>
          </a:ln>
        </p:spPr>
      </p:sp>
      <p:sp>
        <p:nvSpPr>
          <p:cNvPr id="17" name="Text 14"/>
          <p:cNvSpPr txBox="1"/>
          <p:nvPr/>
        </p:nvSpPr>
        <p:spPr>
          <a:xfrm>
            <a:off x="4709160" y="1700784"/>
            <a:ext cx="1691640" cy="228600"/>
          </a:xfrm>
          <a:prstGeom prst="rect">
            <a:avLst/>
          </a:prstGeom>
          <a:noFill/>
          <a:ln/>
        </p:spPr>
        <p:txBody>
          <a:bodyPr wrap="square" lIns="0" tIns="0" rIns="0" bIns="0" rtlCol="0" anchor="t"/>
          <a:lstStyle/>
          <a:p>
            <a:pPr indent="0" marL="0">
              <a:buNone/>
            </a:pPr>
            <a:r>
              <a:rPr lang="en-US" sz="1150" b="1" dirty="0">
                <a:solidFill>
                  <a:srgbClr val="F1F5F9"/>
                </a:solidFill>
                <a:latin typeface="Calibri" pitchFamily="34" charset="0"/>
                <a:ea typeface="Calibri" pitchFamily="34" charset="-122"/>
                <a:cs typeface="Calibri" pitchFamily="34" charset="-120"/>
              </a:rPr>
              <a:t>Bid Evaluator</a:t>
            </a:r>
            <a:endParaRPr lang="en-US" sz="1150" dirty="0"/>
          </a:p>
        </p:txBody>
      </p:sp>
      <p:sp>
        <p:nvSpPr>
          <p:cNvPr id="18" name="Text 15"/>
          <p:cNvSpPr txBox="1"/>
          <p:nvPr/>
        </p:nvSpPr>
        <p:spPr>
          <a:xfrm>
            <a:off x="4709160" y="1956816"/>
            <a:ext cx="1691640" cy="38404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bid function, ghost upper bounds</a:t>
            </a:r>
            <a:endParaRPr lang="en-US" sz="950" dirty="0"/>
          </a:p>
        </p:txBody>
      </p:sp>
      <p:sp>
        <p:nvSpPr>
          <p:cNvPr id="19" name="Shape 16"/>
          <p:cNvSpPr/>
          <p:nvPr/>
        </p:nvSpPr>
        <p:spPr>
          <a:xfrm>
            <a:off x="6629400" y="1627632"/>
            <a:ext cx="1874520" cy="749808"/>
          </a:xfrm>
          <a:prstGeom prst="roundRect">
            <a:avLst>
              <a:gd name="adj" fmla="val 9756"/>
            </a:avLst>
          </a:prstGeom>
          <a:solidFill>
            <a:srgbClr val="1B2742"/>
          </a:solidFill>
          <a:ln w="9525">
            <a:solidFill>
              <a:srgbClr val="3B4A6B"/>
            </a:solidFill>
            <a:prstDash val="solid"/>
          </a:ln>
        </p:spPr>
      </p:sp>
      <p:sp>
        <p:nvSpPr>
          <p:cNvPr id="20" name="Text 17"/>
          <p:cNvSpPr txBox="1"/>
          <p:nvPr/>
        </p:nvSpPr>
        <p:spPr>
          <a:xfrm>
            <a:off x="6720840" y="1700784"/>
            <a:ext cx="1691640" cy="228600"/>
          </a:xfrm>
          <a:prstGeom prst="rect">
            <a:avLst/>
          </a:prstGeom>
          <a:noFill/>
          <a:ln/>
        </p:spPr>
        <p:txBody>
          <a:bodyPr wrap="square" lIns="0" tIns="0" rIns="0" bIns="0" rtlCol="0" anchor="t"/>
          <a:lstStyle/>
          <a:p>
            <a:pPr indent="0" marL="0">
              <a:buNone/>
            </a:pPr>
            <a:r>
              <a:rPr lang="en-US" sz="1150" b="1" dirty="0">
                <a:solidFill>
                  <a:srgbClr val="F1F5F9"/>
                </a:solidFill>
                <a:latin typeface="Calibri" pitchFamily="34" charset="0"/>
                <a:ea typeface="Calibri" pitchFamily="34" charset="-122"/>
                <a:cs typeface="Calibri" pitchFamily="34" charset="-120"/>
              </a:rPr>
              <a:t>Claim Manager</a:t>
            </a:r>
            <a:endParaRPr lang="en-US" sz="1150" dirty="0"/>
          </a:p>
        </p:txBody>
      </p:sp>
      <p:sp>
        <p:nvSpPr>
          <p:cNvPr id="21" name="Text 18"/>
          <p:cNvSpPr txBox="1"/>
          <p:nvPr/>
        </p:nvSpPr>
        <p:spPr>
          <a:xfrm>
            <a:off x="6720840" y="1956816"/>
            <a:ext cx="1691640" cy="38404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ranks, regret test, claims</a:t>
            </a:r>
            <a:endParaRPr lang="en-US" sz="950" dirty="0"/>
          </a:p>
        </p:txBody>
      </p:sp>
      <p:sp>
        <p:nvSpPr>
          <p:cNvPr id="22" name="Shape 19"/>
          <p:cNvSpPr/>
          <p:nvPr/>
        </p:nvSpPr>
        <p:spPr>
          <a:xfrm>
            <a:off x="594360" y="2496312"/>
            <a:ext cx="1874520" cy="749808"/>
          </a:xfrm>
          <a:prstGeom prst="roundRect">
            <a:avLst>
              <a:gd name="adj" fmla="val 9756"/>
            </a:avLst>
          </a:prstGeom>
          <a:solidFill>
            <a:srgbClr val="1B2742"/>
          </a:solidFill>
          <a:ln w="9525">
            <a:solidFill>
              <a:srgbClr val="3B4A6B"/>
            </a:solidFill>
            <a:prstDash val="solid"/>
          </a:ln>
        </p:spPr>
      </p:sp>
      <p:sp>
        <p:nvSpPr>
          <p:cNvPr id="23" name="Text 20"/>
          <p:cNvSpPr txBox="1"/>
          <p:nvPr/>
        </p:nvSpPr>
        <p:spPr>
          <a:xfrm>
            <a:off x="685800" y="2569464"/>
            <a:ext cx="1691640" cy="228600"/>
          </a:xfrm>
          <a:prstGeom prst="rect">
            <a:avLst/>
          </a:prstGeom>
          <a:noFill/>
          <a:ln/>
        </p:spPr>
        <p:txBody>
          <a:bodyPr wrap="square" lIns="0" tIns="0" rIns="0" bIns="0" rtlCol="0" anchor="t"/>
          <a:lstStyle/>
          <a:p>
            <a:pPr indent="0" marL="0">
              <a:buNone/>
            </a:pPr>
            <a:r>
              <a:rPr lang="en-US" sz="1150" b="1" dirty="0">
                <a:solidFill>
                  <a:srgbClr val="F1F5F9"/>
                </a:solidFill>
                <a:latin typeface="Calibri" pitchFamily="34" charset="0"/>
                <a:ea typeface="Calibri" pitchFamily="34" charset="-122"/>
                <a:cs typeface="Calibri" pitchFamily="34" charset="-120"/>
              </a:rPr>
              <a:t>Lease Monitor</a:t>
            </a:r>
            <a:endParaRPr lang="en-US" sz="1150" dirty="0"/>
          </a:p>
        </p:txBody>
      </p:sp>
      <p:sp>
        <p:nvSpPr>
          <p:cNvPr id="24" name="Text 21"/>
          <p:cNvSpPr txBox="1"/>
          <p:nvPr/>
        </p:nvSpPr>
        <p:spPr>
          <a:xfrm>
            <a:off x="685800" y="2825496"/>
            <a:ext cx="1691640" cy="38404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ratchet and floor, expiry</a:t>
            </a:r>
            <a:endParaRPr lang="en-US" sz="950" dirty="0"/>
          </a:p>
        </p:txBody>
      </p:sp>
      <p:sp>
        <p:nvSpPr>
          <p:cNvPr id="25" name="Shape 22"/>
          <p:cNvSpPr/>
          <p:nvPr/>
        </p:nvSpPr>
        <p:spPr>
          <a:xfrm>
            <a:off x="2606040" y="2496312"/>
            <a:ext cx="1874520" cy="749808"/>
          </a:xfrm>
          <a:prstGeom prst="roundRect">
            <a:avLst>
              <a:gd name="adj" fmla="val 9756"/>
            </a:avLst>
          </a:prstGeom>
          <a:solidFill>
            <a:srgbClr val="1B2742"/>
          </a:solidFill>
          <a:ln w="9525">
            <a:solidFill>
              <a:srgbClr val="3B4A6B"/>
            </a:solidFill>
            <a:prstDash val="solid"/>
          </a:ln>
        </p:spPr>
      </p:sp>
      <p:sp>
        <p:nvSpPr>
          <p:cNvPr id="26" name="Text 23"/>
          <p:cNvSpPr txBox="1"/>
          <p:nvPr/>
        </p:nvSpPr>
        <p:spPr>
          <a:xfrm>
            <a:off x="2697480" y="2569464"/>
            <a:ext cx="1691640" cy="228600"/>
          </a:xfrm>
          <a:prstGeom prst="rect">
            <a:avLst/>
          </a:prstGeom>
          <a:noFill/>
          <a:ln/>
        </p:spPr>
        <p:txBody>
          <a:bodyPr wrap="square" lIns="0" tIns="0" rIns="0" bIns="0" rtlCol="0" anchor="t"/>
          <a:lstStyle/>
          <a:p>
            <a:pPr indent="0" marL="0">
              <a:buNone/>
            </a:pPr>
            <a:r>
              <a:rPr lang="en-US" sz="1150" b="1" dirty="0">
                <a:solidFill>
                  <a:srgbClr val="F1F5F9"/>
                </a:solidFill>
                <a:latin typeface="Calibri" pitchFamily="34" charset="0"/>
                <a:ea typeface="Calibri" pitchFamily="34" charset="-122"/>
                <a:cs typeface="Calibri" pitchFamily="34" charset="-120"/>
              </a:rPr>
              <a:t>Ledger Replica</a:t>
            </a:r>
            <a:endParaRPr lang="en-US" sz="1150" dirty="0"/>
          </a:p>
        </p:txBody>
      </p:sp>
      <p:sp>
        <p:nvSpPr>
          <p:cNvPr id="27" name="Text 24"/>
          <p:cNvSpPr txBox="1"/>
          <p:nvPr/>
        </p:nvSpPr>
        <p:spPr>
          <a:xfrm>
            <a:off x="2697480" y="2825496"/>
            <a:ext cx="1691640" cy="38404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grow-only sets, digests</a:t>
            </a:r>
            <a:endParaRPr lang="en-US" sz="950" dirty="0"/>
          </a:p>
        </p:txBody>
      </p:sp>
      <p:sp>
        <p:nvSpPr>
          <p:cNvPr id="28" name="Shape 25"/>
          <p:cNvSpPr/>
          <p:nvPr/>
        </p:nvSpPr>
        <p:spPr>
          <a:xfrm>
            <a:off x="4617720" y="2496312"/>
            <a:ext cx="1874520" cy="749808"/>
          </a:xfrm>
          <a:prstGeom prst="roundRect">
            <a:avLst>
              <a:gd name="adj" fmla="val 9756"/>
            </a:avLst>
          </a:prstGeom>
          <a:solidFill>
            <a:srgbClr val="1B2742"/>
          </a:solidFill>
          <a:ln w="9525">
            <a:solidFill>
              <a:srgbClr val="3B4A6B"/>
            </a:solidFill>
            <a:prstDash val="solid"/>
          </a:ln>
        </p:spPr>
      </p:sp>
      <p:sp>
        <p:nvSpPr>
          <p:cNvPr id="29" name="Text 26"/>
          <p:cNvSpPr txBox="1"/>
          <p:nvPr/>
        </p:nvSpPr>
        <p:spPr>
          <a:xfrm>
            <a:off x="4709160" y="2569464"/>
            <a:ext cx="1691640" cy="228600"/>
          </a:xfrm>
          <a:prstGeom prst="rect">
            <a:avLst/>
          </a:prstGeom>
          <a:noFill/>
          <a:ln/>
        </p:spPr>
        <p:txBody>
          <a:bodyPr wrap="square" lIns="0" tIns="0" rIns="0" bIns="0" rtlCol="0" anchor="t"/>
          <a:lstStyle/>
          <a:p>
            <a:pPr indent="0" marL="0">
              <a:buNone/>
            </a:pPr>
            <a:r>
              <a:rPr lang="en-US" sz="1150" b="1" dirty="0">
                <a:solidFill>
                  <a:srgbClr val="F1F5F9"/>
                </a:solidFill>
                <a:latin typeface="Calibri" pitchFamily="34" charset="0"/>
                <a:ea typeface="Calibri" pitchFamily="34" charset="-122"/>
                <a:cs typeface="Calibri" pitchFamily="34" charset="-120"/>
              </a:rPr>
              <a:t>Executor</a:t>
            </a:r>
            <a:endParaRPr lang="en-US" sz="1150" dirty="0"/>
          </a:p>
        </p:txBody>
      </p:sp>
      <p:sp>
        <p:nvSpPr>
          <p:cNvPr id="30" name="Text 27"/>
          <p:cNvSpPr txBox="1"/>
          <p:nvPr/>
        </p:nvSpPr>
        <p:spPr>
          <a:xfrm>
            <a:off x="4709160" y="2825496"/>
            <a:ext cx="1691640" cy="38404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moves, works, reports progress</a:t>
            </a:r>
            <a:endParaRPr lang="en-US" sz="950" dirty="0"/>
          </a:p>
        </p:txBody>
      </p:sp>
      <p:sp>
        <p:nvSpPr>
          <p:cNvPr id="31" name="Shape 28"/>
          <p:cNvSpPr/>
          <p:nvPr/>
        </p:nvSpPr>
        <p:spPr>
          <a:xfrm>
            <a:off x="6629400" y="2496312"/>
            <a:ext cx="1874520" cy="749808"/>
          </a:xfrm>
          <a:prstGeom prst="roundRect">
            <a:avLst>
              <a:gd name="adj" fmla="val 9756"/>
            </a:avLst>
          </a:prstGeom>
          <a:solidFill>
            <a:srgbClr val="1B2742"/>
          </a:solidFill>
          <a:ln w="9525">
            <a:solidFill>
              <a:srgbClr val="3B4A6B"/>
            </a:solidFill>
            <a:prstDash val="solid"/>
          </a:ln>
        </p:spPr>
      </p:sp>
      <p:sp>
        <p:nvSpPr>
          <p:cNvPr id="32" name="Text 29"/>
          <p:cNvSpPr txBox="1"/>
          <p:nvPr/>
        </p:nvSpPr>
        <p:spPr>
          <a:xfrm>
            <a:off x="6720840" y="2569464"/>
            <a:ext cx="1691640" cy="228600"/>
          </a:xfrm>
          <a:prstGeom prst="rect">
            <a:avLst/>
          </a:prstGeom>
          <a:noFill/>
          <a:ln/>
        </p:spPr>
        <p:txBody>
          <a:bodyPr wrap="square" lIns="0" tIns="0" rIns="0" bIns="0" rtlCol="0" anchor="t"/>
          <a:lstStyle/>
          <a:p>
            <a:pPr indent="0" marL="0">
              <a:buNone/>
            </a:pPr>
            <a:r>
              <a:rPr lang="en-US" sz="1150" b="1" dirty="0">
                <a:solidFill>
                  <a:srgbClr val="F1F5F9"/>
                </a:solidFill>
                <a:latin typeface="Calibri" pitchFamily="34" charset="0"/>
                <a:ea typeface="Calibri" pitchFamily="34" charset="-122"/>
                <a:cs typeface="Calibri" pitchFamily="34" charset="-120"/>
              </a:rPr>
              <a:t>Task Issuer</a:t>
            </a:r>
            <a:endParaRPr lang="en-US" sz="1150" dirty="0"/>
          </a:p>
        </p:txBody>
      </p:sp>
      <p:sp>
        <p:nvSpPr>
          <p:cNvPr id="33" name="Text 30"/>
          <p:cNvSpPr txBox="1"/>
          <p:nvPr/>
        </p:nvSpPr>
        <p:spPr>
          <a:xfrm>
            <a:off x="6720840" y="2825496"/>
            <a:ext cx="1691640" cy="38404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signed tasks, rate-limited</a:t>
            </a:r>
            <a:endParaRPr lang="en-US" sz="950" dirty="0"/>
          </a:p>
        </p:txBody>
      </p:sp>
      <p:sp>
        <p:nvSpPr>
          <p:cNvPr id="34" name="Shape 31"/>
          <p:cNvSpPr/>
          <p:nvPr/>
        </p:nvSpPr>
        <p:spPr>
          <a:xfrm>
            <a:off x="594360" y="3364992"/>
            <a:ext cx="7955280" cy="292608"/>
          </a:xfrm>
          <a:prstGeom prst="roundRect">
            <a:avLst>
              <a:gd name="adj" fmla="val 25000"/>
            </a:avLst>
          </a:prstGeom>
          <a:solidFill>
            <a:srgbClr val="0B1120"/>
          </a:solidFill>
          <a:ln w="9525">
            <a:solidFill>
              <a:srgbClr val="2DD4BF"/>
            </a:solidFill>
            <a:prstDash val="solid"/>
          </a:ln>
        </p:spPr>
      </p:sp>
      <p:sp>
        <p:nvSpPr>
          <p:cNvPr id="35" name="Text 32"/>
          <p:cNvSpPr txBox="1"/>
          <p:nvPr/>
        </p:nvSpPr>
        <p:spPr>
          <a:xfrm>
            <a:off x="731520" y="3364992"/>
            <a:ext cx="7680960" cy="292608"/>
          </a:xfrm>
          <a:prstGeom prst="rect">
            <a:avLst/>
          </a:prstGeom>
          <a:noFill/>
          <a:ln/>
        </p:spPr>
        <p:txBody>
          <a:bodyPr wrap="square" lIns="0" tIns="0" rIns="0" bIns="0" rtlCol="0" anchor="ctr"/>
          <a:lstStyle/>
          <a:p>
            <a:pPr indent="0" marL="0">
              <a:buNone/>
            </a:pPr>
            <a:r>
              <a:rPr lang="en-US" sz="1050" b="1" dirty="0">
                <a:solidFill>
                  <a:srgbClr val="2DD4BF"/>
                </a:solidFill>
                <a:latin typeface="Calibri" pitchFamily="34" charset="0"/>
                <a:ea typeface="Calibri" pitchFamily="34" charset="-122"/>
                <a:cs typeface="Calibri" pitchFamily="34" charset="-120"/>
              </a:rPr>
              <a:t>Gossip transport  </a:t>
            </a:r>
            <a:pPr indent="0" marL="0">
              <a:buNone/>
            </a:pPr>
            <a:r>
              <a:rPr lang="en-US" sz="1050" dirty="0">
                <a:solidFill>
                  <a:srgbClr val="CBD5E1"/>
                </a:solidFill>
                <a:latin typeface="Calibri" pitchFamily="34" charset="0"/>
                <a:ea typeface="Calibri" pitchFamily="34" charset="-122"/>
                <a:cs typeface="Calibri" pitchFamily="34" charset="-120"/>
              </a:rPr>
              <a:t>signed messages, multi-hop relay, real or emulated network</a:t>
            </a:r>
            <a:endParaRPr lang="en-US" sz="1050" dirty="0"/>
          </a:p>
        </p:txBody>
      </p:sp>
      <p:sp>
        <p:nvSpPr>
          <p:cNvPr id="36" name="Text 33"/>
          <p:cNvSpPr txBox="1"/>
          <p:nvPr/>
        </p:nvSpPr>
        <p:spPr>
          <a:xfrm>
            <a:off x="2743200" y="3785616"/>
            <a:ext cx="5943600" cy="182880"/>
          </a:xfrm>
          <a:prstGeom prst="rect">
            <a:avLst/>
          </a:prstGeom>
          <a:noFill/>
          <a:ln/>
        </p:spPr>
        <p:txBody>
          <a:bodyPr wrap="square" lIns="0" tIns="0" rIns="0" bIns="0" rtlCol="0" anchor="t"/>
          <a:lstStyle/>
          <a:p>
            <a:pPr algn="r" indent="0" marL="0">
              <a:buNone/>
            </a:pPr>
            <a:r>
              <a:rPr lang="en-US" sz="900" b="1" spc="100" kern="0" dirty="0">
                <a:solidFill>
                  <a:srgbClr val="94A3B8"/>
                </a:solidFill>
                <a:latin typeface="Calibri" pitchFamily="34" charset="0"/>
                <a:ea typeface="Calibri" pitchFamily="34" charset="-122"/>
                <a:cs typeface="Calibri" pitchFamily="34" charset="-120"/>
              </a:rPr>
              <a:t>OBSERVER PLANE  ·  READ-ONLY, NOT IN THE CONTROL PATH</a:t>
            </a:r>
            <a:endParaRPr lang="en-US" sz="900" dirty="0"/>
          </a:p>
        </p:txBody>
      </p:sp>
      <p:sp>
        <p:nvSpPr>
          <p:cNvPr id="37" name="Shape 34"/>
          <p:cNvSpPr/>
          <p:nvPr/>
        </p:nvSpPr>
        <p:spPr>
          <a:xfrm>
            <a:off x="594360" y="4023360"/>
            <a:ext cx="1874520" cy="566928"/>
          </a:xfrm>
          <a:prstGeom prst="roundRect">
            <a:avLst>
              <a:gd name="adj" fmla="val 12903"/>
            </a:avLst>
          </a:prstGeom>
          <a:solidFill>
            <a:srgbClr val="1B2742"/>
          </a:solidFill>
          <a:ln w="9525">
            <a:solidFill>
              <a:srgbClr val="2A3A5F"/>
            </a:solidFill>
            <a:prstDash val="solid"/>
          </a:ln>
        </p:spPr>
      </p:sp>
      <p:sp>
        <p:nvSpPr>
          <p:cNvPr id="38" name="Text 35"/>
          <p:cNvSpPr txBox="1"/>
          <p:nvPr/>
        </p:nvSpPr>
        <p:spPr>
          <a:xfrm>
            <a:off x="685800" y="4059936"/>
            <a:ext cx="1691640" cy="219456"/>
          </a:xfrm>
          <a:prstGeom prst="rect">
            <a:avLst/>
          </a:prstGeom>
          <a:noFill/>
          <a:ln/>
        </p:spPr>
        <p:txBody>
          <a:bodyPr wrap="square" lIns="0" tIns="0" rIns="0" bIns="0"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Telemetry Tap</a:t>
            </a:r>
            <a:endParaRPr lang="en-US" sz="1100" dirty="0"/>
          </a:p>
        </p:txBody>
      </p:sp>
      <p:sp>
        <p:nvSpPr>
          <p:cNvPr id="39" name="Text 36"/>
          <p:cNvSpPr txBox="1"/>
          <p:nvPr/>
        </p:nvSpPr>
        <p:spPr>
          <a:xfrm>
            <a:off x="685800" y="4297680"/>
            <a:ext cx="1691640" cy="219456"/>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copies events out only</a:t>
            </a:r>
            <a:endParaRPr lang="en-US" sz="950" dirty="0"/>
          </a:p>
        </p:txBody>
      </p:sp>
      <p:sp>
        <p:nvSpPr>
          <p:cNvPr id="40" name="Shape 37"/>
          <p:cNvSpPr/>
          <p:nvPr/>
        </p:nvSpPr>
        <p:spPr>
          <a:xfrm>
            <a:off x="2468880" y="4306824"/>
            <a:ext cx="137160" cy="0"/>
          </a:xfrm>
          <a:prstGeom prst="line">
            <a:avLst/>
          </a:prstGeom>
          <a:noFill/>
          <a:ln w="15875">
            <a:solidFill>
              <a:srgbClr val="94A3B8"/>
            </a:solidFill>
            <a:prstDash val="solid"/>
            <a:tailEnd type="triangle"/>
          </a:ln>
        </p:spPr>
      </p:sp>
      <p:sp>
        <p:nvSpPr>
          <p:cNvPr id="41" name="Shape 38"/>
          <p:cNvSpPr/>
          <p:nvPr/>
        </p:nvSpPr>
        <p:spPr>
          <a:xfrm>
            <a:off x="2606040" y="4023360"/>
            <a:ext cx="1874520" cy="566928"/>
          </a:xfrm>
          <a:prstGeom prst="roundRect">
            <a:avLst>
              <a:gd name="adj" fmla="val 12903"/>
            </a:avLst>
          </a:prstGeom>
          <a:solidFill>
            <a:srgbClr val="1B2742"/>
          </a:solidFill>
          <a:ln w="9525">
            <a:solidFill>
              <a:srgbClr val="2A3A5F"/>
            </a:solidFill>
            <a:prstDash val="solid"/>
          </a:ln>
        </p:spPr>
      </p:sp>
      <p:sp>
        <p:nvSpPr>
          <p:cNvPr id="42" name="Text 39"/>
          <p:cNvSpPr txBox="1"/>
          <p:nvPr/>
        </p:nvSpPr>
        <p:spPr>
          <a:xfrm>
            <a:off x="2697480" y="4059936"/>
            <a:ext cx="1691640" cy="219456"/>
          </a:xfrm>
          <a:prstGeom prst="rect">
            <a:avLst/>
          </a:prstGeom>
          <a:noFill/>
          <a:ln/>
        </p:spPr>
        <p:txBody>
          <a:bodyPr wrap="square" lIns="0" tIns="0" rIns="0" bIns="0"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Telemetry API</a:t>
            </a:r>
            <a:endParaRPr lang="en-US" sz="1100" dirty="0"/>
          </a:p>
        </p:txBody>
      </p:sp>
      <p:sp>
        <p:nvSpPr>
          <p:cNvPr id="43" name="Text 40"/>
          <p:cNvSpPr txBox="1"/>
          <p:nvPr/>
        </p:nvSpPr>
        <p:spPr>
          <a:xfrm>
            <a:off x="2697480" y="4297680"/>
            <a:ext cx="1691640" cy="219456"/>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FastAPI, WebSocket</a:t>
            </a:r>
            <a:endParaRPr lang="en-US" sz="950" dirty="0"/>
          </a:p>
        </p:txBody>
      </p:sp>
      <p:sp>
        <p:nvSpPr>
          <p:cNvPr id="44" name="Shape 41"/>
          <p:cNvSpPr/>
          <p:nvPr/>
        </p:nvSpPr>
        <p:spPr>
          <a:xfrm>
            <a:off x="4480560" y="4306824"/>
            <a:ext cx="137160" cy="0"/>
          </a:xfrm>
          <a:prstGeom prst="line">
            <a:avLst/>
          </a:prstGeom>
          <a:noFill/>
          <a:ln w="15875">
            <a:solidFill>
              <a:srgbClr val="94A3B8"/>
            </a:solidFill>
            <a:prstDash val="solid"/>
            <a:tailEnd type="triangle"/>
          </a:ln>
        </p:spPr>
      </p:sp>
      <p:sp>
        <p:nvSpPr>
          <p:cNvPr id="45" name="Shape 42"/>
          <p:cNvSpPr/>
          <p:nvPr/>
        </p:nvSpPr>
        <p:spPr>
          <a:xfrm>
            <a:off x="4617720" y="4023360"/>
            <a:ext cx="1874520" cy="566928"/>
          </a:xfrm>
          <a:prstGeom prst="roundRect">
            <a:avLst>
              <a:gd name="adj" fmla="val 12903"/>
            </a:avLst>
          </a:prstGeom>
          <a:solidFill>
            <a:srgbClr val="1B2742"/>
          </a:solidFill>
          <a:ln w="9525">
            <a:solidFill>
              <a:srgbClr val="2A3A5F"/>
            </a:solidFill>
            <a:prstDash val="solid"/>
          </a:ln>
        </p:spPr>
      </p:sp>
      <p:sp>
        <p:nvSpPr>
          <p:cNvPr id="46" name="Text 43"/>
          <p:cNvSpPr txBox="1"/>
          <p:nvPr/>
        </p:nvSpPr>
        <p:spPr>
          <a:xfrm>
            <a:off x="4709160" y="4059936"/>
            <a:ext cx="1691640" cy="219456"/>
          </a:xfrm>
          <a:prstGeom prst="rect">
            <a:avLst/>
          </a:prstGeom>
          <a:noFill/>
          <a:ln/>
        </p:spPr>
        <p:txBody>
          <a:bodyPr wrap="square" lIns="0" tIns="0" rIns="0" bIns="0"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Metrics Store</a:t>
            </a:r>
            <a:endParaRPr lang="en-US" sz="1100" dirty="0"/>
          </a:p>
        </p:txBody>
      </p:sp>
      <p:sp>
        <p:nvSpPr>
          <p:cNvPr id="47" name="Text 44"/>
          <p:cNvSpPr txBox="1"/>
          <p:nvPr/>
        </p:nvSpPr>
        <p:spPr>
          <a:xfrm>
            <a:off x="4709160" y="4297680"/>
            <a:ext cx="1691640" cy="219456"/>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PostgreSQL, replay log</a:t>
            </a:r>
            <a:endParaRPr lang="en-US" sz="950" dirty="0"/>
          </a:p>
        </p:txBody>
      </p:sp>
      <p:sp>
        <p:nvSpPr>
          <p:cNvPr id="48" name="Shape 45"/>
          <p:cNvSpPr/>
          <p:nvPr/>
        </p:nvSpPr>
        <p:spPr>
          <a:xfrm>
            <a:off x="6492240" y="4306824"/>
            <a:ext cx="137160" cy="0"/>
          </a:xfrm>
          <a:prstGeom prst="line">
            <a:avLst/>
          </a:prstGeom>
          <a:noFill/>
          <a:ln w="15875">
            <a:solidFill>
              <a:srgbClr val="94A3B8"/>
            </a:solidFill>
            <a:prstDash val="solid"/>
            <a:tailEnd type="triangle"/>
          </a:ln>
        </p:spPr>
      </p:sp>
      <p:sp>
        <p:nvSpPr>
          <p:cNvPr id="49" name="Shape 46"/>
          <p:cNvSpPr/>
          <p:nvPr/>
        </p:nvSpPr>
        <p:spPr>
          <a:xfrm>
            <a:off x="6629400" y="4023360"/>
            <a:ext cx="1874520" cy="566928"/>
          </a:xfrm>
          <a:prstGeom prst="roundRect">
            <a:avLst>
              <a:gd name="adj" fmla="val 12903"/>
            </a:avLst>
          </a:prstGeom>
          <a:solidFill>
            <a:srgbClr val="1B2742"/>
          </a:solidFill>
          <a:ln w="9525">
            <a:solidFill>
              <a:srgbClr val="2A3A5F"/>
            </a:solidFill>
            <a:prstDash val="solid"/>
          </a:ln>
        </p:spPr>
      </p:sp>
      <p:sp>
        <p:nvSpPr>
          <p:cNvPr id="50" name="Text 47"/>
          <p:cNvSpPr txBox="1"/>
          <p:nvPr/>
        </p:nvSpPr>
        <p:spPr>
          <a:xfrm>
            <a:off x="6720840" y="4059936"/>
            <a:ext cx="1691640" cy="219456"/>
          </a:xfrm>
          <a:prstGeom prst="rect">
            <a:avLst/>
          </a:prstGeom>
          <a:noFill/>
          <a:ln/>
        </p:spPr>
        <p:txBody>
          <a:bodyPr wrap="square" lIns="0" tIns="0" rIns="0" bIns="0"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Dashboard</a:t>
            </a:r>
            <a:endParaRPr lang="en-US" sz="1100" dirty="0"/>
          </a:p>
        </p:txBody>
      </p:sp>
      <p:sp>
        <p:nvSpPr>
          <p:cNvPr id="51" name="Text 48"/>
          <p:cNvSpPr txBox="1"/>
          <p:nvPr/>
        </p:nvSpPr>
        <p:spPr>
          <a:xfrm>
            <a:off x="6720840" y="4297680"/>
            <a:ext cx="1691640" cy="219456"/>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map, ghost halos, chaos lab</a:t>
            </a:r>
            <a:endParaRPr lang="en-US" sz="950" dirty="0"/>
          </a:p>
        </p:txBody>
      </p:sp>
      <p:sp>
        <p:nvSpPr>
          <p:cNvPr id="52" name="Shape 49"/>
          <p:cNvSpPr/>
          <p:nvPr/>
        </p:nvSpPr>
        <p:spPr>
          <a:xfrm>
            <a:off x="1531620" y="3730752"/>
            <a:ext cx="0" cy="292608"/>
          </a:xfrm>
          <a:prstGeom prst="line">
            <a:avLst/>
          </a:prstGeom>
          <a:noFill/>
          <a:ln w="15875">
            <a:solidFill>
              <a:srgbClr val="94A3B8"/>
            </a:solidFill>
            <a:prstDash val="dash"/>
            <a:tailEnd type="triangle"/>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13  ·  USER INTERFACE</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Dashboard: making the protocol visible</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457200" y="1325880"/>
            <a:ext cx="5760720" cy="3291840"/>
          </a:xfrm>
          <a:prstGeom prst="roundRect">
            <a:avLst>
              <a:gd name="adj" fmla="val 1667"/>
            </a:avLst>
          </a:prstGeom>
          <a:solidFill>
            <a:srgbClr val="131C31"/>
          </a:solidFill>
          <a:ln w="9525">
            <a:solidFill>
              <a:srgbClr val="3B4A6B"/>
            </a:solidFill>
            <a:prstDash val="solid"/>
          </a:ln>
        </p:spPr>
      </p:sp>
      <p:sp>
        <p:nvSpPr>
          <p:cNvPr id="8" name="Shape 5"/>
          <p:cNvSpPr/>
          <p:nvPr/>
        </p:nvSpPr>
        <p:spPr>
          <a:xfrm>
            <a:off x="457200" y="1325880"/>
            <a:ext cx="5760720" cy="292608"/>
          </a:xfrm>
          <a:prstGeom prst="rect">
            <a:avLst/>
          </a:prstGeom>
          <a:solidFill>
            <a:srgbClr val="1B2742"/>
          </a:solidFill>
          <a:ln w="9525">
            <a:solidFill>
              <a:srgbClr val="3B4A6B"/>
            </a:solidFill>
            <a:prstDash val="solid"/>
          </a:ln>
        </p:spPr>
      </p:sp>
      <p:sp>
        <p:nvSpPr>
          <p:cNvPr id="9" name="Text 6"/>
          <p:cNvSpPr txBox="1"/>
          <p:nvPr/>
        </p:nvSpPr>
        <p:spPr>
          <a:xfrm>
            <a:off x="594360" y="1325880"/>
            <a:ext cx="4114800" cy="292608"/>
          </a:xfrm>
          <a:prstGeom prst="rect">
            <a:avLst/>
          </a:prstGeom>
          <a:noFill/>
          <a:ln/>
        </p:spPr>
        <p:txBody>
          <a:bodyPr wrap="square" lIns="0" tIns="0" rIns="0" bIns="0" rtlCol="0" anchor="ctr"/>
          <a:lstStyle/>
          <a:p>
            <a:pPr indent="0" marL="0">
              <a:buNone/>
            </a:pPr>
            <a:r>
              <a:rPr lang="en-US" sz="900" b="1" spc="100" kern="0" dirty="0">
                <a:solidFill>
                  <a:srgbClr val="CBD5E1"/>
                </a:solidFill>
                <a:latin typeface="Calibri" pitchFamily="34" charset="0"/>
                <a:ea typeface="Calibri" pitchFamily="34" charset="-122"/>
                <a:cs typeface="Calibri" pitchFamily="34" charset="-120"/>
              </a:rPr>
              <a:t>MISSION CONTROL   ·   Scenario: demo   ·   t = 96 s</a:t>
            </a:r>
            <a:endParaRPr lang="en-US" sz="900" dirty="0"/>
          </a:p>
        </p:txBody>
      </p:sp>
      <p:sp>
        <p:nvSpPr>
          <p:cNvPr id="10" name="Shape 7"/>
          <p:cNvSpPr/>
          <p:nvPr/>
        </p:nvSpPr>
        <p:spPr>
          <a:xfrm>
            <a:off x="4572000" y="1380744"/>
            <a:ext cx="475488" cy="182880"/>
          </a:xfrm>
          <a:prstGeom prst="roundRect">
            <a:avLst>
              <a:gd name="adj" fmla="val 25000"/>
            </a:avLst>
          </a:prstGeom>
          <a:solidFill>
            <a:srgbClr val="0B1120"/>
          </a:solidFill>
          <a:ln w="9525">
            <a:solidFill>
              <a:srgbClr val="F87171"/>
            </a:solidFill>
            <a:prstDash val="solid"/>
          </a:ln>
        </p:spPr>
      </p:sp>
      <p:sp>
        <p:nvSpPr>
          <p:cNvPr id="11" name="Text 8"/>
          <p:cNvSpPr txBox="1"/>
          <p:nvPr/>
        </p:nvSpPr>
        <p:spPr>
          <a:xfrm>
            <a:off x="4572000" y="1380744"/>
            <a:ext cx="475488" cy="182880"/>
          </a:xfrm>
          <a:prstGeom prst="rect">
            <a:avLst/>
          </a:prstGeom>
          <a:noFill/>
          <a:ln/>
        </p:spPr>
        <p:txBody>
          <a:bodyPr wrap="square" lIns="0" tIns="0" rIns="0" bIns="0" rtlCol="0" anchor="ctr"/>
          <a:lstStyle/>
          <a:p>
            <a:pPr algn="ctr" indent="0" marL="0">
              <a:buNone/>
            </a:pPr>
            <a:r>
              <a:rPr lang="en-US" sz="800" dirty="0">
                <a:solidFill>
                  <a:srgbClr val="F87171"/>
                </a:solidFill>
                <a:latin typeface="Calibri" pitchFamily="34" charset="0"/>
                <a:ea typeface="Calibri" pitchFamily="34" charset="-122"/>
                <a:cs typeface="Calibri" pitchFamily="34" charset="-120"/>
              </a:rPr>
              <a:t>Cut</a:t>
            </a:r>
            <a:endParaRPr lang="en-US" sz="800" dirty="0"/>
          </a:p>
        </p:txBody>
      </p:sp>
      <p:sp>
        <p:nvSpPr>
          <p:cNvPr id="12" name="Shape 9"/>
          <p:cNvSpPr/>
          <p:nvPr/>
        </p:nvSpPr>
        <p:spPr>
          <a:xfrm>
            <a:off x="5120640" y="1380744"/>
            <a:ext cx="475488" cy="182880"/>
          </a:xfrm>
          <a:prstGeom prst="roundRect">
            <a:avLst>
              <a:gd name="adj" fmla="val 25000"/>
            </a:avLst>
          </a:prstGeom>
          <a:solidFill>
            <a:srgbClr val="0B1120"/>
          </a:solidFill>
          <a:ln w="9525">
            <a:solidFill>
              <a:srgbClr val="F87171"/>
            </a:solidFill>
            <a:prstDash val="solid"/>
          </a:ln>
        </p:spPr>
      </p:sp>
      <p:sp>
        <p:nvSpPr>
          <p:cNvPr id="13" name="Text 10"/>
          <p:cNvSpPr txBox="1"/>
          <p:nvPr/>
        </p:nvSpPr>
        <p:spPr>
          <a:xfrm>
            <a:off x="5120640" y="1380744"/>
            <a:ext cx="475488" cy="182880"/>
          </a:xfrm>
          <a:prstGeom prst="rect">
            <a:avLst/>
          </a:prstGeom>
          <a:noFill/>
          <a:ln/>
        </p:spPr>
        <p:txBody>
          <a:bodyPr wrap="square" lIns="0" tIns="0" rIns="0" bIns="0" rtlCol="0" anchor="ctr"/>
          <a:lstStyle/>
          <a:p>
            <a:pPr algn="ctr" indent="0" marL="0">
              <a:buNone/>
            </a:pPr>
            <a:r>
              <a:rPr lang="en-US" sz="800" dirty="0">
                <a:solidFill>
                  <a:srgbClr val="F87171"/>
                </a:solidFill>
                <a:latin typeface="Calibri" pitchFamily="34" charset="0"/>
                <a:ea typeface="Calibri" pitchFamily="34" charset="-122"/>
                <a:cs typeface="Calibri" pitchFamily="34" charset="-120"/>
              </a:rPr>
              <a:t>Kill</a:t>
            </a:r>
            <a:endParaRPr lang="en-US" sz="800" dirty="0"/>
          </a:p>
        </p:txBody>
      </p:sp>
      <p:sp>
        <p:nvSpPr>
          <p:cNvPr id="14" name="Shape 11"/>
          <p:cNvSpPr/>
          <p:nvPr/>
        </p:nvSpPr>
        <p:spPr>
          <a:xfrm>
            <a:off x="5669280" y="1380744"/>
            <a:ext cx="475488" cy="182880"/>
          </a:xfrm>
          <a:prstGeom prst="roundRect">
            <a:avLst>
              <a:gd name="adj" fmla="val 25000"/>
            </a:avLst>
          </a:prstGeom>
          <a:solidFill>
            <a:srgbClr val="0B1120"/>
          </a:solidFill>
          <a:ln w="9525">
            <a:solidFill>
              <a:srgbClr val="F87171"/>
            </a:solidFill>
            <a:prstDash val="solid"/>
          </a:ln>
        </p:spPr>
      </p:sp>
      <p:sp>
        <p:nvSpPr>
          <p:cNvPr id="15" name="Text 12"/>
          <p:cNvSpPr txBox="1"/>
          <p:nvPr/>
        </p:nvSpPr>
        <p:spPr>
          <a:xfrm>
            <a:off x="5669280" y="1380744"/>
            <a:ext cx="475488" cy="182880"/>
          </a:xfrm>
          <a:prstGeom prst="rect">
            <a:avLst/>
          </a:prstGeom>
          <a:noFill/>
          <a:ln/>
        </p:spPr>
        <p:txBody>
          <a:bodyPr wrap="square" lIns="0" tIns="0" rIns="0" bIns="0" rtlCol="0" anchor="ctr"/>
          <a:lstStyle/>
          <a:p>
            <a:pPr algn="ctr" indent="0" marL="0">
              <a:buNone/>
            </a:pPr>
            <a:r>
              <a:rPr lang="en-US" sz="800" dirty="0">
                <a:solidFill>
                  <a:srgbClr val="F87171"/>
                </a:solidFill>
                <a:latin typeface="Calibri" pitchFamily="34" charset="0"/>
                <a:ea typeface="Calibri" pitchFamily="34" charset="-122"/>
                <a:cs typeface="Calibri" pitchFamily="34" charset="-120"/>
              </a:rPr>
              <a:t>Liar</a:t>
            </a:r>
            <a:endParaRPr lang="en-US" sz="800" dirty="0"/>
          </a:p>
        </p:txBody>
      </p:sp>
      <p:sp>
        <p:nvSpPr>
          <p:cNvPr id="16" name="Shape 13"/>
          <p:cNvSpPr/>
          <p:nvPr/>
        </p:nvSpPr>
        <p:spPr>
          <a:xfrm>
            <a:off x="548640" y="1709928"/>
            <a:ext cx="3566160" cy="1828800"/>
          </a:xfrm>
          <a:prstGeom prst="rect">
            <a:avLst/>
          </a:prstGeom>
          <a:solidFill>
            <a:srgbClr val="0B1120"/>
          </a:solidFill>
          <a:ln w="9525">
            <a:solidFill>
              <a:srgbClr val="2A3A5F"/>
            </a:solidFill>
            <a:prstDash val="solid"/>
          </a:ln>
        </p:spPr>
      </p:sp>
      <p:sp>
        <p:nvSpPr>
          <p:cNvPr id="17" name="Text 14"/>
          <p:cNvSpPr txBox="1"/>
          <p:nvPr/>
        </p:nvSpPr>
        <p:spPr>
          <a:xfrm>
            <a:off x="777240" y="1755648"/>
            <a:ext cx="1371600" cy="164592"/>
          </a:xfrm>
          <a:prstGeom prst="rect">
            <a:avLst/>
          </a:prstGeom>
          <a:noFill/>
          <a:ln/>
        </p:spPr>
        <p:txBody>
          <a:bodyPr wrap="square" lIns="0" tIns="0" rIns="0" bIns="0" rtlCol="0" anchor="t"/>
          <a:lstStyle/>
          <a:p>
            <a:pPr indent="0" marL="0">
              <a:buNone/>
            </a:pPr>
            <a:r>
              <a:rPr lang="en-US" sz="800" b="1" spc="100" kern="0" dirty="0">
                <a:solidFill>
                  <a:srgbClr val="94A3B8"/>
                </a:solidFill>
                <a:latin typeface="Calibri" pitchFamily="34" charset="0"/>
                <a:ea typeface="Calibri" pitchFamily="34" charset="-122"/>
                <a:cs typeface="Calibri" pitchFamily="34" charset="-120"/>
              </a:rPr>
              <a:t>FLEET MAP</a:t>
            </a:r>
            <a:endParaRPr lang="en-US" sz="800" dirty="0"/>
          </a:p>
        </p:txBody>
      </p:sp>
      <p:sp>
        <p:nvSpPr>
          <p:cNvPr id="18" name="Shape 15"/>
          <p:cNvSpPr/>
          <p:nvPr/>
        </p:nvSpPr>
        <p:spPr>
          <a:xfrm>
            <a:off x="2331720" y="1783080"/>
            <a:ext cx="0" cy="1691640"/>
          </a:xfrm>
          <a:prstGeom prst="line">
            <a:avLst/>
          </a:prstGeom>
          <a:noFill/>
          <a:ln w="15875">
            <a:solidFill>
              <a:srgbClr val="F87171"/>
            </a:solidFill>
            <a:prstDash val="dash"/>
          </a:ln>
        </p:spPr>
      </p:sp>
      <p:sp>
        <p:nvSpPr>
          <p:cNvPr id="19" name="Shape 16"/>
          <p:cNvSpPr/>
          <p:nvPr/>
        </p:nvSpPr>
        <p:spPr>
          <a:xfrm>
            <a:off x="2743200" y="1920240"/>
            <a:ext cx="822960" cy="822960"/>
          </a:xfrm>
          <a:prstGeom prst="ellipse">
            <a:avLst/>
          </a:prstGeom>
          <a:solidFill>
            <a:srgbClr val="2DD4BF">
              <a:alpha val="15000"/>
            </a:srgbClr>
          </a:solidFill>
          <a:ln w="12700">
            <a:solidFill>
              <a:srgbClr val="2DD4BF"/>
            </a:solidFill>
            <a:prstDash val="dash"/>
          </a:ln>
        </p:spPr>
      </p:sp>
      <p:sp>
        <p:nvSpPr>
          <p:cNvPr id="20" name="Shape 17"/>
          <p:cNvSpPr/>
          <p:nvPr/>
        </p:nvSpPr>
        <p:spPr>
          <a:xfrm flipV="1">
            <a:off x="1005840" y="2057400"/>
            <a:ext cx="640080" cy="320040"/>
          </a:xfrm>
          <a:prstGeom prst="line">
            <a:avLst/>
          </a:prstGeom>
          <a:noFill/>
          <a:ln w="12700">
            <a:solidFill>
              <a:srgbClr val="3B4A6B"/>
            </a:solidFill>
            <a:prstDash val="solid"/>
          </a:ln>
        </p:spPr>
      </p:sp>
      <p:sp>
        <p:nvSpPr>
          <p:cNvPr id="21" name="Shape 18"/>
          <p:cNvSpPr/>
          <p:nvPr/>
        </p:nvSpPr>
        <p:spPr>
          <a:xfrm>
            <a:off x="1645920" y="2057400"/>
            <a:ext cx="274320" cy="960120"/>
          </a:xfrm>
          <a:prstGeom prst="line">
            <a:avLst/>
          </a:prstGeom>
          <a:noFill/>
          <a:ln w="12700">
            <a:solidFill>
              <a:srgbClr val="3B4A6B"/>
            </a:solidFill>
            <a:prstDash val="solid"/>
          </a:ln>
        </p:spPr>
      </p:sp>
      <p:sp>
        <p:nvSpPr>
          <p:cNvPr id="22" name="Shape 19"/>
          <p:cNvSpPr/>
          <p:nvPr/>
        </p:nvSpPr>
        <p:spPr>
          <a:xfrm>
            <a:off x="3154680" y="2331720"/>
            <a:ext cx="411480" cy="777240"/>
          </a:xfrm>
          <a:prstGeom prst="line">
            <a:avLst/>
          </a:prstGeom>
          <a:noFill/>
          <a:ln w="12700">
            <a:solidFill>
              <a:srgbClr val="3B4A6B"/>
            </a:solidFill>
            <a:prstDash val="solid"/>
          </a:ln>
        </p:spPr>
      </p:sp>
      <p:sp>
        <p:nvSpPr>
          <p:cNvPr id="23" name="Shape 20"/>
          <p:cNvSpPr/>
          <p:nvPr/>
        </p:nvSpPr>
        <p:spPr>
          <a:xfrm>
            <a:off x="914400" y="2286000"/>
            <a:ext cx="182880" cy="182880"/>
          </a:xfrm>
          <a:prstGeom prst="ellipse">
            <a:avLst/>
          </a:prstGeom>
          <a:solidFill>
            <a:srgbClr val="FBBF24"/>
          </a:solidFill>
          <a:ln w="12700">
            <a:solidFill>
              <a:srgbClr val="0B1120"/>
            </a:solidFill>
            <a:prstDash val="solid"/>
          </a:ln>
        </p:spPr>
      </p:sp>
      <p:sp>
        <p:nvSpPr>
          <p:cNvPr id="24" name="Shape 21"/>
          <p:cNvSpPr/>
          <p:nvPr/>
        </p:nvSpPr>
        <p:spPr>
          <a:xfrm>
            <a:off x="1554480" y="1965960"/>
            <a:ext cx="182880" cy="182880"/>
          </a:xfrm>
          <a:prstGeom prst="ellipse">
            <a:avLst/>
          </a:prstGeom>
          <a:solidFill>
            <a:srgbClr val="FBBF24"/>
          </a:solidFill>
          <a:ln w="12700">
            <a:solidFill>
              <a:srgbClr val="0B1120"/>
            </a:solidFill>
            <a:prstDash val="solid"/>
          </a:ln>
        </p:spPr>
      </p:sp>
      <p:sp>
        <p:nvSpPr>
          <p:cNvPr id="25" name="Shape 22"/>
          <p:cNvSpPr/>
          <p:nvPr/>
        </p:nvSpPr>
        <p:spPr>
          <a:xfrm>
            <a:off x="1828800" y="2926080"/>
            <a:ext cx="182880" cy="182880"/>
          </a:xfrm>
          <a:prstGeom prst="ellipse">
            <a:avLst/>
          </a:prstGeom>
          <a:solidFill>
            <a:srgbClr val="FBBF24"/>
          </a:solidFill>
          <a:ln w="12700">
            <a:solidFill>
              <a:srgbClr val="0B1120"/>
            </a:solidFill>
            <a:prstDash val="solid"/>
          </a:ln>
        </p:spPr>
      </p:sp>
      <p:sp>
        <p:nvSpPr>
          <p:cNvPr id="26" name="Shape 23"/>
          <p:cNvSpPr/>
          <p:nvPr/>
        </p:nvSpPr>
        <p:spPr>
          <a:xfrm>
            <a:off x="3063240" y="2240280"/>
            <a:ext cx="182880" cy="182880"/>
          </a:xfrm>
          <a:prstGeom prst="ellipse">
            <a:avLst/>
          </a:prstGeom>
          <a:solidFill>
            <a:srgbClr val="2DD4BF"/>
          </a:solidFill>
          <a:ln w="12700">
            <a:solidFill>
              <a:srgbClr val="0B1120"/>
            </a:solidFill>
            <a:prstDash val="solid"/>
          </a:ln>
        </p:spPr>
      </p:sp>
      <p:sp>
        <p:nvSpPr>
          <p:cNvPr id="27" name="Shape 24"/>
          <p:cNvSpPr/>
          <p:nvPr/>
        </p:nvSpPr>
        <p:spPr>
          <a:xfrm>
            <a:off x="3474720" y="3017520"/>
            <a:ext cx="182880" cy="182880"/>
          </a:xfrm>
          <a:prstGeom prst="ellipse">
            <a:avLst/>
          </a:prstGeom>
          <a:solidFill>
            <a:srgbClr val="2DD4BF"/>
          </a:solidFill>
          <a:ln w="12700">
            <a:solidFill>
              <a:srgbClr val="0B1120"/>
            </a:solidFill>
            <a:prstDash val="solid"/>
          </a:ln>
        </p:spPr>
      </p:sp>
      <p:sp>
        <p:nvSpPr>
          <p:cNvPr id="28" name="Text 25"/>
          <p:cNvSpPr txBox="1"/>
          <p:nvPr/>
        </p:nvSpPr>
        <p:spPr>
          <a:xfrm>
            <a:off x="2788920" y="2770632"/>
            <a:ext cx="731520" cy="164592"/>
          </a:xfrm>
          <a:prstGeom prst="rect">
            <a:avLst/>
          </a:prstGeom>
          <a:noFill/>
          <a:ln/>
        </p:spPr>
        <p:txBody>
          <a:bodyPr wrap="square" lIns="0" tIns="0" rIns="0" bIns="0" rtlCol="0" anchor="t"/>
          <a:lstStyle/>
          <a:p>
            <a:pPr algn="ctr" indent="0" marL="0">
              <a:buNone/>
            </a:pPr>
            <a:r>
              <a:rPr lang="en-US" sz="800" dirty="0">
                <a:solidFill>
                  <a:srgbClr val="2DD4BF"/>
                </a:solidFill>
                <a:latin typeface="Calibri" pitchFamily="34" charset="0"/>
                <a:ea typeface="Calibri" pitchFamily="34" charset="-122"/>
                <a:cs typeface="Calibri" pitchFamily="34" charset="-120"/>
              </a:rPr>
              <a:t>ghost</a:t>
            </a:r>
            <a:endParaRPr lang="en-US" sz="800" dirty="0"/>
          </a:p>
        </p:txBody>
      </p:sp>
      <p:sp>
        <p:nvSpPr>
          <p:cNvPr id="29" name="Shape 26"/>
          <p:cNvSpPr/>
          <p:nvPr/>
        </p:nvSpPr>
        <p:spPr>
          <a:xfrm>
            <a:off x="2587752" y="1764792"/>
            <a:ext cx="128016" cy="128016"/>
          </a:xfrm>
          <a:prstGeom prst="rect">
            <a:avLst/>
          </a:prstGeom>
          <a:solidFill>
            <a:srgbClr val="0B1120"/>
          </a:solidFill>
          <a:ln w="15875">
            <a:solidFill>
              <a:srgbClr val="FBBF24"/>
            </a:solidFill>
            <a:prstDash val="solid"/>
          </a:ln>
        </p:spPr>
      </p:sp>
      <p:sp>
        <p:nvSpPr>
          <p:cNvPr id="30" name="Shape 27"/>
          <p:cNvSpPr/>
          <p:nvPr/>
        </p:nvSpPr>
        <p:spPr>
          <a:xfrm>
            <a:off x="1216152" y="3182112"/>
            <a:ext cx="128016" cy="128016"/>
          </a:xfrm>
          <a:prstGeom prst="rect">
            <a:avLst/>
          </a:prstGeom>
          <a:solidFill>
            <a:srgbClr val="0B1120"/>
          </a:solidFill>
          <a:ln w="15875">
            <a:solidFill>
              <a:srgbClr val="FBBF24"/>
            </a:solidFill>
            <a:prstDash val="solid"/>
          </a:ln>
        </p:spPr>
      </p:sp>
      <p:sp>
        <p:nvSpPr>
          <p:cNvPr id="31" name="Shape 28"/>
          <p:cNvSpPr/>
          <p:nvPr/>
        </p:nvSpPr>
        <p:spPr>
          <a:xfrm>
            <a:off x="4206240" y="1709928"/>
            <a:ext cx="1920240" cy="1828800"/>
          </a:xfrm>
          <a:prstGeom prst="rect">
            <a:avLst/>
          </a:prstGeom>
          <a:solidFill>
            <a:srgbClr val="0B1120"/>
          </a:solidFill>
          <a:ln w="9525">
            <a:solidFill>
              <a:srgbClr val="2A3A5F"/>
            </a:solidFill>
            <a:prstDash val="solid"/>
          </a:ln>
        </p:spPr>
      </p:sp>
      <p:sp>
        <p:nvSpPr>
          <p:cNvPr id="32" name="Text 29"/>
          <p:cNvSpPr txBox="1"/>
          <p:nvPr/>
        </p:nvSpPr>
        <p:spPr>
          <a:xfrm>
            <a:off x="4434840" y="1755648"/>
            <a:ext cx="1371600" cy="164592"/>
          </a:xfrm>
          <a:prstGeom prst="rect">
            <a:avLst/>
          </a:prstGeom>
          <a:noFill/>
          <a:ln/>
        </p:spPr>
        <p:txBody>
          <a:bodyPr wrap="square" lIns="0" tIns="0" rIns="0" bIns="0" rtlCol="0" anchor="t"/>
          <a:lstStyle/>
          <a:p>
            <a:pPr indent="0" marL="0">
              <a:buNone/>
            </a:pPr>
            <a:r>
              <a:rPr lang="en-US" sz="800" b="1" spc="100" kern="0" dirty="0">
                <a:solidFill>
                  <a:srgbClr val="94A3B8"/>
                </a:solidFill>
                <a:latin typeface="Calibri" pitchFamily="34" charset="0"/>
                <a:ea typeface="Calibri" pitchFamily="34" charset="-122"/>
                <a:cs typeface="Calibri" pitchFamily="34" charset="-120"/>
              </a:rPr>
              <a:t>ROBOTS</a:t>
            </a:r>
            <a:endParaRPr lang="en-US" sz="800" dirty="0"/>
          </a:p>
        </p:txBody>
      </p:sp>
      <p:sp>
        <p:nvSpPr>
          <p:cNvPr id="33" name="Text 30"/>
          <p:cNvSpPr txBox="1"/>
          <p:nvPr/>
        </p:nvSpPr>
        <p:spPr>
          <a:xfrm>
            <a:off x="4297680" y="2011680"/>
            <a:ext cx="274320" cy="146304"/>
          </a:xfrm>
          <a:prstGeom prst="rect">
            <a:avLst/>
          </a:prstGeom>
          <a:noFill/>
          <a:ln/>
        </p:spPr>
        <p:txBody>
          <a:bodyPr wrap="square" lIns="0" tIns="0" rIns="0" bIns="0" rtlCol="0" anchor="t"/>
          <a:lstStyle/>
          <a:p>
            <a:pPr indent="0" marL="0">
              <a:buNone/>
            </a:pPr>
            <a:r>
              <a:rPr lang="en-US" sz="900" b="1" dirty="0">
                <a:solidFill>
                  <a:srgbClr val="CBD5E1"/>
                </a:solidFill>
                <a:latin typeface="Calibri" pitchFamily="34" charset="0"/>
                <a:ea typeface="Calibri" pitchFamily="34" charset="-122"/>
                <a:cs typeface="Calibri" pitchFamily="34" charset="-120"/>
              </a:rPr>
              <a:t>R1</a:t>
            </a:r>
            <a:endParaRPr lang="en-US" sz="900" dirty="0"/>
          </a:p>
        </p:txBody>
      </p:sp>
      <p:sp>
        <p:nvSpPr>
          <p:cNvPr id="34" name="Shape 31"/>
          <p:cNvSpPr/>
          <p:nvPr/>
        </p:nvSpPr>
        <p:spPr>
          <a:xfrm>
            <a:off x="4617720" y="2029968"/>
            <a:ext cx="640080" cy="100584"/>
          </a:xfrm>
          <a:prstGeom prst="rect">
            <a:avLst/>
          </a:prstGeom>
          <a:solidFill>
            <a:srgbClr val="0B1120"/>
          </a:solidFill>
          <a:ln w="9525">
            <a:solidFill>
              <a:srgbClr val="3B4A6B"/>
            </a:solidFill>
            <a:prstDash val="solid"/>
          </a:ln>
        </p:spPr>
      </p:sp>
      <p:sp>
        <p:nvSpPr>
          <p:cNvPr id="35" name="Shape 32"/>
          <p:cNvSpPr/>
          <p:nvPr/>
        </p:nvSpPr>
        <p:spPr>
          <a:xfrm>
            <a:off x="4617720" y="2029968"/>
            <a:ext cx="512064" cy="100584"/>
          </a:xfrm>
          <a:prstGeom prst="rect">
            <a:avLst/>
          </a:prstGeom>
          <a:solidFill>
            <a:srgbClr val="2DD4BF"/>
          </a:solidFill>
          <a:ln w="12700">
            <a:solidFill>
              <a:srgbClr val="2DD4BF"/>
            </a:solidFill>
            <a:prstDash val="solid"/>
          </a:ln>
        </p:spPr>
      </p:sp>
      <p:sp>
        <p:nvSpPr>
          <p:cNvPr id="36" name="Text 33"/>
          <p:cNvSpPr txBox="1"/>
          <p:nvPr/>
        </p:nvSpPr>
        <p:spPr>
          <a:xfrm>
            <a:off x="5321808" y="2002536"/>
            <a:ext cx="777240" cy="164592"/>
          </a:xfrm>
          <a:prstGeom prst="rect">
            <a:avLst/>
          </a:prstGeom>
          <a:noFill/>
          <a:ln/>
        </p:spPr>
        <p:txBody>
          <a:bodyPr wrap="square" lIns="0" tIns="0" rIns="0" bIns="0" rtlCol="0" anchor="t"/>
          <a:lstStyle/>
          <a:p>
            <a:pPr indent="0" marL="0">
              <a:buNone/>
            </a:pPr>
            <a:r>
              <a:rPr lang="en-US" sz="750" dirty="0">
                <a:solidFill>
                  <a:srgbClr val="94A3B8"/>
                </a:solidFill>
                <a:latin typeface="Calibri" pitchFamily="34" charset="0"/>
                <a:ea typeface="Calibri" pitchFamily="34" charset="-122"/>
                <a:cs typeface="Calibri" pitchFamily="34" charset="-120"/>
              </a:rPr>
              <a:t>going</a:t>
            </a:r>
            <a:endParaRPr lang="en-US" sz="750" dirty="0"/>
          </a:p>
        </p:txBody>
      </p:sp>
      <p:sp>
        <p:nvSpPr>
          <p:cNvPr id="37" name="Text 34"/>
          <p:cNvSpPr txBox="1"/>
          <p:nvPr/>
        </p:nvSpPr>
        <p:spPr>
          <a:xfrm>
            <a:off x="4297680" y="2377440"/>
            <a:ext cx="274320" cy="146304"/>
          </a:xfrm>
          <a:prstGeom prst="rect">
            <a:avLst/>
          </a:prstGeom>
          <a:noFill/>
          <a:ln/>
        </p:spPr>
        <p:txBody>
          <a:bodyPr wrap="square" lIns="0" tIns="0" rIns="0" bIns="0" rtlCol="0" anchor="t"/>
          <a:lstStyle/>
          <a:p>
            <a:pPr indent="0" marL="0">
              <a:buNone/>
            </a:pPr>
            <a:r>
              <a:rPr lang="en-US" sz="900" b="1" dirty="0">
                <a:solidFill>
                  <a:srgbClr val="CBD5E1"/>
                </a:solidFill>
                <a:latin typeface="Calibri" pitchFamily="34" charset="0"/>
                <a:ea typeface="Calibri" pitchFamily="34" charset="-122"/>
                <a:cs typeface="Calibri" pitchFamily="34" charset="-120"/>
              </a:rPr>
              <a:t>R2</a:t>
            </a:r>
            <a:endParaRPr lang="en-US" sz="900" dirty="0"/>
          </a:p>
        </p:txBody>
      </p:sp>
      <p:sp>
        <p:nvSpPr>
          <p:cNvPr id="38" name="Shape 35"/>
          <p:cNvSpPr/>
          <p:nvPr/>
        </p:nvSpPr>
        <p:spPr>
          <a:xfrm>
            <a:off x="4617720" y="2395728"/>
            <a:ext cx="640080" cy="100584"/>
          </a:xfrm>
          <a:prstGeom prst="rect">
            <a:avLst/>
          </a:prstGeom>
          <a:solidFill>
            <a:srgbClr val="0B1120"/>
          </a:solidFill>
          <a:ln w="9525">
            <a:solidFill>
              <a:srgbClr val="3B4A6B"/>
            </a:solidFill>
            <a:prstDash val="solid"/>
          </a:ln>
        </p:spPr>
      </p:sp>
      <p:sp>
        <p:nvSpPr>
          <p:cNvPr id="39" name="Shape 36"/>
          <p:cNvSpPr/>
          <p:nvPr/>
        </p:nvSpPr>
        <p:spPr>
          <a:xfrm>
            <a:off x="4617720" y="2395728"/>
            <a:ext cx="352044" cy="100584"/>
          </a:xfrm>
          <a:prstGeom prst="rect">
            <a:avLst/>
          </a:prstGeom>
          <a:solidFill>
            <a:srgbClr val="2DD4BF"/>
          </a:solidFill>
          <a:ln w="12700">
            <a:solidFill>
              <a:srgbClr val="2DD4BF"/>
            </a:solidFill>
            <a:prstDash val="solid"/>
          </a:ln>
        </p:spPr>
      </p:sp>
      <p:sp>
        <p:nvSpPr>
          <p:cNvPr id="40" name="Text 37"/>
          <p:cNvSpPr txBox="1"/>
          <p:nvPr/>
        </p:nvSpPr>
        <p:spPr>
          <a:xfrm>
            <a:off x="5321808" y="2368296"/>
            <a:ext cx="777240" cy="164592"/>
          </a:xfrm>
          <a:prstGeom prst="rect">
            <a:avLst/>
          </a:prstGeom>
          <a:noFill/>
          <a:ln/>
        </p:spPr>
        <p:txBody>
          <a:bodyPr wrap="square" lIns="0" tIns="0" rIns="0" bIns="0" rtlCol="0" anchor="t"/>
          <a:lstStyle/>
          <a:p>
            <a:pPr indent="0" marL="0">
              <a:buNone/>
            </a:pPr>
            <a:r>
              <a:rPr lang="en-US" sz="750" dirty="0">
                <a:solidFill>
                  <a:srgbClr val="94A3B8"/>
                </a:solidFill>
                <a:latin typeface="Calibri" pitchFamily="34" charset="0"/>
                <a:ea typeface="Calibri" pitchFamily="34" charset="-122"/>
                <a:cs typeface="Calibri" pitchFamily="34" charset="-120"/>
              </a:rPr>
              <a:t>working</a:t>
            </a:r>
            <a:endParaRPr lang="en-US" sz="750" dirty="0"/>
          </a:p>
        </p:txBody>
      </p:sp>
      <p:sp>
        <p:nvSpPr>
          <p:cNvPr id="41" name="Text 38"/>
          <p:cNvSpPr txBox="1"/>
          <p:nvPr/>
        </p:nvSpPr>
        <p:spPr>
          <a:xfrm>
            <a:off x="4297680" y="2743200"/>
            <a:ext cx="274320" cy="146304"/>
          </a:xfrm>
          <a:prstGeom prst="rect">
            <a:avLst/>
          </a:prstGeom>
          <a:noFill/>
          <a:ln/>
        </p:spPr>
        <p:txBody>
          <a:bodyPr wrap="square" lIns="0" tIns="0" rIns="0" bIns="0" rtlCol="0" anchor="t"/>
          <a:lstStyle/>
          <a:p>
            <a:pPr indent="0" marL="0">
              <a:buNone/>
            </a:pPr>
            <a:r>
              <a:rPr lang="en-US" sz="900" b="1" dirty="0">
                <a:solidFill>
                  <a:srgbClr val="CBD5E1"/>
                </a:solidFill>
                <a:latin typeface="Calibri" pitchFamily="34" charset="0"/>
                <a:ea typeface="Calibri" pitchFamily="34" charset="-122"/>
                <a:cs typeface="Calibri" pitchFamily="34" charset="-120"/>
              </a:rPr>
              <a:t>R3</a:t>
            </a:r>
            <a:endParaRPr lang="en-US" sz="900" dirty="0"/>
          </a:p>
        </p:txBody>
      </p:sp>
      <p:sp>
        <p:nvSpPr>
          <p:cNvPr id="42" name="Shape 39"/>
          <p:cNvSpPr/>
          <p:nvPr/>
        </p:nvSpPr>
        <p:spPr>
          <a:xfrm>
            <a:off x="4617720" y="2761488"/>
            <a:ext cx="640080" cy="100584"/>
          </a:xfrm>
          <a:prstGeom prst="rect">
            <a:avLst/>
          </a:prstGeom>
          <a:solidFill>
            <a:srgbClr val="0B1120"/>
          </a:solidFill>
          <a:ln w="9525">
            <a:solidFill>
              <a:srgbClr val="3B4A6B"/>
            </a:solidFill>
            <a:prstDash val="solid"/>
          </a:ln>
        </p:spPr>
      </p:sp>
      <p:sp>
        <p:nvSpPr>
          <p:cNvPr id="43" name="Shape 40"/>
          <p:cNvSpPr/>
          <p:nvPr/>
        </p:nvSpPr>
        <p:spPr>
          <a:xfrm>
            <a:off x="4617720" y="2761488"/>
            <a:ext cx="192024" cy="100584"/>
          </a:xfrm>
          <a:prstGeom prst="rect">
            <a:avLst/>
          </a:prstGeom>
          <a:solidFill>
            <a:srgbClr val="2DD4BF"/>
          </a:solidFill>
          <a:ln w="12700">
            <a:solidFill>
              <a:srgbClr val="2DD4BF"/>
            </a:solidFill>
            <a:prstDash val="solid"/>
          </a:ln>
        </p:spPr>
      </p:sp>
      <p:sp>
        <p:nvSpPr>
          <p:cNvPr id="44" name="Text 41"/>
          <p:cNvSpPr txBox="1"/>
          <p:nvPr/>
        </p:nvSpPr>
        <p:spPr>
          <a:xfrm>
            <a:off x="5321808" y="2734056"/>
            <a:ext cx="777240" cy="164592"/>
          </a:xfrm>
          <a:prstGeom prst="rect">
            <a:avLst/>
          </a:prstGeom>
          <a:noFill/>
          <a:ln/>
        </p:spPr>
        <p:txBody>
          <a:bodyPr wrap="square" lIns="0" tIns="0" rIns="0" bIns="0" rtlCol="0" anchor="t"/>
          <a:lstStyle/>
          <a:p>
            <a:pPr indent="0" marL="0">
              <a:buNone/>
            </a:pPr>
            <a:r>
              <a:rPr lang="en-US" sz="750" b="1" dirty="0">
                <a:solidFill>
                  <a:srgbClr val="F87171"/>
                </a:solidFill>
                <a:latin typeface="Calibri" pitchFamily="34" charset="0"/>
                <a:ea typeface="Calibri" pitchFamily="34" charset="-122"/>
                <a:cs typeface="Calibri" pitchFamily="34" charset="-120"/>
              </a:rPr>
              <a:t>QUARANTINED</a:t>
            </a:r>
            <a:endParaRPr lang="en-US" sz="750" dirty="0"/>
          </a:p>
        </p:txBody>
      </p:sp>
      <p:sp>
        <p:nvSpPr>
          <p:cNvPr id="45" name="Text 42"/>
          <p:cNvSpPr txBox="1"/>
          <p:nvPr/>
        </p:nvSpPr>
        <p:spPr>
          <a:xfrm>
            <a:off x="4297680" y="3108960"/>
            <a:ext cx="274320" cy="146304"/>
          </a:xfrm>
          <a:prstGeom prst="rect">
            <a:avLst/>
          </a:prstGeom>
          <a:noFill/>
          <a:ln/>
        </p:spPr>
        <p:txBody>
          <a:bodyPr wrap="square" lIns="0" tIns="0" rIns="0" bIns="0" rtlCol="0" anchor="t"/>
          <a:lstStyle/>
          <a:p>
            <a:pPr indent="0" marL="0">
              <a:buNone/>
            </a:pPr>
            <a:r>
              <a:rPr lang="en-US" sz="900" b="1" dirty="0">
                <a:solidFill>
                  <a:srgbClr val="CBD5E1"/>
                </a:solidFill>
                <a:latin typeface="Calibri" pitchFamily="34" charset="0"/>
                <a:ea typeface="Calibri" pitchFamily="34" charset="-122"/>
                <a:cs typeface="Calibri" pitchFamily="34" charset="-120"/>
              </a:rPr>
              <a:t>R4</a:t>
            </a:r>
            <a:endParaRPr lang="en-US" sz="900" dirty="0"/>
          </a:p>
        </p:txBody>
      </p:sp>
      <p:sp>
        <p:nvSpPr>
          <p:cNvPr id="46" name="Shape 43"/>
          <p:cNvSpPr/>
          <p:nvPr/>
        </p:nvSpPr>
        <p:spPr>
          <a:xfrm>
            <a:off x="4617720" y="3127248"/>
            <a:ext cx="640080" cy="100584"/>
          </a:xfrm>
          <a:prstGeom prst="rect">
            <a:avLst/>
          </a:prstGeom>
          <a:solidFill>
            <a:srgbClr val="0B1120"/>
          </a:solidFill>
          <a:ln w="9525">
            <a:solidFill>
              <a:srgbClr val="3B4A6B"/>
            </a:solidFill>
            <a:prstDash val="solid"/>
          </a:ln>
        </p:spPr>
      </p:sp>
      <p:sp>
        <p:nvSpPr>
          <p:cNvPr id="47" name="Shape 44"/>
          <p:cNvSpPr/>
          <p:nvPr/>
        </p:nvSpPr>
        <p:spPr>
          <a:xfrm>
            <a:off x="4617720" y="3127248"/>
            <a:ext cx="576072" cy="100584"/>
          </a:xfrm>
          <a:prstGeom prst="rect">
            <a:avLst/>
          </a:prstGeom>
          <a:solidFill>
            <a:srgbClr val="2DD4BF"/>
          </a:solidFill>
          <a:ln w="12700">
            <a:solidFill>
              <a:srgbClr val="2DD4BF"/>
            </a:solidFill>
            <a:prstDash val="solid"/>
          </a:ln>
        </p:spPr>
      </p:sp>
      <p:sp>
        <p:nvSpPr>
          <p:cNvPr id="48" name="Text 45"/>
          <p:cNvSpPr txBox="1"/>
          <p:nvPr/>
        </p:nvSpPr>
        <p:spPr>
          <a:xfrm>
            <a:off x="5321808" y="3099816"/>
            <a:ext cx="777240" cy="164592"/>
          </a:xfrm>
          <a:prstGeom prst="rect">
            <a:avLst/>
          </a:prstGeom>
          <a:noFill/>
          <a:ln/>
        </p:spPr>
        <p:txBody>
          <a:bodyPr wrap="square" lIns="0" tIns="0" rIns="0" bIns="0" rtlCol="0" anchor="t"/>
          <a:lstStyle/>
          <a:p>
            <a:pPr indent="0" marL="0">
              <a:buNone/>
            </a:pPr>
            <a:r>
              <a:rPr lang="en-US" sz="750" dirty="0">
                <a:solidFill>
                  <a:srgbClr val="94A3B8"/>
                </a:solidFill>
                <a:latin typeface="Calibri" pitchFamily="34" charset="0"/>
                <a:ea typeface="Calibri" pitchFamily="34" charset="-122"/>
                <a:cs typeface="Calibri" pitchFamily="34" charset="-120"/>
              </a:rPr>
              <a:t>ghost</a:t>
            </a:r>
            <a:endParaRPr lang="en-US" sz="750" dirty="0"/>
          </a:p>
        </p:txBody>
      </p:sp>
      <p:sp>
        <p:nvSpPr>
          <p:cNvPr id="49" name="Shape 46"/>
          <p:cNvSpPr/>
          <p:nvPr/>
        </p:nvSpPr>
        <p:spPr>
          <a:xfrm>
            <a:off x="548640" y="3630168"/>
            <a:ext cx="3566160" cy="914400"/>
          </a:xfrm>
          <a:prstGeom prst="rect">
            <a:avLst/>
          </a:prstGeom>
          <a:solidFill>
            <a:srgbClr val="0B1120"/>
          </a:solidFill>
          <a:ln w="9525">
            <a:solidFill>
              <a:srgbClr val="2A3A5F"/>
            </a:solidFill>
            <a:prstDash val="solid"/>
          </a:ln>
        </p:spPr>
      </p:sp>
      <p:sp>
        <p:nvSpPr>
          <p:cNvPr id="50" name="Text 47"/>
          <p:cNvSpPr txBox="1"/>
          <p:nvPr/>
        </p:nvSpPr>
        <p:spPr>
          <a:xfrm>
            <a:off x="777240" y="3675888"/>
            <a:ext cx="1371600" cy="164592"/>
          </a:xfrm>
          <a:prstGeom prst="rect">
            <a:avLst/>
          </a:prstGeom>
          <a:noFill/>
          <a:ln/>
        </p:spPr>
        <p:txBody>
          <a:bodyPr wrap="square" lIns="0" tIns="0" rIns="0" bIns="0" rtlCol="0" anchor="t"/>
          <a:lstStyle/>
          <a:p>
            <a:pPr indent="0" marL="0">
              <a:buNone/>
            </a:pPr>
            <a:r>
              <a:rPr lang="en-US" sz="800" b="1" spc="100" kern="0" dirty="0">
                <a:solidFill>
                  <a:srgbClr val="94A3B8"/>
                </a:solidFill>
                <a:latin typeface="Calibri" pitchFamily="34" charset="0"/>
                <a:ea typeface="Calibri" pitchFamily="34" charset="-122"/>
                <a:cs typeface="Calibri" pitchFamily="34" charset="-120"/>
              </a:rPr>
              <a:t>AUCTION LOG</a:t>
            </a:r>
            <a:endParaRPr lang="en-US" sz="800" dirty="0"/>
          </a:p>
        </p:txBody>
      </p:sp>
      <p:sp>
        <p:nvSpPr>
          <p:cNvPr id="51" name="Text 48"/>
          <p:cNvSpPr txBox="1"/>
          <p:nvPr/>
        </p:nvSpPr>
        <p:spPr>
          <a:xfrm>
            <a:off x="640080" y="3886200"/>
            <a:ext cx="3429000" cy="182880"/>
          </a:xfrm>
          <a:prstGeom prst="rect">
            <a:avLst/>
          </a:prstGeom>
          <a:noFill/>
          <a:ln/>
        </p:spPr>
        <p:txBody>
          <a:bodyPr wrap="square" lIns="0" tIns="0" rIns="0" bIns="0" rtlCol="0" anchor="t"/>
          <a:lstStyle/>
          <a:p>
            <a:pPr indent="0" marL="0">
              <a:buNone/>
            </a:pPr>
            <a:r>
              <a:rPr lang="en-US" sz="850" dirty="0">
                <a:solidFill>
                  <a:srgbClr val="CBD5E1"/>
                </a:solidFill>
                <a:latin typeface="Courier New" pitchFamily="34" charset="0"/>
                <a:ea typeface="Courier New" pitchFamily="34" charset="-122"/>
                <a:cs typeface="Courier New" pitchFamily="34" charset="-120"/>
              </a:rPr>
              <a:t>t=91.2  T7 open; ghost R6 regret 0.30</a:t>
            </a:r>
            <a:endParaRPr lang="en-US" sz="850" dirty="0"/>
          </a:p>
        </p:txBody>
      </p:sp>
      <p:sp>
        <p:nvSpPr>
          <p:cNvPr id="52" name="Text 49"/>
          <p:cNvSpPr txBox="1"/>
          <p:nvPr/>
        </p:nvSpPr>
        <p:spPr>
          <a:xfrm>
            <a:off x="640080" y="4087368"/>
            <a:ext cx="3429000" cy="182880"/>
          </a:xfrm>
          <a:prstGeom prst="rect">
            <a:avLst/>
          </a:prstGeom>
          <a:noFill/>
          <a:ln/>
        </p:spPr>
        <p:txBody>
          <a:bodyPr wrap="square" lIns="0" tIns="0" rIns="0" bIns="0" rtlCol="0" anchor="t"/>
          <a:lstStyle/>
          <a:p>
            <a:pPr indent="0" marL="0">
              <a:buNone/>
            </a:pPr>
            <a:r>
              <a:rPr lang="en-US" sz="850" dirty="0">
                <a:solidFill>
                  <a:srgbClr val="CBD5E1"/>
                </a:solidFill>
                <a:latin typeface="Courier New" pitchFamily="34" charset="0"/>
                <a:ea typeface="Courier New" pitchFamily="34" charset="-122"/>
                <a:cs typeface="Courier New" pitchFamily="34" charset="-120"/>
              </a:rPr>
              <a:t>t=92.4  T7 -&gt; R4 (waited 1.15 s)</a:t>
            </a:r>
            <a:endParaRPr lang="en-US" sz="850" dirty="0"/>
          </a:p>
        </p:txBody>
      </p:sp>
      <p:sp>
        <p:nvSpPr>
          <p:cNvPr id="53" name="Text 50"/>
          <p:cNvSpPr txBox="1"/>
          <p:nvPr/>
        </p:nvSpPr>
        <p:spPr>
          <a:xfrm>
            <a:off x="640080" y="4288536"/>
            <a:ext cx="3429000" cy="182880"/>
          </a:xfrm>
          <a:prstGeom prst="rect">
            <a:avLst/>
          </a:prstGeom>
          <a:noFill/>
          <a:ln/>
        </p:spPr>
        <p:txBody>
          <a:bodyPr wrap="square" lIns="0" tIns="0" rIns="0" bIns="0" rtlCol="0" anchor="t"/>
          <a:lstStyle/>
          <a:p>
            <a:pPr indent="0" marL="0">
              <a:buNone/>
            </a:pPr>
            <a:r>
              <a:rPr lang="en-US" sz="850" dirty="0">
                <a:solidFill>
                  <a:srgbClr val="CBD5E1"/>
                </a:solidFill>
                <a:latin typeface="Courier New" pitchFamily="34" charset="0"/>
                <a:ea typeface="Courier New" pitchFamily="34" charset="-122"/>
                <a:cs typeface="Courier New" pitchFamily="34" charset="-120"/>
              </a:rPr>
              <a:t>t=95.0  R3 quarantined: lease stall</a:t>
            </a:r>
            <a:endParaRPr lang="en-US" sz="850" dirty="0"/>
          </a:p>
        </p:txBody>
      </p:sp>
      <p:sp>
        <p:nvSpPr>
          <p:cNvPr id="54" name="Shape 51"/>
          <p:cNvSpPr/>
          <p:nvPr/>
        </p:nvSpPr>
        <p:spPr>
          <a:xfrm>
            <a:off x="4206240" y="3630168"/>
            <a:ext cx="1920240" cy="914400"/>
          </a:xfrm>
          <a:prstGeom prst="rect">
            <a:avLst/>
          </a:prstGeom>
          <a:solidFill>
            <a:srgbClr val="0B1120"/>
          </a:solidFill>
          <a:ln w="9525">
            <a:solidFill>
              <a:srgbClr val="2A3A5F"/>
            </a:solidFill>
            <a:prstDash val="solid"/>
          </a:ln>
        </p:spPr>
      </p:sp>
      <p:sp>
        <p:nvSpPr>
          <p:cNvPr id="55" name="Text 52"/>
          <p:cNvSpPr txBox="1"/>
          <p:nvPr/>
        </p:nvSpPr>
        <p:spPr>
          <a:xfrm>
            <a:off x="4434840" y="3675888"/>
            <a:ext cx="1097280" cy="164592"/>
          </a:xfrm>
          <a:prstGeom prst="rect">
            <a:avLst/>
          </a:prstGeom>
          <a:noFill/>
          <a:ln/>
        </p:spPr>
        <p:txBody>
          <a:bodyPr wrap="square" lIns="0" tIns="0" rIns="0" bIns="0" rtlCol="0" anchor="t"/>
          <a:lstStyle/>
          <a:p>
            <a:pPr indent="0" marL="0">
              <a:buNone/>
            </a:pPr>
            <a:r>
              <a:rPr lang="en-US" sz="800" b="1" spc="100" kern="0" dirty="0">
                <a:solidFill>
                  <a:srgbClr val="94A3B8"/>
                </a:solidFill>
                <a:latin typeface="Calibri" pitchFamily="34" charset="0"/>
                <a:ea typeface="Calibri" pitchFamily="34" charset="-122"/>
                <a:cs typeface="Calibri" pitchFamily="34" charset="-120"/>
              </a:rPr>
              <a:t>METRICS</a:t>
            </a:r>
            <a:endParaRPr lang="en-US" sz="800" dirty="0"/>
          </a:p>
        </p:txBody>
      </p:sp>
      <p:sp>
        <p:nvSpPr>
          <p:cNvPr id="56" name="Text 53"/>
          <p:cNvSpPr txBox="1"/>
          <p:nvPr/>
        </p:nvSpPr>
        <p:spPr>
          <a:xfrm>
            <a:off x="4297680" y="3913632"/>
            <a:ext cx="1737360" cy="164592"/>
          </a:xfrm>
          <a:prstGeom prst="rect">
            <a:avLst/>
          </a:prstGeom>
          <a:noFill/>
          <a:ln/>
        </p:spPr>
        <p:txBody>
          <a:bodyPr wrap="square" lIns="0" tIns="0" rIns="0" bIns="0" rtlCol="0" anchor="t"/>
          <a:lstStyle/>
          <a:p>
            <a:pPr indent="0" marL="0">
              <a:buNone/>
            </a:pPr>
            <a:r>
              <a:rPr lang="en-US" sz="900" dirty="0">
                <a:solidFill>
                  <a:srgbClr val="CBD5E1"/>
                </a:solidFill>
                <a:latin typeface="Calibri" pitchFamily="34" charset="0"/>
                <a:ea typeface="Calibri" pitchFamily="34" charset="-122"/>
                <a:cs typeface="Calibri" pitchFamily="34" charset="-120"/>
              </a:rPr>
              <a:t>Completion  — %</a:t>
            </a:r>
            <a:endParaRPr lang="en-US" sz="900" dirty="0"/>
          </a:p>
        </p:txBody>
      </p:sp>
      <p:sp>
        <p:nvSpPr>
          <p:cNvPr id="57" name="Text 54"/>
          <p:cNvSpPr txBox="1"/>
          <p:nvPr/>
        </p:nvSpPr>
        <p:spPr>
          <a:xfrm>
            <a:off x="4297680" y="4114800"/>
            <a:ext cx="1737360" cy="164592"/>
          </a:xfrm>
          <a:prstGeom prst="rect">
            <a:avLst/>
          </a:prstGeom>
          <a:noFill/>
          <a:ln/>
        </p:spPr>
        <p:txBody>
          <a:bodyPr wrap="square" lIns="0" tIns="0" rIns="0" bIns="0" rtlCol="0" anchor="t"/>
          <a:lstStyle/>
          <a:p>
            <a:pPr indent="0" marL="0">
              <a:buNone/>
            </a:pPr>
            <a:r>
              <a:rPr lang="en-US" sz="900" dirty="0">
                <a:solidFill>
                  <a:srgbClr val="CBD5E1"/>
                </a:solidFill>
                <a:latin typeface="Calibri" pitchFamily="34" charset="0"/>
                <a:ea typeface="Calibri" pitchFamily="34" charset="-122"/>
                <a:cs typeface="Calibri" pitchFamily="34" charset="-120"/>
              </a:rPr>
              <a:t>Contested  —</a:t>
            </a:r>
            <a:endParaRPr lang="en-US" sz="900" dirty="0"/>
          </a:p>
        </p:txBody>
      </p:sp>
      <p:sp>
        <p:nvSpPr>
          <p:cNvPr id="58" name="Text 55"/>
          <p:cNvSpPr txBox="1"/>
          <p:nvPr/>
        </p:nvSpPr>
        <p:spPr>
          <a:xfrm>
            <a:off x="4297680" y="4315968"/>
            <a:ext cx="1737360" cy="164592"/>
          </a:xfrm>
          <a:prstGeom prst="rect">
            <a:avLst/>
          </a:prstGeom>
          <a:noFill/>
          <a:ln/>
        </p:spPr>
        <p:txBody>
          <a:bodyPr wrap="square" lIns="0" tIns="0" rIns="0" bIns="0" rtlCol="0" anchor="t"/>
          <a:lstStyle/>
          <a:p>
            <a:pPr indent="0" marL="0">
              <a:buNone/>
            </a:pPr>
            <a:r>
              <a:rPr lang="en-US" sz="900" dirty="0">
                <a:solidFill>
                  <a:srgbClr val="CBD5E1"/>
                </a:solidFill>
                <a:latin typeface="Calibri" pitchFamily="34" charset="0"/>
                <a:ea typeface="Calibri" pitchFamily="34" charset="-122"/>
                <a:cs typeface="Calibri" pitchFamily="34" charset="-120"/>
              </a:rPr>
              <a:t>Regret  —</a:t>
            </a:r>
            <a:endParaRPr lang="en-US" sz="900" dirty="0"/>
          </a:p>
        </p:txBody>
      </p:sp>
      <p:sp>
        <p:nvSpPr>
          <p:cNvPr id="59" name="Shape 56"/>
          <p:cNvSpPr/>
          <p:nvPr/>
        </p:nvSpPr>
        <p:spPr>
          <a:xfrm>
            <a:off x="457200" y="1618488"/>
            <a:ext cx="219456" cy="219456"/>
          </a:xfrm>
          <a:prstGeom prst="ellipse">
            <a:avLst/>
          </a:prstGeom>
          <a:solidFill>
            <a:srgbClr val="FBBF24"/>
          </a:solidFill>
          <a:ln w="12700">
            <a:solidFill>
              <a:srgbClr val="0B1120"/>
            </a:solidFill>
            <a:prstDash val="solid"/>
          </a:ln>
        </p:spPr>
      </p:sp>
      <p:sp>
        <p:nvSpPr>
          <p:cNvPr id="60" name="Text 57"/>
          <p:cNvSpPr txBox="1"/>
          <p:nvPr/>
        </p:nvSpPr>
        <p:spPr>
          <a:xfrm>
            <a:off x="457200" y="1618488"/>
            <a:ext cx="219456" cy="219456"/>
          </a:xfrm>
          <a:prstGeom prst="rect">
            <a:avLst/>
          </a:prstGeom>
          <a:noFill/>
          <a:ln/>
        </p:spPr>
        <p:txBody>
          <a:bodyPr wrap="square" lIns="0" tIns="0" rIns="0" bIns="0" rtlCol="0" anchor="ctr"/>
          <a:lstStyle/>
          <a:p>
            <a:pPr algn="ctr" indent="0" marL="0">
              <a:buNone/>
            </a:pPr>
            <a:r>
              <a:rPr lang="en-US" sz="900" b="1" dirty="0">
                <a:solidFill>
                  <a:srgbClr val="0B1120"/>
                </a:solidFill>
                <a:latin typeface="Calibri" pitchFamily="34" charset="0"/>
                <a:ea typeface="Calibri" pitchFamily="34" charset="-122"/>
                <a:cs typeface="Calibri" pitchFamily="34" charset="-120"/>
              </a:rPr>
              <a:t>1</a:t>
            </a:r>
            <a:endParaRPr lang="en-US" sz="900" dirty="0"/>
          </a:p>
        </p:txBody>
      </p:sp>
      <p:sp>
        <p:nvSpPr>
          <p:cNvPr id="61" name="Shape 58"/>
          <p:cNvSpPr/>
          <p:nvPr/>
        </p:nvSpPr>
        <p:spPr>
          <a:xfrm>
            <a:off x="6455664" y="1371600"/>
            <a:ext cx="256032" cy="256032"/>
          </a:xfrm>
          <a:prstGeom prst="ellipse">
            <a:avLst/>
          </a:prstGeom>
          <a:solidFill>
            <a:srgbClr val="FBBF24"/>
          </a:solidFill>
          <a:ln w="12700">
            <a:solidFill>
              <a:srgbClr val="0B1120"/>
            </a:solidFill>
            <a:prstDash val="solid"/>
          </a:ln>
        </p:spPr>
      </p:sp>
      <p:sp>
        <p:nvSpPr>
          <p:cNvPr id="62" name="Text 59"/>
          <p:cNvSpPr txBox="1"/>
          <p:nvPr/>
        </p:nvSpPr>
        <p:spPr>
          <a:xfrm>
            <a:off x="6455664" y="1371600"/>
            <a:ext cx="256032" cy="256032"/>
          </a:xfrm>
          <a:prstGeom prst="rect">
            <a:avLst/>
          </a:prstGeom>
          <a:noFill/>
          <a:ln/>
        </p:spPr>
        <p:txBody>
          <a:bodyPr wrap="square" lIns="0" tIns="0" rIns="0" bIns="0" rtlCol="0" anchor="ctr"/>
          <a:lstStyle/>
          <a:p>
            <a:pPr algn="ctr" indent="0" marL="0">
              <a:buNone/>
            </a:pPr>
            <a:r>
              <a:rPr lang="en-US" sz="1000" b="1" dirty="0">
                <a:solidFill>
                  <a:srgbClr val="0B1120"/>
                </a:solidFill>
                <a:latin typeface="Calibri" pitchFamily="34" charset="0"/>
                <a:ea typeface="Calibri" pitchFamily="34" charset="-122"/>
                <a:cs typeface="Calibri" pitchFamily="34" charset="-120"/>
              </a:rPr>
              <a:t>1</a:t>
            </a:r>
            <a:endParaRPr lang="en-US" sz="1000" dirty="0"/>
          </a:p>
        </p:txBody>
      </p:sp>
      <p:sp>
        <p:nvSpPr>
          <p:cNvPr id="63" name="Text 60"/>
          <p:cNvSpPr txBox="1"/>
          <p:nvPr/>
        </p:nvSpPr>
        <p:spPr>
          <a:xfrm>
            <a:off x="6858000" y="1371600"/>
            <a:ext cx="1828800" cy="237744"/>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Live map with ghost halos</a:t>
            </a:r>
            <a:endParaRPr lang="en-US" sz="1200" dirty="0"/>
          </a:p>
        </p:txBody>
      </p:sp>
      <p:sp>
        <p:nvSpPr>
          <p:cNvPr id="64" name="Text 61"/>
          <p:cNvSpPr txBox="1"/>
          <p:nvPr/>
        </p:nvSpPr>
        <p:spPr>
          <a:xfrm>
            <a:off x="6858000" y="1627632"/>
            <a:ext cx="1828800" cy="54864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Partitions, links and each silent robot’s reachable set.</a:t>
            </a:r>
            <a:endParaRPr lang="en-US" sz="1050" dirty="0"/>
          </a:p>
        </p:txBody>
      </p:sp>
      <p:sp>
        <p:nvSpPr>
          <p:cNvPr id="65" name="Shape 62"/>
          <p:cNvSpPr/>
          <p:nvPr/>
        </p:nvSpPr>
        <p:spPr>
          <a:xfrm>
            <a:off x="4114800" y="1618488"/>
            <a:ext cx="219456" cy="219456"/>
          </a:xfrm>
          <a:prstGeom prst="ellipse">
            <a:avLst/>
          </a:prstGeom>
          <a:solidFill>
            <a:srgbClr val="FBBF24"/>
          </a:solidFill>
          <a:ln w="12700">
            <a:solidFill>
              <a:srgbClr val="0B1120"/>
            </a:solidFill>
            <a:prstDash val="solid"/>
          </a:ln>
        </p:spPr>
      </p:sp>
      <p:sp>
        <p:nvSpPr>
          <p:cNvPr id="66" name="Text 63"/>
          <p:cNvSpPr txBox="1"/>
          <p:nvPr/>
        </p:nvSpPr>
        <p:spPr>
          <a:xfrm>
            <a:off x="4114800" y="1618488"/>
            <a:ext cx="219456" cy="219456"/>
          </a:xfrm>
          <a:prstGeom prst="rect">
            <a:avLst/>
          </a:prstGeom>
          <a:noFill/>
          <a:ln/>
        </p:spPr>
        <p:txBody>
          <a:bodyPr wrap="square" lIns="0" tIns="0" rIns="0" bIns="0" rtlCol="0" anchor="ctr"/>
          <a:lstStyle/>
          <a:p>
            <a:pPr algn="ctr" indent="0" marL="0">
              <a:buNone/>
            </a:pPr>
            <a:r>
              <a:rPr lang="en-US" sz="900" b="1" dirty="0">
                <a:solidFill>
                  <a:srgbClr val="0B1120"/>
                </a:solidFill>
                <a:latin typeface="Calibri" pitchFamily="34" charset="0"/>
                <a:ea typeface="Calibri" pitchFamily="34" charset="-122"/>
                <a:cs typeface="Calibri" pitchFamily="34" charset="-120"/>
              </a:rPr>
              <a:t>2</a:t>
            </a:r>
            <a:endParaRPr lang="en-US" sz="900" dirty="0"/>
          </a:p>
        </p:txBody>
      </p:sp>
      <p:sp>
        <p:nvSpPr>
          <p:cNvPr id="67" name="Shape 64"/>
          <p:cNvSpPr/>
          <p:nvPr/>
        </p:nvSpPr>
        <p:spPr>
          <a:xfrm>
            <a:off x="6455664" y="2194560"/>
            <a:ext cx="256032" cy="256032"/>
          </a:xfrm>
          <a:prstGeom prst="ellipse">
            <a:avLst/>
          </a:prstGeom>
          <a:solidFill>
            <a:srgbClr val="FBBF24"/>
          </a:solidFill>
          <a:ln w="12700">
            <a:solidFill>
              <a:srgbClr val="0B1120"/>
            </a:solidFill>
            <a:prstDash val="solid"/>
          </a:ln>
        </p:spPr>
      </p:sp>
      <p:sp>
        <p:nvSpPr>
          <p:cNvPr id="68" name="Text 65"/>
          <p:cNvSpPr txBox="1"/>
          <p:nvPr/>
        </p:nvSpPr>
        <p:spPr>
          <a:xfrm>
            <a:off x="6455664" y="2194560"/>
            <a:ext cx="256032" cy="256032"/>
          </a:xfrm>
          <a:prstGeom prst="rect">
            <a:avLst/>
          </a:prstGeom>
          <a:noFill/>
          <a:ln/>
        </p:spPr>
        <p:txBody>
          <a:bodyPr wrap="square" lIns="0" tIns="0" rIns="0" bIns="0" rtlCol="0" anchor="ctr"/>
          <a:lstStyle/>
          <a:p>
            <a:pPr algn="ctr" indent="0" marL="0">
              <a:buNone/>
            </a:pPr>
            <a:r>
              <a:rPr lang="en-US" sz="1000" b="1" dirty="0">
                <a:solidFill>
                  <a:srgbClr val="0B1120"/>
                </a:solidFill>
                <a:latin typeface="Calibri" pitchFamily="34" charset="0"/>
                <a:ea typeface="Calibri" pitchFamily="34" charset="-122"/>
                <a:cs typeface="Calibri" pitchFamily="34" charset="-120"/>
              </a:rPr>
              <a:t>2</a:t>
            </a:r>
            <a:endParaRPr lang="en-US" sz="1000" dirty="0"/>
          </a:p>
        </p:txBody>
      </p:sp>
      <p:sp>
        <p:nvSpPr>
          <p:cNvPr id="69" name="Text 66"/>
          <p:cNvSpPr txBox="1"/>
          <p:nvPr/>
        </p:nvSpPr>
        <p:spPr>
          <a:xfrm>
            <a:off x="6858000" y="2194560"/>
            <a:ext cx="1828800" cy="237744"/>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Robot roster with trust</a:t>
            </a:r>
            <a:endParaRPr lang="en-US" sz="1200" dirty="0"/>
          </a:p>
        </p:txBody>
      </p:sp>
      <p:sp>
        <p:nvSpPr>
          <p:cNvPr id="70" name="Text 67"/>
          <p:cNvSpPr txBox="1"/>
          <p:nvPr/>
        </p:nvSpPr>
        <p:spPr>
          <a:xfrm>
            <a:off x="6858000" y="2450592"/>
            <a:ext cx="1828800" cy="54864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Battery, state, and quarantine status per robot.</a:t>
            </a:r>
            <a:endParaRPr lang="en-US" sz="1050" dirty="0"/>
          </a:p>
        </p:txBody>
      </p:sp>
      <p:sp>
        <p:nvSpPr>
          <p:cNvPr id="71" name="Shape 68"/>
          <p:cNvSpPr/>
          <p:nvPr/>
        </p:nvSpPr>
        <p:spPr>
          <a:xfrm>
            <a:off x="457200" y="3538728"/>
            <a:ext cx="219456" cy="219456"/>
          </a:xfrm>
          <a:prstGeom prst="ellipse">
            <a:avLst/>
          </a:prstGeom>
          <a:solidFill>
            <a:srgbClr val="FBBF24"/>
          </a:solidFill>
          <a:ln w="12700">
            <a:solidFill>
              <a:srgbClr val="0B1120"/>
            </a:solidFill>
            <a:prstDash val="solid"/>
          </a:ln>
        </p:spPr>
      </p:sp>
      <p:sp>
        <p:nvSpPr>
          <p:cNvPr id="72" name="Text 69"/>
          <p:cNvSpPr txBox="1"/>
          <p:nvPr/>
        </p:nvSpPr>
        <p:spPr>
          <a:xfrm>
            <a:off x="457200" y="3538728"/>
            <a:ext cx="219456" cy="219456"/>
          </a:xfrm>
          <a:prstGeom prst="rect">
            <a:avLst/>
          </a:prstGeom>
          <a:noFill/>
          <a:ln/>
        </p:spPr>
        <p:txBody>
          <a:bodyPr wrap="square" lIns="0" tIns="0" rIns="0" bIns="0" rtlCol="0" anchor="ctr"/>
          <a:lstStyle/>
          <a:p>
            <a:pPr algn="ctr" indent="0" marL="0">
              <a:buNone/>
            </a:pPr>
            <a:r>
              <a:rPr lang="en-US" sz="900" b="1" dirty="0">
                <a:solidFill>
                  <a:srgbClr val="0B1120"/>
                </a:solidFill>
                <a:latin typeface="Calibri" pitchFamily="34" charset="0"/>
                <a:ea typeface="Calibri" pitchFamily="34" charset="-122"/>
                <a:cs typeface="Calibri" pitchFamily="34" charset="-120"/>
              </a:rPr>
              <a:t>3</a:t>
            </a:r>
            <a:endParaRPr lang="en-US" sz="900" dirty="0"/>
          </a:p>
        </p:txBody>
      </p:sp>
      <p:sp>
        <p:nvSpPr>
          <p:cNvPr id="73" name="Shape 70"/>
          <p:cNvSpPr/>
          <p:nvPr/>
        </p:nvSpPr>
        <p:spPr>
          <a:xfrm>
            <a:off x="6455664" y="3017520"/>
            <a:ext cx="256032" cy="256032"/>
          </a:xfrm>
          <a:prstGeom prst="ellipse">
            <a:avLst/>
          </a:prstGeom>
          <a:solidFill>
            <a:srgbClr val="FBBF24"/>
          </a:solidFill>
          <a:ln w="12700">
            <a:solidFill>
              <a:srgbClr val="0B1120"/>
            </a:solidFill>
            <a:prstDash val="solid"/>
          </a:ln>
        </p:spPr>
      </p:sp>
      <p:sp>
        <p:nvSpPr>
          <p:cNvPr id="74" name="Text 71"/>
          <p:cNvSpPr txBox="1"/>
          <p:nvPr/>
        </p:nvSpPr>
        <p:spPr>
          <a:xfrm>
            <a:off x="6455664" y="3017520"/>
            <a:ext cx="256032" cy="256032"/>
          </a:xfrm>
          <a:prstGeom prst="rect">
            <a:avLst/>
          </a:prstGeom>
          <a:noFill/>
          <a:ln/>
        </p:spPr>
        <p:txBody>
          <a:bodyPr wrap="square" lIns="0" tIns="0" rIns="0" bIns="0" rtlCol="0" anchor="ctr"/>
          <a:lstStyle/>
          <a:p>
            <a:pPr algn="ctr" indent="0" marL="0">
              <a:buNone/>
            </a:pPr>
            <a:r>
              <a:rPr lang="en-US" sz="1000" b="1" dirty="0">
                <a:solidFill>
                  <a:srgbClr val="0B1120"/>
                </a:solidFill>
                <a:latin typeface="Calibri" pitchFamily="34" charset="0"/>
                <a:ea typeface="Calibri" pitchFamily="34" charset="-122"/>
                <a:cs typeface="Calibri" pitchFamily="34" charset="-120"/>
              </a:rPr>
              <a:t>3</a:t>
            </a:r>
            <a:endParaRPr lang="en-US" sz="1000" dirty="0"/>
          </a:p>
        </p:txBody>
      </p:sp>
      <p:sp>
        <p:nvSpPr>
          <p:cNvPr id="75" name="Text 72"/>
          <p:cNvSpPr txBox="1"/>
          <p:nvPr/>
        </p:nvSpPr>
        <p:spPr>
          <a:xfrm>
            <a:off x="6858000" y="3017520"/>
            <a:ext cx="1828800" cy="237744"/>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Auction log with regret</a:t>
            </a:r>
            <a:endParaRPr lang="en-US" sz="1200" dirty="0"/>
          </a:p>
        </p:txBody>
      </p:sp>
      <p:sp>
        <p:nvSpPr>
          <p:cNvPr id="76" name="Text 73"/>
          <p:cNvSpPr txBox="1"/>
          <p:nvPr/>
        </p:nvSpPr>
        <p:spPr>
          <a:xfrm>
            <a:off x="6858000" y="3273552"/>
            <a:ext cx="1828800" cy="54864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Why each robot waited, claimed or yielded.</a:t>
            </a:r>
            <a:endParaRPr lang="en-US" sz="1050" dirty="0"/>
          </a:p>
        </p:txBody>
      </p:sp>
      <p:sp>
        <p:nvSpPr>
          <p:cNvPr id="77" name="Shape 74"/>
          <p:cNvSpPr/>
          <p:nvPr/>
        </p:nvSpPr>
        <p:spPr>
          <a:xfrm>
            <a:off x="4114800" y="3538728"/>
            <a:ext cx="219456" cy="219456"/>
          </a:xfrm>
          <a:prstGeom prst="ellipse">
            <a:avLst/>
          </a:prstGeom>
          <a:solidFill>
            <a:srgbClr val="FBBF24"/>
          </a:solidFill>
          <a:ln w="12700">
            <a:solidFill>
              <a:srgbClr val="0B1120"/>
            </a:solidFill>
            <a:prstDash val="solid"/>
          </a:ln>
        </p:spPr>
      </p:sp>
      <p:sp>
        <p:nvSpPr>
          <p:cNvPr id="78" name="Text 75"/>
          <p:cNvSpPr txBox="1"/>
          <p:nvPr/>
        </p:nvSpPr>
        <p:spPr>
          <a:xfrm>
            <a:off x="4114800" y="3538728"/>
            <a:ext cx="219456" cy="219456"/>
          </a:xfrm>
          <a:prstGeom prst="rect">
            <a:avLst/>
          </a:prstGeom>
          <a:noFill/>
          <a:ln/>
        </p:spPr>
        <p:txBody>
          <a:bodyPr wrap="square" lIns="0" tIns="0" rIns="0" bIns="0" rtlCol="0" anchor="ctr"/>
          <a:lstStyle/>
          <a:p>
            <a:pPr algn="ctr" indent="0" marL="0">
              <a:buNone/>
            </a:pPr>
            <a:r>
              <a:rPr lang="en-US" sz="900" b="1" dirty="0">
                <a:solidFill>
                  <a:srgbClr val="0B1120"/>
                </a:solidFill>
                <a:latin typeface="Calibri" pitchFamily="34" charset="0"/>
                <a:ea typeface="Calibri" pitchFamily="34" charset="-122"/>
                <a:cs typeface="Calibri" pitchFamily="34" charset="-120"/>
              </a:rPr>
              <a:t>4</a:t>
            </a:r>
            <a:endParaRPr lang="en-US" sz="900" dirty="0"/>
          </a:p>
        </p:txBody>
      </p:sp>
      <p:sp>
        <p:nvSpPr>
          <p:cNvPr id="79" name="Shape 76"/>
          <p:cNvSpPr/>
          <p:nvPr/>
        </p:nvSpPr>
        <p:spPr>
          <a:xfrm>
            <a:off x="6455664" y="3840480"/>
            <a:ext cx="256032" cy="256032"/>
          </a:xfrm>
          <a:prstGeom prst="ellipse">
            <a:avLst/>
          </a:prstGeom>
          <a:solidFill>
            <a:srgbClr val="FBBF24"/>
          </a:solidFill>
          <a:ln w="12700">
            <a:solidFill>
              <a:srgbClr val="0B1120"/>
            </a:solidFill>
            <a:prstDash val="solid"/>
          </a:ln>
        </p:spPr>
      </p:sp>
      <p:sp>
        <p:nvSpPr>
          <p:cNvPr id="80" name="Text 77"/>
          <p:cNvSpPr txBox="1"/>
          <p:nvPr/>
        </p:nvSpPr>
        <p:spPr>
          <a:xfrm>
            <a:off x="6455664" y="3840480"/>
            <a:ext cx="256032" cy="256032"/>
          </a:xfrm>
          <a:prstGeom prst="rect">
            <a:avLst/>
          </a:prstGeom>
          <a:noFill/>
          <a:ln/>
        </p:spPr>
        <p:txBody>
          <a:bodyPr wrap="square" lIns="0" tIns="0" rIns="0" bIns="0" rtlCol="0" anchor="ctr"/>
          <a:lstStyle/>
          <a:p>
            <a:pPr algn="ctr" indent="0" marL="0">
              <a:buNone/>
            </a:pPr>
            <a:r>
              <a:rPr lang="en-US" sz="1000" b="1" dirty="0">
                <a:solidFill>
                  <a:srgbClr val="0B1120"/>
                </a:solidFill>
                <a:latin typeface="Calibri" pitchFamily="34" charset="0"/>
                <a:ea typeface="Calibri" pitchFamily="34" charset="-122"/>
                <a:cs typeface="Calibri" pitchFamily="34" charset="-120"/>
              </a:rPr>
              <a:t>4</a:t>
            </a:r>
            <a:endParaRPr lang="en-US" sz="1000" dirty="0"/>
          </a:p>
        </p:txBody>
      </p:sp>
      <p:sp>
        <p:nvSpPr>
          <p:cNvPr id="81" name="Text 78"/>
          <p:cNvSpPr txBox="1"/>
          <p:nvPr/>
        </p:nvSpPr>
        <p:spPr>
          <a:xfrm>
            <a:off x="6858000" y="3840480"/>
            <a:ext cx="1828800" cy="237744"/>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Live metrics and chaos</a:t>
            </a:r>
            <a:endParaRPr lang="en-US" sz="1200" dirty="0"/>
          </a:p>
        </p:txBody>
      </p:sp>
      <p:sp>
        <p:nvSpPr>
          <p:cNvPr id="82" name="Text 79"/>
          <p:cNvSpPr txBox="1"/>
          <p:nvPr/>
        </p:nvSpPr>
        <p:spPr>
          <a:xfrm>
            <a:off x="6858000" y="4096512"/>
            <a:ext cx="1828800" cy="54864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Cut the network, kill robots, inject liars.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14  ·  COMPLEXITY</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Complexity compared with existing approaches</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645920"/>
                <a:gridCol w="1828800"/>
                <a:gridCol w="1600200"/>
                <a:gridCol w="1600200"/>
                <a:gridCol w="1554480"/>
              </a:tblGrid>
              <a:tr h="365760">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Method</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Messages per new task</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Decision latency</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Computation</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Under partition</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r>
              <a:tr h="457200">
                <a:tc>
                  <a:txBody>
                    <a:bodyPr/>
                    <a:lstStyle/>
                    <a:p>
                      <a:pPr indent="0" marL="0">
                        <a:buNone/>
                      </a:pPr>
                      <a:r>
                        <a:rPr lang="en-US" sz="1050" b="1" dirty="0">
                          <a:solidFill>
                            <a:srgbClr val="F1F5F9"/>
                          </a:solidFill>
                          <a:latin typeface="Calibri" pitchFamily="34" charset="0"/>
                          <a:ea typeface="Calibri" pitchFamily="34" charset="-122"/>
                          <a:cs typeface="Calibri" pitchFamily="34" charset="-120"/>
                        </a:rPr>
                        <a:t>Centralized (Hungarian)</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h̄ (fewest)</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2D hops + solve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O(n³) at the hub</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Only the hub’s side works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457200">
                <a:tc>
                  <a:txBody>
                    <a:bodyPr/>
                    <a:lstStyle/>
                    <a:p>
                      <a:pPr indent="0" marL="0">
                        <a:buNone/>
                      </a:pPr>
                      <a:r>
                        <a:rPr lang="en-US" sz="1050" b="1" dirty="0">
                          <a:solidFill>
                            <a:srgbClr val="F1F5F9"/>
                          </a:solidFill>
                          <a:latin typeface="Calibri" pitchFamily="34" charset="0"/>
                          <a:ea typeface="Calibri" pitchFamily="34" charset="-122"/>
                          <a:cs typeface="Calibri" pitchFamily="34" charset="-120"/>
                        </a:rPr>
                        <a:t>Plain auction</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N(2 + h̄)</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2D hops + bid window</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O(T) per robot</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Stalls if auctioneer is cut off</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457200">
                <a:tc>
                  <a:txBody>
                    <a:bodyPr/>
                    <a:lstStyle/>
                    <a:p>
                      <a:pPr indent="0" marL="0">
                        <a:buNone/>
                      </a:pPr>
                      <a:r>
                        <a:rPr lang="en-US" sz="1050" b="1" dirty="0">
                          <a:solidFill>
                            <a:srgbClr val="F1F5F9"/>
                          </a:solidFill>
                          <a:latin typeface="Calibri" pitchFamily="34" charset="0"/>
                          <a:ea typeface="Calibri" pitchFamily="34" charset="-122"/>
                          <a:cs typeface="Calibri" pitchFamily="34" charset="-120"/>
                        </a:rPr>
                        <a:t>CBAA / CBBA</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up to N × rounds, T entries each</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rounds × round time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O(T × bundle) per round</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Each side converges, slowly</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457200">
                <a:tc>
                  <a:txBody>
                    <a:bodyPr/>
                    <a:lstStyle/>
                    <a:p>
                      <a:pPr indent="0" marL="0">
                        <a:buNone/>
                      </a:pPr>
                      <a:r>
                        <a:rPr lang="en-US" sz="1050" b="1" dirty="0">
                          <a:solidFill>
                            <a:srgbClr val="F1F5F9"/>
                          </a:solidFill>
                          <a:latin typeface="Calibri" pitchFamily="34" charset="0"/>
                          <a:ea typeface="Calibri" pitchFamily="34" charset="-122"/>
                          <a:cs typeface="Calibri" pitchFamily="34" charset="-120"/>
                        </a:rPr>
                        <a:t>Quorum (Raft / PBFT)</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O(N) to O(N²)</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several round trips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Minority side cannot decide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457200">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SHADE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2A2410"/>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2N, zero bid messages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2A2410"/>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 1 tick + D hops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2A2410"/>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O(N × T) per robot per tick</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2A2410"/>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Every side keeps allocating</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2A2410"/>
                    </a:solidFill>
                  </a:tcPr>
                </a:tc>
              </a:tr>
            </a:tbl>
          </a:graphicData>
        </a:graphic>
      </p:graphicFrame>
      <p:sp>
        <p:nvSpPr>
          <p:cNvPr id="8" name="Text 4"/>
          <p:cNvSpPr txBox="1"/>
          <p:nvPr/>
        </p:nvSpPr>
        <p:spPr>
          <a:xfrm>
            <a:off x="457200" y="4206240"/>
            <a:ext cx="8229600" cy="4114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N robots  ·  T open tasks  ·  D network diameter in hops  ·  h̄ average hops between robots. Analytical estimates; the CBBA round count is a worst-case bound.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15  ·  ESTIMATED REDUCTION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Worked example: how much SHADE reduces</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16</a:t>
            </a:r>
            <a:endParaRPr lang="en-US" sz="900" dirty="0"/>
          </a:p>
        </p:txBody>
      </p:sp>
      <p:sp>
        <p:nvSpPr>
          <p:cNvPr id="7" name="Text 4"/>
          <p:cNvSpPr txBox="1"/>
          <p:nvPr/>
        </p:nvSpPr>
        <p:spPr>
          <a:xfrm>
            <a:off x="457200" y="1097280"/>
            <a:ext cx="8229600" cy="256032"/>
          </a:xfrm>
          <a:prstGeom prst="rect">
            <a:avLst/>
          </a:prstGeom>
          <a:noFill/>
          <a:ln/>
        </p:spPr>
        <p:txBody>
          <a:bodyPr wrap="square" lIns="0" tIns="0" rIns="0" bIns="0" rtlCol="0" anchor="t"/>
          <a:lstStyle/>
          <a:p>
            <a:pPr indent="0" marL="0">
              <a:buNone/>
            </a:pPr>
            <a:r>
              <a:rPr lang="en-US" sz="1100" i="1" dirty="0">
                <a:solidFill>
                  <a:srgbClr val="94A3B8"/>
                </a:solidFill>
                <a:latin typeface="Calibri" pitchFamily="34" charset="0"/>
                <a:ea typeface="Calibri" pitchFamily="34" charset="-122"/>
                <a:cs typeface="Calibri" pitchFamily="34" charset="-120"/>
              </a:rPr>
              <a:t>Assumptions: 8 robots, 10 open tasks, 3-hop diameter, 2 hops average, 30 ms per hop, 0.5 s bid window.</a:t>
            </a:r>
            <a:endParaRPr lang="en-US" sz="1100" dirty="0"/>
          </a:p>
        </p:txBody>
      </p:sp>
      <p:sp>
        <p:nvSpPr>
          <p:cNvPr id="8" name="Shape 5"/>
          <p:cNvSpPr/>
          <p:nvPr/>
        </p:nvSpPr>
        <p:spPr>
          <a:xfrm>
            <a:off x="457200" y="1463040"/>
            <a:ext cx="2651760" cy="1417320"/>
          </a:xfrm>
          <a:prstGeom prst="roundRect">
            <a:avLst>
              <a:gd name="adj" fmla="val 5161"/>
            </a:avLst>
          </a:prstGeom>
          <a:solidFill>
            <a:srgbClr val="131C31"/>
          </a:solidFill>
          <a:ln w="9525">
            <a:solidFill>
              <a:srgbClr val="2A3A5F"/>
            </a:solidFill>
            <a:prstDash val="solid"/>
          </a:ln>
        </p:spPr>
      </p:sp>
      <p:sp>
        <p:nvSpPr>
          <p:cNvPr id="9" name="Text 6"/>
          <p:cNvSpPr txBox="1"/>
          <p:nvPr/>
        </p:nvSpPr>
        <p:spPr>
          <a:xfrm>
            <a:off x="640080" y="1554480"/>
            <a:ext cx="2377440" cy="685800"/>
          </a:xfrm>
          <a:prstGeom prst="rect">
            <a:avLst/>
          </a:prstGeom>
          <a:noFill/>
          <a:ln/>
        </p:spPr>
        <p:txBody>
          <a:bodyPr wrap="square" lIns="0" tIns="0" rIns="0" bIns="0" rtlCol="0" anchor="ctr"/>
          <a:lstStyle/>
          <a:p>
            <a:pPr indent="0" marL="0">
              <a:buNone/>
            </a:pPr>
            <a:r>
              <a:rPr lang="en-US" sz="3200" b="1" dirty="0">
                <a:solidFill>
                  <a:srgbClr val="FBBF24"/>
                </a:solidFill>
                <a:latin typeface="Calibri" pitchFamily="34" charset="0"/>
                <a:ea typeface="Calibri" pitchFamily="34" charset="-122"/>
                <a:cs typeface="Calibri" pitchFamily="34" charset="-120"/>
              </a:rPr>
              <a:t>50%</a:t>
            </a:r>
            <a:endParaRPr lang="en-US" sz="3200" dirty="0"/>
          </a:p>
        </p:txBody>
      </p:sp>
      <p:sp>
        <p:nvSpPr>
          <p:cNvPr id="10" name="Text 7"/>
          <p:cNvSpPr txBox="1"/>
          <p:nvPr/>
        </p:nvSpPr>
        <p:spPr>
          <a:xfrm>
            <a:off x="640080" y="2286000"/>
            <a:ext cx="2331720" cy="50292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fewer transmissions per new task (32 to 16)</a:t>
            </a:r>
            <a:endParaRPr lang="en-US" sz="1150" dirty="0"/>
          </a:p>
        </p:txBody>
      </p:sp>
      <p:sp>
        <p:nvSpPr>
          <p:cNvPr id="11" name="Shape 8"/>
          <p:cNvSpPr/>
          <p:nvPr/>
        </p:nvSpPr>
        <p:spPr>
          <a:xfrm>
            <a:off x="3246120" y="1463040"/>
            <a:ext cx="2651760" cy="1417320"/>
          </a:xfrm>
          <a:prstGeom prst="roundRect">
            <a:avLst>
              <a:gd name="adj" fmla="val 5161"/>
            </a:avLst>
          </a:prstGeom>
          <a:solidFill>
            <a:srgbClr val="131C31"/>
          </a:solidFill>
          <a:ln w="9525">
            <a:solidFill>
              <a:srgbClr val="2A3A5F"/>
            </a:solidFill>
            <a:prstDash val="solid"/>
          </a:ln>
        </p:spPr>
      </p:sp>
      <p:sp>
        <p:nvSpPr>
          <p:cNvPr id="12" name="Text 9"/>
          <p:cNvSpPr txBox="1"/>
          <p:nvPr/>
        </p:nvSpPr>
        <p:spPr>
          <a:xfrm>
            <a:off x="3429000" y="1554480"/>
            <a:ext cx="2377440" cy="685800"/>
          </a:xfrm>
          <a:prstGeom prst="rect">
            <a:avLst/>
          </a:prstGeom>
          <a:noFill/>
          <a:ln/>
        </p:spPr>
        <p:txBody>
          <a:bodyPr wrap="square" lIns="0" tIns="0" rIns="0" bIns="0" rtlCol="0" anchor="ctr"/>
          <a:lstStyle/>
          <a:p>
            <a:pPr indent="0" marL="0">
              <a:buNone/>
            </a:pPr>
            <a:r>
              <a:rPr lang="en-US" sz="3200" b="1" dirty="0">
                <a:solidFill>
                  <a:srgbClr val="FBBF24"/>
                </a:solidFill>
                <a:latin typeface="Calibri" pitchFamily="34" charset="0"/>
                <a:ea typeface="Calibri" pitchFamily="34" charset="-122"/>
                <a:cs typeface="Calibri" pitchFamily="34" charset="-120"/>
              </a:rPr>
              <a:t>≈ 85%</a:t>
            </a:r>
            <a:endParaRPr lang="en-US" sz="3200" dirty="0"/>
          </a:p>
        </p:txBody>
      </p:sp>
      <p:sp>
        <p:nvSpPr>
          <p:cNvPr id="13" name="Text 10"/>
          <p:cNvSpPr txBox="1"/>
          <p:nvPr/>
        </p:nvSpPr>
        <p:spPr>
          <a:xfrm>
            <a:off x="3429000" y="2286000"/>
            <a:ext cx="2331720" cy="50292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faster decision (0.68 s to about 0.1 s)</a:t>
            </a:r>
            <a:endParaRPr lang="en-US" sz="1150" dirty="0"/>
          </a:p>
        </p:txBody>
      </p:sp>
      <p:sp>
        <p:nvSpPr>
          <p:cNvPr id="14" name="Shape 11"/>
          <p:cNvSpPr/>
          <p:nvPr/>
        </p:nvSpPr>
        <p:spPr>
          <a:xfrm>
            <a:off x="6035040" y="1463040"/>
            <a:ext cx="2651760" cy="1417320"/>
          </a:xfrm>
          <a:prstGeom prst="roundRect">
            <a:avLst>
              <a:gd name="adj" fmla="val 5161"/>
            </a:avLst>
          </a:prstGeom>
          <a:solidFill>
            <a:srgbClr val="131C31"/>
          </a:solidFill>
          <a:ln w="9525">
            <a:solidFill>
              <a:srgbClr val="2A3A5F"/>
            </a:solidFill>
            <a:prstDash val="solid"/>
          </a:ln>
        </p:spPr>
      </p:sp>
      <p:sp>
        <p:nvSpPr>
          <p:cNvPr id="15" name="Text 12"/>
          <p:cNvSpPr txBox="1"/>
          <p:nvPr/>
        </p:nvSpPr>
        <p:spPr>
          <a:xfrm>
            <a:off x="6217920" y="1554480"/>
            <a:ext cx="2377440" cy="685800"/>
          </a:xfrm>
          <a:prstGeom prst="rect">
            <a:avLst/>
          </a:prstGeom>
          <a:noFill/>
          <a:ln/>
        </p:spPr>
        <p:txBody>
          <a:bodyPr wrap="square" lIns="0" tIns="0" rIns="0" bIns="0" rtlCol="0" anchor="ctr"/>
          <a:lstStyle/>
          <a:p>
            <a:pPr indent="0" marL="0">
              <a:buNone/>
            </a:pPr>
            <a:r>
              <a:rPr lang="en-US" sz="3200" b="1" dirty="0">
                <a:solidFill>
                  <a:srgbClr val="FBBF24"/>
                </a:solidFill>
                <a:latin typeface="Calibri" pitchFamily="34" charset="0"/>
                <a:ea typeface="Calibri" pitchFamily="34" charset="-122"/>
                <a:cs typeface="Calibri" pitchFamily="34" charset="-120"/>
              </a:rPr>
              <a:t>∞ → 6.4 s</a:t>
            </a:r>
            <a:endParaRPr lang="en-US" sz="3200" dirty="0"/>
          </a:p>
        </p:txBody>
      </p:sp>
      <p:sp>
        <p:nvSpPr>
          <p:cNvPr id="16" name="Text 13"/>
          <p:cNvSpPr txBox="1"/>
          <p:nvPr/>
        </p:nvSpPr>
        <p:spPr>
          <a:xfrm>
            <a:off x="6217920" y="2286000"/>
            <a:ext cx="2331720" cy="50292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recovery from a robot that is alive but stalled</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3063240"/>
          <a:ext cx="8229600" cy="914400"/>
        </p:xfrm>
        <a:graphic>
          <a:graphicData uri="http://schemas.openxmlformats.org/drawingml/2006/table">
            <a:tbl>
              <a:tblPr/>
              <a:tblGrid>
                <a:gridCol w="2560320"/>
                <a:gridCol w="1737360"/>
                <a:gridCol w="2194560"/>
                <a:gridCol w="1737360"/>
              </a:tblGrid>
              <a:tr h="301752">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Quantity</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Plain auction</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CBBA (worst case)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SHADE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r>
              <a:tr h="301752">
                <a:tc>
                  <a:txBody>
                    <a:bodyPr/>
                    <a:lstStyle/>
                    <a:p>
                      <a:pPr indent="0" marL="0">
                        <a:buNone/>
                      </a:pPr>
                      <a:r>
                        <a:rPr lang="en-US" sz="1050" b="1" dirty="0">
                          <a:solidFill>
                            <a:srgbClr val="F1F5F9"/>
                          </a:solidFill>
                          <a:latin typeface="Calibri" pitchFamily="34" charset="0"/>
                          <a:ea typeface="Calibri" pitchFamily="34" charset="-122"/>
                          <a:cs typeface="Calibri" pitchFamily="34" charset="-120"/>
                        </a:rPr>
                        <a:t>Transmissions per new task</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240 messages × 10 entries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301752">
                <a:tc>
                  <a:txBody>
                    <a:bodyPr/>
                    <a:lstStyle/>
                    <a:p>
                      <a:pPr indent="0" marL="0">
                        <a:buNone/>
                      </a:pPr>
                      <a:r>
                        <a:rPr lang="en-US" sz="1050" b="1" dirty="0">
                          <a:solidFill>
                            <a:srgbClr val="F1F5F9"/>
                          </a:solidFill>
                          <a:latin typeface="Calibri" pitchFamily="34" charset="0"/>
                          <a:ea typeface="Calibri" pitchFamily="34" charset="-122"/>
                          <a:cs typeface="Calibri" pitchFamily="34" charset="-120"/>
                        </a:rPr>
                        <a:t>Time to decide (no ghosts)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0.68 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3 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0.1 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301752">
                <a:tc>
                  <a:txBody>
                    <a:bodyPr/>
                    <a:lstStyle/>
                    <a:p>
                      <a:pPr indent="0" marL="0">
                        <a:buNone/>
                      </a:pPr>
                      <a:r>
                        <a:rPr lang="en-US" sz="1050" b="1" dirty="0">
                          <a:solidFill>
                            <a:srgbClr val="F1F5F9"/>
                          </a:solidFill>
                          <a:latin typeface="Calibri" pitchFamily="34" charset="0"/>
                          <a:ea typeface="Calibri" pitchFamily="34" charset="-122"/>
                          <a:cs typeface="Calibri" pitchFamily="34" charset="-120"/>
                        </a:rPr>
                        <a:t>Crash recovery (same 6 s timeout)</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6.7 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re-converge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6.4 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301752">
                <a:tc>
                  <a:txBody>
                    <a:bodyPr/>
                    <a:lstStyle/>
                    <a:p>
                      <a:pPr indent="0" marL="0">
                        <a:buNone/>
                      </a:pPr>
                      <a:r>
                        <a:rPr lang="en-US" sz="1050" b="1" dirty="0">
                          <a:solidFill>
                            <a:srgbClr val="F1F5F9"/>
                          </a:solidFill>
                          <a:latin typeface="Calibri" pitchFamily="34" charset="0"/>
                          <a:ea typeface="Calibri" pitchFamily="34" charset="-122"/>
                          <a:cs typeface="Calibri" pitchFamily="34" charset="-120"/>
                        </a:rPr>
                        <a:t>Stalled-but-alive robot</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never recovered</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never recovered</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 6.4 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16  ·  HONEST TRADE-OFFS</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Where SHADE costs more, and the fix</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457200" y="1325880"/>
            <a:ext cx="5120640" cy="3291840"/>
          </a:xfrm>
          <a:prstGeom prst="roundRect">
            <a:avLst>
              <a:gd name="adj" fmla="val 2222"/>
            </a:avLst>
          </a:prstGeom>
          <a:solidFill>
            <a:srgbClr val="131C31"/>
          </a:solidFill>
          <a:ln w="9525">
            <a:solidFill>
              <a:srgbClr val="2A3A5F"/>
            </a:solidFill>
            <a:prstDash val="solid"/>
          </a:ln>
        </p:spPr>
      </p:sp>
      <p:graphicFrame>
        <p:nvGraphicFramePr>
          <p:cNvPr id="8" name="Chart 0" descr=""/>
          <p:cNvGraphicFramePr/>
          <p:nvPr/>
        </p:nvGraphicFramePr>
        <p:xfrm>
          <a:off x="548640" y="137160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5806440" y="1325880"/>
            <a:ext cx="2880360" cy="1005840"/>
          </a:xfrm>
          <a:prstGeom prst="roundRect">
            <a:avLst>
              <a:gd name="adj" fmla="val 7273"/>
            </a:avLst>
          </a:prstGeom>
          <a:solidFill>
            <a:srgbClr val="131C31"/>
          </a:solidFill>
          <a:ln w="9525">
            <a:solidFill>
              <a:srgbClr val="2A3A5F"/>
            </a:solidFill>
            <a:prstDash val="solid"/>
          </a:ln>
        </p:spPr>
      </p:sp>
      <p:sp>
        <p:nvSpPr>
          <p:cNvPr id="10" name="Text 6"/>
          <p:cNvSpPr txBox="1"/>
          <p:nvPr/>
        </p:nvSpPr>
        <p:spPr>
          <a:xfrm>
            <a:off x="5943600" y="1399032"/>
            <a:ext cx="2651760" cy="237744"/>
          </a:xfrm>
          <a:prstGeom prst="rect">
            <a:avLst/>
          </a:prstGeom>
          <a:noFill/>
          <a:ln/>
        </p:spPr>
        <p:txBody>
          <a:bodyPr wrap="square" lIns="0" tIns="0" rIns="0" bIns="0" rtlCol="0" anchor="t"/>
          <a:lstStyle/>
          <a:p>
            <a:pPr indent="0" marL="0">
              <a:buNone/>
            </a:pPr>
            <a:r>
              <a:rPr lang="en-US" sz="1250" b="1" dirty="0">
                <a:solidFill>
                  <a:srgbClr val="FBBF24"/>
                </a:solidFill>
                <a:latin typeface="Calibri" pitchFamily="34" charset="0"/>
                <a:ea typeface="Calibri" pitchFamily="34" charset="-122"/>
                <a:cs typeface="Calibri" pitchFamily="34" charset="-120"/>
              </a:rPr>
              <a:t>Background traffic</a:t>
            </a:r>
            <a:endParaRPr lang="en-US" sz="1250" dirty="0"/>
          </a:p>
        </p:txBody>
      </p:sp>
      <p:sp>
        <p:nvSpPr>
          <p:cNvPr id="11" name="Text 7"/>
          <p:cNvSpPr txBox="1"/>
          <p:nvPr/>
        </p:nvSpPr>
        <p:spPr>
          <a:xfrm>
            <a:off x="5943600" y="1655064"/>
            <a:ext cx="2651760" cy="64008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O(N² × f) relayed manifests. Fix: two-tier relay and a slower heartbeat while idle.</a:t>
            </a:r>
            <a:endParaRPr lang="en-US" sz="1050" dirty="0"/>
          </a:p>
        </p:txBody>
      </p:sp>
      <p:sp>
        <p:nvSpPr>
          <p:cNvPr id="12" name="Shape 8"/>
          <p:cNvSpPr/>
          <p:nvPr/>
        </p:nvSpPr>
        <p:spPr>
          <a:xfrm>
            <a:off x="5806440" y="2450592"/>
            <a:ext cx="2880360" cy="1005840"/>
          </a:xfrm>
          <a:prstGeom prst="roundRect">
            <a:avLst>
              <a:gd name="adj" fmla="val 7273"/>
            </a:avLst>
          </a:prstGeom>
          <a:solidFill>
            <a:srgbClr val="131C31"/>
          </a:solidFill>
          <a:ln w="9525">
            <a:solidFill>
              <a:srgbClr val="2A3A5F"/>
            </a:solidFill>
            <a:prstDash val="solid"/>
          </a:ln>
        </p:spPr>
      </p:sp>
      <p:sp>
        <p:nvSpPr>
          <p:cNvPr id="13" name="Text 9"/>
          <p:cNvSpPr txBox="1"/>
          <p:nvPr/>
        </p:nvSpPr>
        <p:spPr>
          <a:xfrm>
            <a:off x="5943600" y="2523744"/>
            <a:ext cx="2651760" cy="237744"/>
          </a:xfrm>
          <a:prstGeom prst="rect">
            <a:avLst/>
          </a:prstGeom>
          <a:noFill/>
          <a:ln/>
        </p:spPr>
        <p:txBody>
          <a:bodyPr wrap="square" lIns="0" tIns="0" rIns="0" bIns="0" rtlCol="0" anchor="t"/>
          <a:lstStyle/>
          <a:p>
            <a:pPr indent="0" marL="0">
              <a:buNone/>
            </a:pPr>
            <a:r>
              <a:rPr lang="en-US" sz="1250" b="1" dirty="0">
                <a:solidFill>
                  <a:srgbClr val="FBBF24"/>
                </a:solidFill>
                <a:latin typeface="Calibri" pitchFamily="34" charset="0"/>
                <a:ea typeface="Calibri" pitchFamily="34" charset="-122"/>
                <a:cs typeface="Calibri" pitchFamily="34" charset="-120"/>
              </a:rPr>
              <a:t>Local computation</a:t>
            </a:r>
            <a:endParaRPr lang="en-US" sz="1250" dirty="0"/>
          </a:p>
        </p:txBody>
      </p:sp>
      <p:sp>
        <p:nvSpPr>
          <p:cNvPr id="14" name="Text 10"/>
          <p:cNvSpPr txBox="1"/>
          <p:nvPr/>
        </p:nvSpPr>
        <p:spPr>
          <a:xfrm>
            <a:off x="5943600" y="2779776"/>
            <a:ext cx="2651760" cy="64008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O(N × T) bid evaluations per tick: trivial at 8 × 10, heavy at 100 × 100. Fix: rank only robots that can reach the task.</a:t>
            </a:r>
            <a:endParaRPr lang="en-US" sz="1050" dirty="0"/>
          </a:p>
        </p:txBody>
      </p:sp>
      <p:sp>
        <p:nvSpPr>
          <p:cNvPr id="15" name="Shape 11"/>
          <p:cNvSpPr/>
          <p:nvPr/>
        </p:nvSpPr>
        <p:spPr>
          <a:xfrm>
            <a:off x="5806440" y="3575304"/>
            <a:ext cx="2880360" cy="1005840"/>
          </a:xfrm>
          <a:prstGeom prst="roundRect">
            <a:avLst>
              <a:gd name="adj" fmla="val 7273"/>
            </a:avLst>
          </a:prstGeom>
          <a:solidFill>
            <a:srgbClr val="131C31"/>
          </a:solidFill>
          <a:ln w="9525">
            <a:solidFill>
              <a:srgbClr val="2A3A5F"/>
            </a:solidFill>
            <a:prstDash val="solid"/>
          </a:ln>
        </p:spPr>
      </p:sp>
      <p:sp>
        <p:nvSpPr>
          <p:cNvPr id="16" name="Text 12"/>
          <p:cNvSpPr txBox="1"/>
          <p:nvPr/>
        </p:nvSpPr>
        <p:spPr>
          <a:xfrm>
            <a:off x="5943600" y="3648456"/>
            <a:ext cx="2651760" cy="237744"/>
          </a:xfrm>
          <a:prstGeom prst="rect">
            <a:avLst/>
          </a:prstGeom>
          <a:noFill/>
          <a:ln/>
        </p:spPr>
        <p:txBody>
          <a:bodyPr wrap="square" lIns="0" tIns="0" rIns="0" bIns="0" rtlCol="0" anchor="t"/>
          <a:lstStyle/>
          <a:p>
            <a:pPr indent="0" marL="0">
              <a:buNone/>
            </a:pPr>
            <a:r>
              <a:rPr lang="en-US" sz="1250" b="1" dirty="0">
                <a:solidFill>
                  <a:srgbClr val="2DD4BF"/>
                </a:solidFill>
                <a:latin typeface="Calibri" pitchFamily="34" charset="0"/>
                <a:ea typeface="Calibri" pitchFamily="34" charset="-122"/>
                <a:cs typeface="Calibri" pitchFamily="34" charset="-120"/>
              </a:rPr>
              <a:t>We say so</a:t>
            </a:r>
            <a:endParaRPr lang="en-US" sz="1250" dirty="0"/>
          </a:p>
        </p:txBody>
      </p:sp>
      <p:sp>
        <p:nvSpPr>
          <p:cNvPr id="17" name="Text 13"/>
          <p:cNvSpPr txBox="1"/>
          <p:nvPr/>
        </p:nvSpPr>
        <p:spPr>
          <a:xfrm>
            <a:off x="5943600" y="3904488"/>
            <a:ext cx="2651760" cy="64008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At the demo rate (0.12 tasks/s) SHADE sends more messages overall. The win is latency, recovery and availability.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17  ·  EVALUATION DESIGN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How we will measure it</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457200" y="1325880"/>
            <a:ext cx="2651760" cy="2926080"/>
          </a:xfrm>
          <a:prstGeom prst="roundRect">
            <a:avLst>
              <a:gd name="adj" fmla="val 2759"/>
            </a:avLst>
          </a:prstGeom>
          <a:solidFill>
            <a:srgbClr val="131C31"/>
          </a:solidFill>
          <a:ln w="9525">
            <a:solidFill>
              <a:srgbClr val="2A3A5F"/>
            </a:solidFill>
            <a:prstDash val="solid"/>
          </a:ln>
        </p:spPr>
      </p:sp>
      <p:sp>
        <p:nvSpPr>
          <p:cNvPr id="8" name="Text 5"/>
          <p:cNvSpPr txBox="1"/>
          <p:nvPr/>
        </p:nvSpPr>
        <p:spPr>
          <a:xfrm>
            <a:off x="621792" y="1435608"/>
            <a:ext cx="22860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METRICS</a:t>
            </a:r>
            <a:endParaRPr lang="en-US" sz="1000" dirty="0"/>
          </a:p>
        </p:txBody>
      </p:sp>
      <p:sp>
        <p:nvSpPr>
          <p:cNvPr id="9" name="Text 6"/>
          <p:cNvSpPr txBox="1"/>
          <p:nvPr/>
        </p:nvSpPr>
        <p:spPr>
          <a:xfrm>
            <a:off x="621792" y="1737360"/>
            <a:ext cx="2377440" cy="24231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Completion before deadline</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Mean regret vs full-state oracle</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Time to claim (p50, p95)</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Starved tasks</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Duplicate robot-seconds</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Energy per task</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Heal convergence time</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Messages per task</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Byzantine cost before quarantine</a:t>
            </a:r>
            <a:endParaRPr lang="en-US" sz="1100" dirty="0"/>
          </a:p>
        </p:txBody>
      </p:sp>
      <p:sp>
        <p:nvSpPr>
          <p:cNvPr id="10" name="Shape 7"/>
          <p:cNvSpPr/>
          <p:nvPr/>
        </p:nvSpPr>
        <p:spPr>
          <a:xfrm>
            <a:off x="3246120" y="1325880"/>
            <a:ext cx="2651760" cy="2926080"/>
          </a:xfrm>
          <a:prstGeom prst="roundRect">
            <a:avLst>
              <a:gd name="adj" fmla="val 2759"/>
            </a:avLst>
          </a:prstGeom>
          <a:solidFill>
            <a:srgbClr val="131C31"/>
          </a:solidFill>
          <a:ln w="9525">
            <a:solidFill>
              <a:srgbClr val="2A3A5F"/>
            </a:solidFill>
            <a:prstDash val="solid"/>
          </a:ln>
        </p:spPr>
      </p:sp>
      <p:sp>
        <p:nvSpPr>
          <p:cNvPr id="11" name="Text 8"/>
          <p:cNvSpPr txBox="1"/>
          <p:nvPr/>
        </p:nvSpPr>
        <p:spPr>
          <a:xfrm>
            <a:off x="3410712" y="1435608"/>
            <a:ext cx="22860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BASELINES</a:t>
            </a:r>
            <a:endParaRPr lang="en-US" sz="1000" dirty="0"/>
          </a:p>
        </p:txBody>
      </p:sp>
      <p:sp>
        <p:nvSpPr>
          <p:cNvPr id="12" name="Text 9"/>
          <p:cNvSpPr txBox="1"/>
          <p:nvPr/>
        </p:nvSpPr>
        <p:spPr>
          <a:xfrm>
            <a:off x="3410712" y="1737360"/>
            <a:ext cx="2377440" cy="24231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Central oracle (perfect information)</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Central allocator over the real network</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Greedy nearest robot</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Plain auction with timeouts</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CBBA (Choi, Brunet, How, 2009)</a:t>
            </a:r>
            <a:endParaRPr lang="en-US" sz="1100" dirty="0"/>
          </a:p>
        </p:txBody>
      </p:sp>
      <p:sp>
        <p:nvSpPr>
          <p:cNvPr id="13" name="Shape 10"/>
          <p:cNvSpPr/>
          <p:nvPr/>
        </p:nvSpPr>
        <p:spPr>
          <a:xfrm>
            <a:off x="6035040" y="1325880"/>
            <a:ext cx="2651760" cy="2926080"/>
          </a:xfrm>
          <a:prstGeom prst="roundRect">
            <a:avLst>
              <a:gd name="adj" fmla="val 2759"/>
            </a:avLst>
          </a:prstGeom>
          <a:solidFill>
            <a:srgbClr val="131C31"/>
          </a:solidFill>
          <a:ln w="9525">
            <a:solidFill>
              <a:srgbClr val="2A3A5F"/>
            </a:solidFill>
            <a:prstDash val="solid"/>
          </a:ln>
        </p:spPr>
      </p:sp>
      <p:sp>
        <p:nvSpPr>
          <p:cNvPr id="14" name="Text 11"/>
          <p:cNvSpPr txBox="1"/>
          <p:nvPr/>
        </p:nvSpPr>
        <p:spPr>
          <a:xfrm>
            <a:off x="6199632" y="1435608"/>
            <a:ext cx="22860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ABLATIONS</a:t>
            </a:r>
            <a:endParaRPr lang="en-US" sz="1000" dirty="0"/>
          </a:p>
        </p:txBody>
      </p:sp>
      <p:sp>
        <p:nvSpPr>
          <p:cNvPr id="15" name="Text 12"/>
          <p:cNvSpPr txBox="1"/>
          <p:nvPr/>
        </p:nvSpPr>
        <p:spPr>
          <a:xfrm>
            <a:off x="6199632" y="1737360"/>
            <a:ext cx="2377440" cy="24231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No ghosts: always claim</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Strict ghosts: always wait</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No ratchet: heartbeat leases</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No witnesses</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Lowest-ID yield rule</a:t>
            </a:r>
            <a:endParaRPr lang="en-US" sz="1100" dirty="0"/>
          </a:p>
          <a:p>
            <a:pPr marL="152400" indent="-1524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No succession ranks</a:t>
            </a:r>
            <a:endParaRPr lang="en-US" sz="1100" dirty="0"/>
          </a:p>
        </p:txBody>
      </p:sp>
      <p:sp>
        <p:nvSpPr>
          <p:cNvPr id="16" name="Text 13"/>
          <p:cNvSpPr txBox="1"/>
          <p:nvPr/>
        </p:nvSpPr>
        <p:spPr>
          <a:xfrm>
            <a:off x="457200" y="4389120"/>
            <a:ext cx="8229600" cy="22860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30 seeds per configuration  ·  mean and 95% confidence interval  ·  identical seeds across methods  ·  scenario files published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18  ·  EXPERIMENT PLAN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Experiments</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19</a:t>
            </a:r>
            <a:endParaRPr lang="en-US" sz="900" dirty="0"/>
          </a:p>
        </p:txBody>
      </p:sp>
      <p:sp>
        <p:nvSpPr>
          <p:cNvPr id="7" name="Shape 4"/>
          <p:cNvSpPr/>
          <p:nvPr/>
        </p:nvSpPr>
        <p:spPr>
          <a:xfrm>
            <a:off x="6309360" y="274320"/>
            <a:ext cx="2377440" cy="256032"/>
          </a:xfrm>
          <a:prstGeom prst="roundRect">
            <a:avLst>
              <a:gd name="adj" fmla="val 50000"/>
            </a:avLst>
          </a:prstGeom>
          <a:solidFill>
            <a:srgbClr val="0B1120"/>
          </a:solidFill>
          <a:ln w="12700">
            <a:solidFill>
              <a:srgbClr val="F87171"/>
            </a:solidFill>
            <a:prstDash val="solid"/>
          </a:ln>
        </p:spPr>
      </p:sp>
      <p:sp>
        <p:nvSpPr>
          <p:cNvPr id="8" name="Text 5"/>
          <p:cNvSpPr txBox="1"/>
          <p:nvPr/>
        </p:nvSpPr>
        <p:spPr>
          <a:xfrm>
            <a:off x="6309360" y="274320"/>
            <a:ext cx="2377440" cy="256032"/>
          </a:xfrm>
          <a:prstGeom prst="rect">
            <a:avLst/>
          </a:prstGeom>
          <a:noFill/>
          <a:ln/>
        </p:spPr>
        <p:txBody>
          <a:bodyPr wrap="square" lIns="0" tIns="0" rIns="0" bIns="0" rtlCol="0" anchor="ctr"/>
          <a:lstStyle/>
          <a:p>
            <a:pPr algn="ctr" indent="0" marL="0">
              <a:buNone/>
            </a:pPr>
            <a:r>
              <a:rPr lang="en-US" sz="900" b="1" spc="200" kern="0" dirty="0">
                <a:solidFill>
                  <a:srgbClr val="F87171"/>
                </a:solidFill>
                <a:latin typeface="Calibri" pitchFamily="34" charset="0"/>
                <a:ea typeface="Calibri" pitchFamily="34" charset="-122"/>
                <a:cs typeface="Calibri" pitchFamily="34" charset="-120"/>
              </a:rPr>
              <a:t>HYPOTHESES, NOT RESULTS</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502920"/>
                <a:gridCol w="2743200"/>
                <a:gridCol w="1691640"/>
                <a:gridCol w="3291840"/>
              </a:tblGrid>
              <a:tr h="384048">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Question</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Sweep</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50" b="1" dirty="0">
                          <a:solidFill>
                            <a:srgbClr val="FBBF24"/>
                          </a:solidFill>
                          <a:latin typeface="Calibri" pitchFamily="34" charset="0"/>
                          <a:ea typeface="Calibri" pitchFamily="34" charset="-122"/>
                          <a:cs typeface="Calibri" pitchFamily="34" charset="-120"/>
                        </a:rPr>
                        <a:t>Expected outcome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r>
              <a:tr h="38404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E1</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What does SHADE cost when nothing fails?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Healthy fleet</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Close to the central oracle; more background messages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38404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E2</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How does it degrade with packet loss?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Loss 0 to 80%</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Completion holds longer than plain auction and central</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38404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E3</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What is the price of patience?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θ from 0.05 to 1.0</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Smooth regret vs latency curve; default near the knee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38404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E4</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Which mechanism matters most?</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Storm, all ablations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Each ablation loses on at least one metric</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38404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E5</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How fast does it recover from a heal?</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2 and 3 partitions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Contested tasks resolved within seconds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38404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E6</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How much can faulty robots hurt?</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4 attack types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At most one lease period per strike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38404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E7</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Does it scale?</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10 to 100 robots</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Per-task cost flat; computation needs pruning</a:t>
                      </a:r>
                      <a:endParaRPr lang="en-US" sz="105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19  ·  SIMULATION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Simulation: ROS 2 + Gazebo, plus a fast headless mode</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6766560" y="274320"/>
            <a:ext cx="1920240" cy="256032"/>
          </a:xfrm>
          <a:prstGeom prst="roundRect">
            <a:avLst>
              <a:gd name="adj" fmla="val 50000"/>
            </a:avLst>
          </a:prstGeom>
          <a:solidFill>
            <a:srgbClr val="0B1120"/>
          </a:solidFill>
          <a:ln w="12700">
            <a:solidFill>
              <a:srgbClr val="FBBF24"/>
            </a:solidFill>
            <a:prstDash val="solid"/>
          </a:ln>
        </p:spPr>
      </p:sp>
      <p:sp>
        <p:nvSpPr>
          <p:cNvPr id="8" name="Text 5"/>
          <p:cNvSpPr txBox="1"/>
          <p:nvPr/>
        </p:nvSpPr>
        <p:spPr>
          <a:xfrm>
            <a:off x="6766560" y="274320"/>
            <a:ext cx="1920240" cy="256032"/>
          </a:xfrm>
          <a:prstGeom prst="rect">
            <a:avLst/>
          </a:prstGeom>
          <a:noFill/>
          <a:ln/>
        </p:spPr>
        <p:txBody>
          <a:bodyPr wrap="square" lIns="0" tIns="0" rIns="0" bIns="0" rtlCol="0" anchor="ctr"/>
          <a:lstStyle/>
          <a:p>
            <a:pPr algn="ctr" indent="0" marL="0">
              <a:buNone/>
            </a:pPr>
            <a:r>
              <a:rPr lang="en-US" sz="900" b="1" spc="200" kern="0" dirty="0">
                <a:solidFill>
                  <a:srgbClr val="FBBF24"/>
                </a:solidFill>
                <a:latin typeface="Calibri" pitchFamily="34" charset="0"/>
                <a:ea typeface="Calibri" pitchFamily="34" charset="-122"/>
                <a:cs typeface="Calibri" pitchFamily="34" charset="-120"/>
              </a:rPr>
              <a:t>IN DEVELOPMENT</a:t>
            </a:r>
            <a:endParaRPr lang="en-US" sz="900" dirty="0"/>
          </a:p>
        </p:txBody>
      </p:sp>
      <p:sp>
        <p:nvSpPr>
          <p:cNvPr id="9" name="Shape 6"/>
          <p:cNvSpPr/>
          <p:nvPr/>
        </p:nvSpPr>
        <p:spPr>
          <a:xfrm>
            <a:off x="457200" y="1325880"/>
            <a:ext cx="4572000" cy="548640"/>
          </a:xfrm>
          <a:prstGeom prst="roundRect">
            <a:avLst>
              <a:gd name="adj" fmla="val 13333"/>
            </a:avLst>
          </a:prstGeom>
          <a:solidFill>
            <a:srgbClr val="131C31"/>
          </a:solidFill>
          <a:ln w="9525">
            <a:solidFill>
              <a:srgbClr val="2A3A5F"/>
            </a:solidFill>
            <a:prstDash val="solid"/>
          </a:ln>
        </p:spPr>
      </p:sp>
      <p:sp>
        <p:nvSpPr>
          <p:cNvPr id="10" name="Text 7"/>
          <p:cNvSpPr txBox="1"/>
          <p:nvPr/>
        </p:nvSpPr>
        <p:spPr>
          <a:xfrm>
            <a:off x="621792" y="1380744"/>
            <a:ext cx="4297680" cy="219456"/>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Gazebo Harmonic world</a:t>
            </a:r>
            <a:endParaRPr lang="en-US" sz="1200" dirty="0"/>
          </a:p>
        </p:txBody>
      </p:sp>
      <p:sp>
        <p:nvSpPr>
          <p:cNvPr id="11" name="Text 8"/>
          <p:cNvSpPr txBox="1"/>
          <p:nvPr/>
        </p:nvSpPr>
        <p:spPr>
          <a:xfrm>
            <a:off x="621792" y="1609344"/>
            <a:ext cx="4297680" cy="219456"/>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arena, obstacles, 12 work sites, chargers, 8 diff-drive robots</a:t>
            </a:r>
            <a:endParaRPr lang="en-US" sz="1000" dirty="0"/>
          </a:p>
        </p:txBody>
      </p:sp>
      <p:sp>
        <p:nvSpPr>
          <p:cNvPr id="12" name="Shape 9"/>
          <p:cNvSpPr/>
          <p:nvPr/>
        </p:nvSpPr>
        <p:spPr>
          <a:xfrm>
            <a:off x="2743200" y="1874520"/>
            <a:ext cx="0" cy="109728"/>
          </a:xfrm>
          <a:prstGeom prst="line">
            <a:avLst/>
          </a:prstGeom>
          <a:noFill/>
          <a:ln w="15875">
            <a:solidFill>
              <a:srgbClr val="94A3B8"/>
            </a:solidFill>
            <a:prstDash val="solid"/>
            <a:tailEnd type="triangle"/>
          </a:ln>
        </p:spPr>
      </p:sp>
      <p:sp>
        <p:nvSpPr>
          <p:cNvPr id="13" name="Shape 10"/>
          <p:cNvSpPr/>
          <p:nvPr/>
        </p:nvSpPr>
        <p:spPr>
          <a:xfrm>
            <a:off x="457200" y="1984248"/>
            <a:ext cx="4572000" cy="548640"/>
          </a:xfrm>
          <a:prstGeom prst="roundRect">
            <a:avLst>
              <a:gd name="adj" fmla="val 13333"/>
            </a:avLst>
          </a:prstGeom>
          <a:solidFill>
            <a:srgbClr val="131C31"/>
          </a:solidFill>
          <a:ln w="9525">
            <a:solidFill>
              <a:srgbClr val="2A3A5F"/>
            </a:solidFill>
            <a:prstDash val="solid"/>
          </a:ln>
        </p:spPr>
      </p:sp>
      <p:sp>
        <p:nvSpPr>
          <p:cNvPr id="14" name="Text 11"/>
          <p:cNvSpPr txBox="1"/>
          <p:nvPr/>
        </p:nvSpPr>
        <p:spPr>
          <a:xfrm>
            <a:off x="621792" y="2039112"/>
            <a:ext cx="4297680" cy="219456"/>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ros_gz bridge</a:t>
            </a:r>
            <a:endParaRPr lang="en-US" sz="1200" dirty="0"/>
          </a:p>
        </p:txBody>
      </p:sp>
      <p:sp>
        <p:nvSpPr>
          <p:cNvPr id="15" name="Text 12"/>
          <p:cNvSpPr txBox="1"/>
          <p:nvPr/>
        </p:nvSpPr>
        <p:spPr>
          <a:xfrm>
            <a:off x="621792" y="2267712"/>
            <a:ext cx="4297680" cy="219456"/>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velocity commands, odometry, clock</a:t>
            </a:r>
            <a:endParaRPr lang="en-US" sz="1000" dirty="0"/>
          </a:p>
        </p:txBody>
      </p:sp>
      <p:sp>
        <p:nvSpPr>
          <p:cNvPr id="16" name="Shape 13"/>
          <p:cNvSpPr/>
          <p:nvPr/>
        </p:nvSpPr>
        <p:spPr>
          <a:xfrm>
            <a:off x="2743200" y="2532888"/>
            <a:ext cx="0" cy="109728"/>
          </a:xfrm>
          <a:prstGeom prst="line">
            <a:avLst/>
          </a:prstGeom>
          <a:noFill/>
          <a:ln w="15875">
            <a:solidFill>
              <a:srgbClr val="94A3B8"/>
            </a:solidFill>
            <a:prstDash val="solid"/>
            <a:tailEnd type="triangle"/>
          </a:ln>
        </p:spPr>
      </p:sp>
      <p:sp>
        <p:nvSpPr>
          <p:cNvPr id="17" name="Shape 14"/>
          <p:cNvSpPr/>
          <p:nvPr/>
        </p:nvSpPr>
        <p:spPr>
          <a:xfrm>
            <a:off x="457200" y="2642616"/>
            <a:ext cx="4572000" cy="548640"/>
          </a:xfrm>
          <a:prstGeom prst="roundRect">
            <a:avLst>
              <a:gd name="adj" fmla="val 13333"/>
            </a:avLst>
          </a:prstGeom>
          <a:solidFill>
            <a:srgbClr val="2A2410"/>
          </a:solidFill>
          <a:ln w="9525">
            <a:solidFill>
              <a:srgbClr val="FBBF24"/>
            </a:solidFill>
            <a:prstDash val="solid"/>
          </a:ln>
        </p:spPr>
      </p:sp>
      <p:sp>
        <p:nvSpPr>
          <p:cNvPr id="18" name="Text 15"/>
          <p:cNvSpPr txBox="1"/>
          <p:nvPr/>
        </p:nvSpPr>
        <p:spPr>
          <a:xfrm>
            <a:off x="621792" y="2697480"/>
            <a:ext cx="4297680" cy="219456"/>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8 SHADE agent nodes</a:t>
            </a:r>
            <a:endParaRPr lang="en-US" sz="1200" dirty="0"/>
          </a:p>
        </p:txBody>
      </p:sp>
      <p:sp>
        <p:nvSpPr>
          <p:cNvPr id="19" name="Text 16"/>
          <p:cNvSpPr txBox="1"/>
          <p:nvPr/>
        </p:nvSpPr>
        <p:spPr>
          <a:xfrm>
            <a:off x="621792" y="2926080"/>
            <a:ext cx="4297680" cy="219456"/>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one per robot, the real protocol code</a:t>
            </a:r>
            <a:endParaRPr lang="en-US" sz="1000" dirty="0"/>
          </a:p>
        </p:txBody>
      </p:sp>
      <p:sp>
        <p:nvSpPr>
          <p:cNvPr id="20" name="Shape 17"/>
          <p:cNvSpPr/>
          <p:nvPr/>
        </p:nvSpPr>
        <p:spPr>
          <a:xfrm>
            <a:off x="2743200" y="3191256"/>
            <a:ext cx="0" cy="109728"/>
          </a:xfrm>
          <a:prstGeom prst="line">
            <a:avLst/>
          </a:prstGeom>
          <a:noFill/>
          <a:ln w="15875">
            <a:solidFill>
              <a:srgbClr val="94A3B8"/>
            </a:solidFill>
            <a:prstDash val="solid"/>
            <a:tailEnd type="triangle"/>
          </a:ln>
        </p:spPr>
      </p:sp>
      <p:sp>
        <p:nvSpPr>
          <p:cNvPr id="21" name="Shape 18"/>
          <p:cNvSpPr/>
          <p:nvPr/>
        </p:nvSpPr>
        <p:spPr>
          <a:xfrm>
            <a:off x="457200" y="3300984"/>
            <a:ext cx="4572000" cy="548640"/>
          </a:xfrm>
          <a:prstGeom prst="roundRect">
            <a:avLst>
              <a:gd name="adj" fmla="val 13333"/>
            </a:avLst>
          </a:prstGeom>
          <a:solidFill>
            <a:srgbClr val="131C31"/>
          </a:solidFill>
          <a:ln w="9525">
            <a:solidFill>
              <a:srgbClr val="2A3A5F"/>
            </a:solidFill>
            <a:prstDash val="solid"/>
          </a:ln>
        </p:spPr>
      </p:sp>
      <p:sp>
        <p:nvSpPr>
          <p:cNvPr id="22" name="Text 19"/>
          <p:cNvSpPr txBox="1"/>
          <p:nvPr/>
        </p:nvSpPr>
        <p:spPr>
          <a:xfrm>
            <a:off x="621792" y="3355848"/>
            <a:ext cx="4297680" cy="219456"/>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Referee node</a:t>
            </a:r>
            <a:endParaRPr lang="en-US" sz="1200" dirty="0"/>
          </a:p>
        </p:txBody>
      </p:sp>
      <p:sp>
        <p:nvSpPr>
          <p:cNvPr id="23" name="Text 20"/>
          <p:cNvSpPr txBox="1"/>
          <p:nvPr/>
        </p:nvSpPr>
        <p:spPr>
          <a:xfrm>
            <a:off x="621792" y="3584448"/>
            <a:ext cx="4297680" cy="219456"/>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network emulator, fault injector, task sites, metrics</a:t>
            </a:r>
            <a:endParaRPr lang="en-US" sz="1000" dirty="0"/>
          </a:p>
        </p:txBody>
      </p:sp>
      <p:sp>
        <p:nvSpPr>
          <p:cNvPr id="24" name="Shape 21"/>
          <p:cNvSpPr/>
          <p:nvPr/>
        </p:nvSpPr>
        <p:spPr>
          <a:xfrm>
            <a:off x="2743200" y="3849624"/>
            <a:ext cx="0" cy="109728"/>
          </a:xfrm>
          <a:prstGeom prst="line">
            <a:avLst/>
          </a:prstGeom>
          <a:noFill/>
          <a:ln w="15875">
            <a:solidFill>
              <a:srgbClr val="94A3B8"/>
            </a:solidFill>
            <a:prstDash val="solid"/>
            <a:tailEnd type="triangle"/>
          </a:ln>
        </p:spPr>
      </p:sp>
      <p:sp>
        <p:nvSpPr>
          <p:cNvPr id="25" name="Shape 22"/>
          <p:cNvSpPr/>
          <p:nvPr/>
        </p:nvSpPr>
        <p:spPr>
          <a:xfrm>
            <a:off x="457200" y="3959352"/>
            <a:ext cx="4572000" cy="548640"/>
          </a:xfrm>
          <a:prstGeom prst="roundRect">
            <a:avLst>
              <a:gd name="adj" fmla="val 13333"/>
            </a:avLst>
          </a:prstGeom>
          <a:solidFill>
            <a:srgbClr val="131C31"/>
          </a:solidFill>
          <a:ln w="9525">
            <a:solidFill>
              <a:srgbClr val="2A3A5F"/>
            </a:solidFill>
            <a:prstDash val="solid"/>
          </a:ln>
        </p:spPr>
      </p:sp>
      <p:sp>
        <p:nvSpPr>
          <p:cNvPr id="26" name="Text 23"/>
          <p:cNvSpPr txBox="1"/>
          <p:nvPr/>
        </p:nvSpPr>
        <p:spPr>
          <a:xfrm>
            <a:off x="621792" y="4014216"/>
            <a:ext cx="4297680" cy="219456"/>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RViz overlay</a:t>
            </a:r>
            <a:endParaRPr lang="en-US" sz="1200" dirty="0"/>
          </a:p>
        </p:txBody>
      </p:sp>
      <p:sp>
        <p:nvSpPr>
          <p:cNvPr id="27" name="Text 24"/>
          <p:cNvSpPr txBox="1"/>
          <p:nvPr/>
        </p:nvSpPr>
        <p:spPr>
          <a:xfrm>
            <a:off x="621792" y="4242816"/>
            <a:ext cx="4297680" cy="219456"/>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tasks, links, cuts, ghost halos, claims</a:t>
            </a:r>
            <a:endParaRPr lang="en-US" sz="1000" dirty="0"/>
          </a:p>
        </p:txBody>
      </p:sp>
      <p:sp>
        <p:nvSpPr>
          <p:cNvPr id="28" name="Shape 25"/>
          <p:cNvSpPr/>
          <p:nvPr/>
        </p:nvSpPr>
        <p:spPr>
          <a:xfrm>
            <a:off x="5303520" y="1325880"/>
            <a:ext cx="3383280" cy="1554480"/>
          </a:xfrm>
          <a:prstGeom prst="roundRect">
            <a:avLst>
              <a:gd name="adj" fmla="val 4706"/>
            </a:avLst>
          </a:prstGeom>
          <a:solidFill>
            <a:srgbClr val="131C31"/>
          </a:solidFill>
          <a:ln w="9525">
            <a:solidFill>
              <a:srgbClr val="2A3A5F"/>
            </a:solidFill>
            <a:prstDash val="solid"/>
          </a:ln>
        </p:spPr>
      </p:sp>
      <p:sp>
        <p:nvSpPr>
          <p:cNvPr id="29" name="Text 26"/>
          <p:cNvSpPr txBox="1"/>
          <p:nvPr/>
        </p:nvSpPr>
        <p:spPr>
          <a:xfrm>
            <a:off x="5468112" y="1417320"/>
            <a:ext cx="27432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FLEET</a:t>
            </a:r>
            <a:endParaRPr lang="en-US" sz="1000" dirty="0"/>
          </a:p>
        </p:txBody>
      </p:sp>
      <p:sp>
        <p:nvSpPr>
          <p:cNvPr id="30" name="Text 27"/>
          <p:cNvSpPr txBox="1"/>
          <p:nvPr/>
        </p:nvSpPr>
        <p:spPr>
          <a:xfrm>
            <a:off x="5468112" y="1691640"/>
            <a:ext cx="1188720" cy="320040"/>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Scout × 3</a:t>
            </a:r>
            <a:endParaRPr lang="en-US" sz="1100" dirty="0"/>
          </a:p>
        </p:txBody>
      </p:sp>
      <p:sp>
        <p:nvSpPr>
          <p:cNvPr id="31" name="Text 28"/>
          <p:cNvSpPr txBox="1"/>
          <p:nvPr/>
        </p:nvSpPr>
        <p:spPr>
          <a:xfrm>
            <a:off x="6675120" y="1691640"/>
            <a:ext cx="196596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SENSE, 1.0 m/s</a:t>
            </a:r>
            <a:endParaRPr lang="en-US" sz="1000" dirty="0"/>
          </a:p>
        </p:txBody>
      </p:sp>
      <p:sp>
        <p:nvSpPr>
          <p:cNvPr id="32" name="Text 29"/>
          <p:cNvSpPr txBox="1"/>
          <p:nvPr/>
        </p:nvSpPr>
        <p:spPr>
          <a:xfrm>
            <a:off x="5468112" y="2057400"/>
            <a:ext cx="1188720" cy="320040"/>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Hauler × 3</a:t>
            </a:r>
            <a:endParaRPr lang="en-US" sz="1100" dirty="0"/>
          </a:p>
        </p:txBody>
      </p:sp>
      <p:sp>
        <p:nvSpPr>
          <p:cNvPr id="33" name="Text 30"/>
          <p:cNvSpPr txBox="1"/>
          <p:nvPr/>
        </p:nvSpPr>
        <p:spPr>
          <a:xfrm>
            <a:off x="6675120" y="2057400"/>
            <a:ext cx="196596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CARRY, 0.6 m/s</a:t>
            </a:r>
            <a:endParaRPr lang="en-US" sz="1000" dirty="0"/>
          </a:p>
        </p:txBody>
      </p:sp>
      <p:sp>
        <p:nvSpPr>
          <p:cNvPr id="34" name="Text 31"/>
          <p:cNvSpPr txBox="1"/>
          <p:nvPr/>
        </p:nvSpPr>
        <p:spPr>
          <a:xfrm>
            <a:off x="5468112" y="2423160"/>
            <a:ext cx="1188720" cy="320040"/>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Generalist × 2</a:t>
            </a:r>
            <a:endParaRPr lang="en-US" sz="1100" dirty="0"/>
          </a:p>
        </p:txBody>
      </p:sp>
      <p:sp>
        <p:nvSpPr>
          <p:cNvPr id="35" name="Text 32"/>
          <p:cNvSpPr txBox="1"/>
          <p:nvPr/>
        </p:nvSpPr>
        <p:spPr>
          <a:xfrm>
            <a:off x="6675120" y="2423160"/>
            <a:ext cx="196596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SENSE, CARRY, MANIPULATE, 0.8 m/s</a:t>
            </a:r>
            <a:endParaRPr lang="en-US" sz="1000" dirty="0"/>
          </a:p>
        </p:txBody>
      </p:sp>
      <p:sp>
        <p:nvSpPr>
          <p:cNvPr id="36" name="Shape 33"/>
          <p:cNvSpPr/>
          <p:nvPr/>
        </p:nvSpPr>
        <p:spPr>
          <a:xfrm>
            <a:off x="5303520" y="3017520"/>
            <a:ext cx="3383280" cy="1600200"/>
          </a:xfrm>
          <a:prstGeom prst="roundRect">
            <a:avLst>
              <a:gd name="adj" fmla="val 4571"/>
            </a:avLst>
          </a:prstGeom>
          <a:solidFill>
            <a:srgbClr val="131C31"/>
          </a:solidFill>
          <a:ln w="9525">
            <a:solidFill>
              <a:srgbClr val="2A3A5F"/>
            </a:solidFill>
            <a:prstDash val="solid"/>
          </a:ln>
        </p:spPr>
      </p:sp>
      <p:sp>
        <p:nvSpPr>
          <p:cNvPr id="37" name="Text 34"/>
          <p:cNvSpPr txBox="1"/>
          <p:nvPr/>
        </p:nvSpPr>
        <p:spPr>
          <a:xfrm>
            <a:off x="5468112" y="3108960"/>
            <a:ext cx="27432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SCENARIOS</a:t>
            </a:r>
            <a:endParaRPr lang="en-US" sz="1000" dirty="0"/>
          </a:p>
        </p:txBody>
      </p:sp>
      <p:sp>
        <p:nvSpPr>
          <p:cNvPr id="38" name="Shape 35"/>
          <p:cNvSpPr/>
          <p:nvPr/>
        </p:nvSpPr>
        <p:spPr>
          <a:xfrm>
            <a:off x="5468112" y="3401568"/>
            <a:ext cx="791870" cy="246888"/>
          </a:xfrm>
          <a:prstGeom prst="roundRect">
            <a:avLst>
              <a:gd name="adj" fmla="val 50000"/>
            </a:avLst>
          </a:prstGeom>
          <a:solidFill>
            <a:srgbClr val="1B2742"/>
          </a:solidFill>
          <a:ln w="9525">
            <a:solidFill>
              <a:srgbClr val="3B4A6B"/>
            </a:solidFill>
            <a:prstDash val="solid"/>
          </a:ln>
        </p:spPr>
      </p:sp>
      <p:sp>
        <p:nvSpPr>
          <p:cNvPr id="39" name="Text 36"/>
          <p:cNvSpPr txBox="1"/>
          <p:nvPr/>
        </p:nvSpPr>
        <p:spPr>
          <a:xfrm>
            <a:off x="5468112" y="3401568"/>
            <a:ext cx="791870" cy="2468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Healthy</a:t>
            </a:r>
            <a:endParaRPr lang="en-US" sz="1000" dirty="0"/>
          </a:p>
        </p:txBody>
      </p:sp>
      <p:sp>
        <p:nvSpPr>
          <p:cNvPr id="40" name="Shape 37"/>
          <p:cNvSpPr/>
          <p:nvPr/>
        </p:nvSpPr>
        <p:spPr>
          <a:xfrm>
            <a:off x="6351422" y="3401568"/>
            <a:ext cx="649224" cy="246888"/>
          </a:xfrm>
          <a:prstGeom prst="roundRect">
            <a:avLst>
              <a:gd name="adj" fmla="val 50000"/>
            </a:avLst>
          </a:prstGeom>
          <a:solidFill>
            <a:srgbClr val="1B2742"/>
          </a:solidFill>
          <a:ln w="9525">
            <a:solidFill>
              <a:srgbClr val="3B4A6B"/>
            </a:solidFill>
            <a:prstDash val="solid"/>
          </a:ln>
        </p:spPr>
      </p:sp>
      <p:sp>
        <p:nvSpPr>
          <p:cNvPr id="41" name="Text 38"/>
          <p:cNvSpPr txBox="1"/>
          <p:nvPr/>
        </p:nvSpPr>
        <p:spPr>
          <a:xfrm>
            <a:off x="6351422" y="3401568"/>
            <a:ext cx="649224" cy="2468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Lossy</a:t>
            </a:r>
            <a:endParaRPr lang="en-US" sz="1000" dirty="0"/>
          </a:p>
        </p:txBody>
      </p:sp>
      <p:sp>
        <p:nvSpPr>
          <p:cNvPr id="42" name="Shape 39"/>
          <p:cNvSpPr/>
          <p:nvPr/>
        </p:nvSpPr>
        <p:spPr>
          <a:xfrm>
            <a:off x="7092086" y="3401568"/>
            <a:ext cx="934517" cy="246888"/>
          </a:xfrm>
          <a:prstGeom prst="roundRect">
            <a:avLst>
              <a:gd name="adj" fmla="val 50000"/>
            </a:avLst>
          </a:prstGeom>
          <a:solidFill>
            <a:srgbClr val="1B2742"/>
          </a:solidFill>
          <a:ln w="9525">
            <a:solidFill>
              <a:srgbClr val="3B4A6B"/>
            </a:solidFill>
            <a:prstDash val="solid"/>
          </a:ln>
        </p:spPr>
      </p:sp>
      <p:sp>
        <p:nvSpPr>
          <p:cNvPr id="43" name="Text 40"/>
          <p:cNvSpPr txBox="1"/>
          <p:nvPr/>
        </p:nvSpPr>
        <p:spPr>
          <a:xfrm>
            <a:off x="7092086" y="3401568"/>
            <a:ext cx="934517" cy="2468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Partition</a:t>
            </a:r>
            <a:endParaRPr lang="en-US" sz="1000" dirty="0"/>
          </a:p>
        </p:txBody>
      </p:sp>
      <p:sp>
        <p:nvSpPr>
          <p:cNvPr id="44" name="Shape 41"/>
          <p:cNvSpPr/>
          <p:nvPr/>
        </p:nvSpPr>
        <p:spPr>
          <a:xfrm>
            <a:off x="5468112" y="3721608"/>
            <a:ext cx="863194" cy="246888"/>
          </a:xfrm>
          <a:prstGeom prst="roundRect">
            <a:avLst>
              <a:gd name="adj" fmla="val 50000"/>
            </a:avLst>
          </a:prstGeom>
          <a:solidFill>
            <a:srgbClr val="1B2742"/>
          </a:solidFill>
          <a:ln w="9525">
            <a:solidFill>
              <a:srgbClr val="3B4A6B"/>
            </a:solidFill>
            <a:prstDash val="solid"/>
          </a:ln>
        </p:spPr>
      </p:sp>
      <p:sp>
        <p:nvSpPr>
          <p:cNvPr id="45" name="Text 42"/>
          <p:cNvSpPr txBox="1"/>
          <p:nvPr/>
        </p:nvSpPr>
        <p:spPr>
          <a:xfrm>
            <a:off x="5468112" y="3721608"/>
            <a:ext cx="863194" cy="2468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Flapping</a:t>
            </a:r>
            <a:endParaRPr lang="en-US" sz="1000" dirty="0"/>
          </a:p>
        </p:txBody>
      </p:sp>
      <p:sp>
        <p:nvSpPr>
          <p:cNvPr id="46" name="Shape 43"/>
          <p:cNvSpPr/>
          <p:nvPr/>
        </p:nvSpPr>
        <p:spPr>
          <a:xfrm>
            <a:off x="6422746" y="3721608"/>
            <a:ext cx="791870" cy="246888"/>
          </a:xfrm>
          <a:prstGeom prst="roundRect">
            <a:avLst>
              <a:gd name="adj" fmla="val 50000"/>
            </a:avLst>
          </a:prstGeom>
          <a:solidFill>
            <a:srgbClr val="1B2742"/>
          </a:solidFill>
          <a:ln w="9525">
            <a:solidFill>
              <a:srgbClr val="3B4A6B"/>
            </a:solidFill>
            <a:prstDash val="solid"/>
          </a:ln>
        </p:spPr>
      </p:sp>
      <p:sp>
        <p:nvSpPr>
          <p:cNvPr id="47" name="Text 44"/>
          <p:cNvSpPr txBox="1"/>
          <p:nvPr/>
        </p:nvSpPr>
        <p:spPr>
          <a:xfrm>
            <a:off x="6422746" y="3721608"/>
            <a:ext cx="791870" cy="2468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Crashes</a:t>
            </a:r>
            <a:endParaRPr lang="en-US" sz="1000" dirty="0"/>
          </a:p>
        </p:txBody>
      </p:sp>
      <p:sp>
        <p:nvSpPr>
          <p:cNvPr id="48" name="Shape 45"/>
          <p:cNvSpPr/>
          <p:nvPr/>
        </p:nvSpPr>
        <p:spPr>
          <a:xfrm>
            <a:off x="7306056" y="3721608"/>
            <a:ext cx="934517" cy="246888"/>
          </a:xfrm>
          <a:prstGeom prst="roundRect">
            <a:avLst>
              <a:gd name="adj" fmla="val 50000"/>
            </a:avLst>
          </a:prstGeom>
          <a:solidFill>
            <a:srgbClr val="1B2742"/>
          </a:solidFill>
          <a:ln w="9525">
            <a:solidFill>
              <a:srgbClr val="3B4A6B"/>
            </a:solidFill>
            <a:prstDash val="solid"/>
          </a:ln>
        </p:spPr>
      </p:sp>
      <p:sp>
        <p:nvSpPr>
          <p:cNvPr id="49" name="Text 46"/>
          <p:cNvSpPr txBox="1"/>
          <p:nvPr/>
        </p:nvSpPr>
        <p:spPr>
          <a:xfrm>
            <a:off x="7306056" y="3721608"/>
            <a:ext cx="934517" cy="2468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Byzantine</a:t>
            </a:r>
            <a:endParaRPr lang="en-US" sz="1000" dirty="0"/>
          </a:p>
        </p:txBody>
      </p:sp>
      <p:sp>
        <p:nvSpPr>
          <p:cNvPr id="50" name="Shape 47"/>
          <p:cNvSpPr/>
          <p:nvPr/>
        </p:nvSpPr>
        <p:spPr>
          <a:xfrm>
            <a:off x="5468112" y="4041648"/>
            <a:ext cx="649224" cy="246888"/>
          </a:xfrm>
          <a:prstGeom prst="roundRect">
            <a:avLst>
              <a:gd name="adj" fmla="val 50000"/>
            </a:avLst>
          </a:prstGeom>
          <a:solidFill>
            <a:srgbClr val="1B2742"/>
          </a:solidFill>
          <a:ln w="9525">
            <a:solidFill>
              <a:srgbClr val="3B4A6B"/>
            </a:solidFill>
            <a:prstDash val="solid"/>
          </a:ln>
        </p:spPr>
      </p:sp>
      <p:sp>
        <p:nvSpPr>
          <p:cNvPr id="51" name="Text 48"/>
          <p:cNvSpPr txBox="1"/>
          <p:nvPr/>
        </p:nvSpPr>
        <p:spPr>
          <a:xfrm>
            <a:off x="5468112" y="4041648"/>
            <a:ext cx="649224" cy="2468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Scale</a:t>
            </a:r>
            <a:endParaRPr lang="en-US" sz="1000" dirty="0"/>
          </a:p>
        </p:txBody>
      </p:sp>
      <p:sp>
        <p:nvSpPr>
          <p:cNvPr id="52" name="Shape 49"/>
          <p:cNvSpPr/>
          <p:nvPr/>
        </p:nvSpPr>
        <p:spPr>
          <a:xfrm>
            <a:off x="6208776" y="4041648"/>
            <a:ext cx="649224" cy="246888"/>
          </a:xfrm>
          <a:prstGeom prst="roundRect">
            <a:avLst>
              <a:gd name="adj" fmla="val 50000"/>
            </a:avLst>
          </a:prstGeom>
          <a:solidFill>
            <a:srgbClr val="1B2742"/>
          </a:solidFill>
          <a:ln w="9525">
            <a:solidFill>
              <a:srgbClr val="3B4A6B"/>
            </a:solidFill>
            <a:prstDash val="solid"/>
          </a:ln>
        </p:spPr>
      </p:sp>
      <p:sp>
        <p:nvSpPr>
          <p:cNvPr id="53" name="Text 50"/>
          <p:cNvSpPr txBox="1"/>
          <p:nvPr/>
        </p:nvSpPr>
        <p:spPr>
          <a:xfrm>
            <a:off x="6208776" y="4041648"/>
            <a:ext cx="649224" cy="2468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Storm</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20  ·  DEMO SCRIPT</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Seven-minute demo</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777240"/>
                <a:gridCol w="3017520"/>
                <a:gridCol w="4434840"/>
              </a:tblGrid>
              <a:tr h="393192">
                <a:tc>
                  <a:txBody>
                    <a:bodyPr/>
                    <a:lstStyle/>
                    <a:p>
                      <a:pPr indent="0" marL="0">
                        <a:buNone/>
                      </a:pPr>
                      <a:r>
                        <a:rPr lang="en-US" sz="1100" b="1" dirty="0">
                          <a:solidFill>
                            <a:srgbClr val="FBBF24"/>
                          </a:solidFill>
                          <a:latin typeface="Calibri" pitchFamily="34" charset="0"/>
                          <a:ea typeface="Calibri" pitchFamily="34" charset="-122"/>
                          <a:cs typeface="Calibri" pitchFamily="34" charset="-120"/>
                        </a:rPr>
                        <a:t>Minute</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100" b="1" dirty="0">
                          <a:solidFill>
                            <a:srgbClr val="FBBF24"/>
                          </a:solidFill>
                          <a:latin typeface="Calibri" pitchFamily="34" charset="0"/>
                          <a:ea typeface="Calibri" pitchFamily="34" charset="-122"/>
                          <a:cs typeface="Calibri" pitchFamily="34" charset="-120"/>
                        </a:rPr>
                        <a:t>Action</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100" b="1" dirty="0">
                          <a:solidFill>
                            <a:srgbClr val="FBBF24"/>
                          </a:solidFill>
                          <a:latin typeface="Calibri" pitchFamily="34" charset="0"/>
                          <a:ea typeface="Calibri" pitchFamily="34" charset="-122"/>
                          <a:cs typeface="Calibri" pitchFamily="34" charset="-120"/>
                        </a:rPr>
                        <a:t>What the audience sees and learns</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r>
              <a:tr h="39319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Healthy run beside the central baseline</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Similar completion: the protocol costs little when nothing fails</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39319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Kill the central allocator</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Central fleet freezes; SHADE fleet continues</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39319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Cut the network into two groups</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Ghost halos appear and grow: silence is quantified</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39319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Create a task near a ghost</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A robot waits about a second, then claims</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39319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Inject a stall attacker</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Its lease stops renewing; the next rank takes over</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39319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Heal the network</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Two owners of one task; the closer one keeps it</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39319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Show the trade-off curve and ablations</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Every mechanism is measured, including its costs</a:t>
                      </a:r>
                      <a:endParaRPr lang="en-US" sz="11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21  ·  TECHNOLOGY</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Tech stack</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457200" y="1325880"/>
            <a:ext cx="8229600" cy="402336"/>
          </a:xfrm>
          <a:prstGeom prst="roundRect">
            <a:avLst>
              <a:gd name="adj" fmla="val 18182"/>
            </a:avLst>
          </a:prstGeom>
          <a:solidFill>
            <a:srgbClr val="131C31"/>
          </a:solidFill>
          <a:ln w="9525">
            <a:solidFill>
              <a:srgbClr val="2A3A5F"/>
            </a:solidFill>
            <a:prstDash val="solid"/>
          </a:ln>
        </p:spPr>
      </p:sp>
      <p:sp>
        <p:nvSpPr>
          <p:cNvPr id="8" name="Shape 5"/>
          <p:cNvSpPr/>
          <p:nvPr/>
        </p:nvSpPr>
        <p:spPr>
          <a:xfrm>
            <a:off x="548640" y="1371600"/>
            <a:ext cx="310896" cy="310896"/>
          </a:xfrm>
          <a:prstGeom prst="ellipse">
            <a:avLst/>
          </a:prstGeom>
          <a:solidFill>
            <a:srgbClr val="1B2742"/>
          </a:solidFill>
          <a:ln w="12700">
            <a:solidFill>
              <a:srgbClr val="FBBF24"/>
            </a:solidFill>
            <a:prstDash val="solid"/>
          </a:ln>
        </p:spPr>
      </p:sp>
      <p:pic>
        <p:nvPicPr>
          <p:cNvPr id="9" name="Image 0" descr="preencoded.png">    </p:cNvPr>
          <p:cNvPicPr>
            <a:picLocks noChangeAspect="1"/>
          </p:cNvPicPr>
          <p:nvPr/>
        </p:nvPicPr>
        <p:blipFill>
          <a:blip r:embed="rId1"/>
          <a:stretch>
            <a:fillRect/>
          </a:stretch>
        </p:blipFill>
        <p:spPr>
          <a:xfrm>
            <a:off x="632582" y="1455542"/>
            <a:ext cx="143012" cy="143012"/>
          </a:xfrm>
          <a:prstGeom prst="rect">
            <a:avLst/>
          </a:prstGeom>
        </p:spPr>
      </p:pic>
      <p:sp>
        <p:nvSpPr>
          <p:cNvPr id="10" name="Text 6"/>
          <p:cNvSpPr txBox="1"/>
          <p:nvPr/>
        </p:nvSpPr>
        <p:spPr>
          <a:xfrm>
            <a:off x="1005840" y="1325880"/>
            <a:ext cx="1737360" cy="402336"/>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Robot agent</a:t>
            </a:r>
            <a:endParaRPr lang="en-US" sz="1200" dirty="0"/>
          </a:p>
        </p:txBody>
      </p:sp>
      <p:sp>
        <p:nvSpPr>
          <p:cNvPr id="11" name="Shape 7"/>
          <p:cNvSpPr/>
          <p:nvPr/>
        </p:nvSpPr>
        <p:spPr>
          <a:xfrm>
            <a:off x="2743200" y="1399032"/>
            <a:ext cx="1077163" cy="256032"/>
          </a:xfrm>
          <a:prstGeom prst="roundRect">
            <a:avLst>
              <a:gd name="adj" fmla="val 50000"/>
            </a:avLst>
          </a:prstGeom>
          <a:solidFill>
            <a:srgbClr val="1B2742"/>
          </a:solidFill>
          <a:ln w="9525">
            <a:solidFill>
              <a:srgbClr val="3B4A6B"/>
            </a:solidFill>
            <a:prstDash val="solid"/>
          </a:ln>
        </p:spPr>
      </p:sp>
      <p:sp>
        <p:nvSpPr>
          <p:cNvPr id="12" name="Text 8"/>
          <p:cNvSpPr txBox="1"/>
          <p:nvPr/>
        </p:nvSpPr>
        <p:spPr>
          <a:xfrm>
            <a:off x="2743200" y="1399032"/>
            <a:ext cx="1077163"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Python 3.11</a:t>
            </a:r>
            <a:endParaRPr lang="en-US" sz="1050" dirty="0"/>
          </a:p>
        </p:txBody>
      </p:sp>
      <p:sp>
        <p:nvSpPr>
          <p:cNvPr id="13" name="Shape 9"/>
          <p:cNvSpPr/>
          <p:nvPr/>
        </p:nvSpPr>
        <p:spPr>
          <a:xfrm>
            <a:off x="3911803" y="1399032"/>
            <a:ext cx="791870" cy="256032"/>
          </a:xfrm>
          <a:prstGeom prst="roundRect">
            <a:avLst>
              <a:gd name="adj" fmla="val 50000"/>
            </a:avLst>
          </a:prstGeom>
          <a:solidFill>
            <a:srgbClr val="1B2742"/>
          </a:solidFill>
          <a:ln w="9525">
            <a:solidFill>
              <a:srgbClr val="3B4A6B"/>
            </a:solidFill>
            <a:prstDash val="solid"/>
          </a:ln>
        </p:spPr>
      </p:sp>
      <p:sp>
        <p:nvSpPr>
          <p:cNvPr id="14" name="Text 10"/>
          <p:cNvSpPr txBox="1"/>
          <p:nvPr/>
        </p:nvSpPr>
        <p:spPr>
          <a:xfrm>
            <a:off x="3911803" y="1399032"/>
            <a:ext cx="791870"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asyncio</a:t>
            </a:r>
            <a:endParaRPr lang="en-US" sz="1050" dirty="0"/>
          </a:p>
        </p:txBody>
      </p:sp>
      <p:sp>
        <p:nvSpPr>
          <p:cNvPr id="15" name="Shape 11"/>
          <p:cNvSpPr/>
          <p:nvPr/>
        </p:nvSpPr>
        <p:spPr>
          <a:xfrm>
            <a:off x="4795114" y="1399032"/>
            <a:ext cx="1576426" cy="256032"/>
          </a:xfrm>
          <a:prstGeom prst="roundRect">
            <a:avLst>
              <a:gd name="adj" fmla="val 50000"/>
            </a:avLst>
          </a:prstGeom>
          <a:solidFill>
            <a:srgbClr val="1B2742"/>
          </a:solidFill>
          <a:ln w="9525">
            <a:solidFill>
              <a:srgbClr val="3B4A6B"/>
            </a:solidFill>
            <a:prstDash val="solid"/>
          </a:ln>
        </p:spPr>
      </p:sp>
      <p:sp>
        <p:nvSpPr>
          <p:cNvPr id="16" name="Text 12"/>
          <p:cNvSpPr txBox="1"/>
          <p:nvPr/>
        </p:nvSpPr>
        <p:spPr>
          <a:xfrm>
            <a:off x="4795114" y="1399032"/>
            <a:ext cx="1576426"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Ed25519 signatures</a:t>
            </a:r>
            <a:endParaRPr lang="en-US" sz="1050" dirty="0"/>
          </a:p>
        </p:txBody>
      </p:sp>
      <p:sp>
        <p:nvSpPr>
          <p:cNvPr id="17" name="Shape 13"/>
          <p:cNvSpPr/>
          <p:nvPr/>
        </p:nvSpPr>
        <p:spPr>
          <a:xfrm>
            <a:off x="6462979" y="1399032"/>
            <a:ext cx="2004365" cy="256032"/>
          </a:xfrm>
          <a:prstGeom prst="roundRect">
            <a:avLst>
              <a:gd name="adj" fmla="val 50000"/>
            </a:avLst>
          </a:prstGeom>
          <a:solidFill>
            <a:srgbClr val="1B2742"/>
          </a:solidFill>
          <a:ln w="9525">
            <a:solidFill>
              <a:srgbClr val="3B4A6B"/>
            </a:solidFill>
            <a:prstDash val="solid"/>
          </a:ln>
        </p:spPr>
      </p:sp>
      <p:sp>
        <p:nvSpPr>
          <p:cNvPr id="18" name="Text 14"/>
          <p:cNvSpPr txBox="1"/>
          <p:nvPr/>
        </p:nvSpPr>
        <p:spPr>
          <a:xfrm>
            <a:off x="6462979" y="1399032"/>
            <a:ext cx="2004365"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Dijkstra distance fields</a:t>
            </a:r>
            <a:endParaRPr lang="en-US" sz="1050" dirty="0"/>
          </a:p>
        </p:txBody>
      </p:sp>
      <p:sp>
        <p:nvSpPr>
          <p:cNvPr id="19" name="Shape 15"/>
          <p:cNvSpPr/>
          <p:nvPr/>
        </p:nvSpPr>
        <p:spPr>
          <a:xfrm>
            <a:off x="457200" y="1792224"/>
            <a:ext cx="8229600" cy="402336"/>
          </a:xfrm>
          <a:prstGeom prst="roundRect">
            <a:avLst>
              <a:gd name="adj" fmla="val 18182"/>
            </a:avLst>
          </a:prstGeom>
          <a:solidFill>
            <a:srgbClr val="131C31"/>
          </a:solidFill>
          <a:ln w="9525">
            <a:solidFill>
              <a:srgbClr val="2A3A5F"/>
            </a:solidFill>
            <a:prstDash val="solid"/>
          </a:ln>
        </p:spPr>
      </p:sp>
      <p:sp>
        <p:nvSpPr>
          <p:cNvPr id="20" name="Shape 16"/>
          <p:cNvSpPr/>
          <p:nvPr/>
        </p:nvSpPr>
        <p:spPr>
          <a:xfrm>
            <a:off x="548640" y="1837944"/>
            <a:ext cx="310896" cy="310896"/>
          </a:xfrm>
          <a:prstGeom prst="ellipse">
            <a:avLst/>
          </a:prstGeom>
          <a:solidFill>
            <a:srgbClr val="1B2742"/>
          </a:solidFill>
          <a:ln w="12700">
            <a:solidFill>
              <a:srgbClr val="FBBF24"/>
            </a:solidFill>
            <a:prstDash val="solid"/>
          </a:ln>
        </p:spPr>
      </p:sp>
      <p:pic>
        <p:nvPicPr>
          <p:cNvPr id="21" name="Image 1" descr="preencoded.png">    </p:cNvPr>
          <p:cNvPicPr>
            <a:picLocks noChangeAspect="1"/>
          </p:cNvPicPr>
          <p:nvPr/>
        </p:nvPicPr>
        <p:blipFill>
          <a:blip r:embed="rId2"/>
          <a:stretch>
            <a:fillRect/>
          </a:stretch>
        </p:blipFill>
        <p:spPr>
          <a:xfrm>
            <a:off x="632582" y="1921886"/>
            <a:ext cx="143012" cy="143012"/>
          </a:xfrm>
          <a:prstGeom prst="rect">
            <a:avLst/>
          </a:prstGeom>
        </p:spPr>
      </p:pic>
      <p:sp>
        <p:nvSpPr>
          <p:cNvPr id="22" name="Text 17"/>
          <p:cNvSpPr txBox="1"/>
          <p:nvPr/>
        </p:nvSpPr>
        <p:spPr>
          <a:xfrm>
            <a:off x="1005840" y="1792224"/>
            <a:ext cx="1737360" cy="402336"/>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Simulation</a:t>
            </a:r>
            <a:endParaRPr lang="en-US" sz="1200" dirty="0"/>
          </a:p>
        </p:txBody>
      </p:sp>
      <p:sp>
        <p:nvSpPr>
          <p:cNvPr id="23" name="Shape 18"/>
          <p:cNvSpPr/>
          <p:nvPr/>
        </p:nvSpPr>
        <p:spPr>
          <a:xfrm>
            <a:off x="2743200" y="1865376"/>
            <a:ext cx="1077163" cy="256032"/>
          </a:xfrm>
          <a:prstGeom prst="roundRect">
            <a:avLst>
              <a:gd name="adj" fmla="val 50000"/>
            </a:avLst>
          </a:prstGeom>
          <a:solidFill>
            <a:srgbClr val="1B2742"/>
          </a:solidFill>
          <a:ln w="9525">
            <a:solidFill>
              <a:srgbClr val="3B4A6B"/>
            </a:solidFill>
            <a:prstDash val="solid"/>
          </a:ln>
        </p:spPr>
      </p:sp>
      <p:sp>
        <p:nvSpPr>
          <p:cNvPr id="24" name="Text 19"/>
          <p:cNvSpPr txBox="1"/>
          <p:nvPr/>
        </p:nvSpPr>
        <p:spPr>
          <a:xfrm>
            <a:off x="2743200" y="1865376"/>
            <a:ext cx="1077163"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ROS 2 Jazzy</a:t>
            </a:r>
            <a:endParaRPr lang="en-US" sz="1050" dirty="0"/>
          </a:p>
        </p:txBody>
      </p:sp>
      <p:sp>
        <p:nvSpPr>
          <p:cNvPr id="25" name="Shape 20"/>
          <p:cNvSpPr/>
          <p:nvPr/>
        </p:nvSpPr>
        <p:spPr>
          <a:xfrm>
            <a:off x="3911803" y="1865376"/>
            <a:ext cx="1362456" cy="256032"/>
          </a:xfrm>
          <a:prstGeom prst="roundRect">
            <a:avLst>
              <a:gd name="adj" fmla="val 50000"/>
            </a:avLst>
          </a:prstGeom>
          <a:solidFill>
            <a:srgbClr val="1B2742"/>
          </a:solidFill>
          <a:ln w="9525">
            <a:solidFill>
              <a:srgbClr val="3B4A6B"/>
            </a:solidFill>
            <a:prstDash val="solid"/>
          </a:ln>
        </p:spPr>
      </p:sp>
      <p:sp>
        <p:nvSpPr>
          <p:cNvPr id="26" name="Text 21"/>
          <p:cNvSpPr txBox="1"/>
          <p:nvPr/>
        </p:nvSpPr>
        <p:spPr>
          <a:xfrm>
            <a:off x="3911803" y="1865376"/>
            <a:ext cx="1362456"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Gazebo Harmonic</a:t>
            </a:r>
            <a:endParaRPr lang="en-US" sz="1050" dirty="0"/>
          </a:p>
        </p:txBody>
      </p:sp>
      <p:sp>
        <p:nvSpPr>
          <p:cNvPr id="27" name="Shape 22"/>
          <p:cNvSpPr/>
          <p:nvPr/>
        </p:nvSpPr>
        <p:spPr>
          <a:xfrm>
            <a:off x="5365699" y="1865376"/>
            <a:ext cx="1219810" cy="256032"/>
          </a:xfrm>
          <a:prstGeom prst="roundRect">
            <a:avLst>
              <a:gd name="adj" fmla="val 50000"/>
            </a:avLst>
          </a:prstGeom>
          <a:solidFill>
            <a:srgbClr val="1B2742"/>
          </a:solidFill>
          <a:ln w="9525">
            <a:solidFill>
              <a:srgbClr val="3B4A6B"/>
            </a:solidFill>
            <a:prstDash val="solid"/>
          </a:ln>
        </p:spPr>
      </p:sp>
      <p:sp>
        <p:nvSpPr>
          <p:cNvPr id="28" name="Text 23"/>
          <p:cNvSpPr txBox="1"/>
          <p:nvPr/>
        </p:nvSpPr>
        <p:spPr>
          <a:xfrm>
            <a:off x="5365699" y="1865376"/>
            <a:ext cx="1219810"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ros_gz bridge</a:t>
            </a:r>
            <a:endParaRPr lang="en-US" sz="1050" dirty="0"/>
          </a:p>
        </p:txBody>
      </p:sp>
      <p:sp>
        <p:nvSpPr>
          <p:cNvPr id="29" name="Shape 24"/>
          <p:cNvSpPr/>
          <p:nvPr/>
        </p:nvSpPr>
        <p:spPr>
          <a:xfrm>
            <a:off x="6676949" y="1865376"/>
            <a:ext cx="649224" cy="256032"/>
          </a:xfrm>
          <a:prstGeom prst="roundRect">
            <a:avLst>
              <a:gd name="adj" fmla="val 50000"/>
            </a:avLst>
          </a:prstGeom>
          <a:solidFill>
            <a:srgbClr val="1B2742"/>
          </a:solidFill>
          <a:ln w="9525">
            <a:solidFill>
              <a:srgbClr val="3B4A6B"/>
            </a:solidFill>
            <a:prstDash val="solid"/>
          </a:ln>
        </p:spPr>
      </p:sp>
      <p:sp>
        <p:nvSpPr>
          <p:cNvPr id="30" name="Text 25"/>
          <p:cNvSpPr txBox="1"/>
          <p:nvPr/>
        </p:nvSpPr>
        <p:spPr>
          <a:xfrm>
            <a:off x="6676949" y="1865376"/>
            <a:ext cx="649224"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RViz2</a:t>
            </a:r>
            <a:endParaRPr lang="en-US" sz="1050" dirty="0"/>
          </a:p>
        </p:txBody>
      </p:sp>
      <p:sp>
        <p:nvSpPr>
          <p:cNvPr id="31" name="Shape 26"/>
          <p:cNvSpPr/>
          <p:nvPr/>
        </p:nvSpPr>
        <p:spPr>
          <a:xfrm>
            <a:off x="457200" y="2258568"/>
            <a:ext cx="8229600" cy="402336"/>
          </a:xfrm>
          <a:prstGeom prst="roundRect">
            <a:avLst>
              <a:gd name="adj" fmla="val 18182"/>
            </a:avLst>
          </a:prstGeom>
          <a:solidFill>
            <a:srgbClr val="131C31"/>
          </a:solidFill>
          <a:ln w="9525">
            <a:solidFill>
              <a:srgbClr val="2A3A5F"/>
            </a:solidFill>
            <a:prstDash val="solid"/>
          </a:ln>
        </p:spPr>
      </p:sp>
      <p:sp>
        <p:nvSpPr>
          <p:cNvPr id="32" name="Shape 27"/>
          <p:cNvSpPr/>
          <p:nvPr/>
        </p:nvSpPr>
        <p:spPr>
          <a:xfrm>
            <a:off x="548640" y="2304288"/>
            <a:ext cx="310896" cy="310896"/>
          </a:xfrm>
          <a:prstGeom prst="ellipse">
            <a:avLst/>
          </a:prstGeom>
          <a:solidFill>
            <a:srgbClr val="1B2742"/>
          </a:solidFill>
          <a:ln w="12700">
            <a:solidFill>
              <a:srgbClr val="FBBF24"/>
            </a:solidFill>
            <a:prstDash val="solid"/>
          </a:ln>
        </p:spPr>
      </p:sp>
      <p:pic>
        <p:nvPicPr>
          <p:cNvPr id="33" name="Image 2" descr="preencoded.png">    </p:cNvPr>
          <p:cNvPicPr>
            <a:picLocks noChangeAspect="1"/>
          </p:cNvPicPr>
          <p:nvPr/>
        </p:nvPicPr>
        <p:blipFill>
          <a:blip r:embed="rId3"/>
          <a:stretch>
            <a:fillRect/>
          </a:stretch>
        </p:blipFill>
        <p:spPr>
          <a:xfrm>
            <a:off x="632582" y="2388230"/>
            <a:ext cx="143012" cy="143012"/>
          </a:xfrm>
          <a:prstGeom prst="rect">
            <a:avLst/>
          </a:prstGeom>
        </p:spPr>
      </p:pic>
      <p:sp>
        <p:nvSpPr>
          <p:cNvPr id="34" name="Text 28"/>
          <p:cNvSpPr txBox="1"/>
          <p:nvPr/>
        </p:nvSpPr>
        <p:spPr>
          <a:xfrm>
            <a:off x="1005840" y="2258568"/>
            <a:ext cx="1737360" cy="402336"/>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Headless mode</a:t>
            </a:r>
            <a:endParaRPr lang="en-US" sz="1200" dirty="0"/>
          </a:p>
        </p:txBody>
      </p:sp>
      <p:sp>
        <p:nvSpPr>
          <p:cNvPr id="35" name="Shape 29"/>
          <p:cNvSpPr/>
          <p:nvPr/>
        </p:nvSpPr>
        <p:spPr>
          <a:xfrm>
            <a:off x="2743200" y="2331720"/>
            <a:ext cx="1933042" cy="256032"/>
          </a:xfrm>
          <a:prstGeom prst="roundRect">
            <a:avLst>
              <a:gd name="adj" fmla="val 50000"/>
            </a:avLst>
          </a:prstGeom>
          <a:solidFill>
            <a:srgbClr val="1B2742"/>
          </a:solidFill>
          <a:ln w="9525">
            <a:solidFill>
              <a:srgbClr val="3B4A6B"/>
            </a:solidFill>
            <a:prstDash val="solid"/>
          </a:ln>
        </p:spPr>
      </p:sp>
      <p:sp>
        <p:nvSpPr>
          <p:cNvPr id="36" name="Text 30"/>
          <p:cNvSpPr txBox="1"/>
          <p:nvPr/>
        </p:nvSpPr>
        <p:spPr>
          <a:xfrm>
            <a:off x="2743200" y="2331720"/>
            <a:ext cx="1933042"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Discrete-time simulator</a:t>
            </a:r>
            <a:endParaRPr lang="en-US" sz="1050" dirty="0"/>
          </a:p>
        </p:txBody>
      </p:sp>
      <p:sp>
        <p:nvSpPr>
          <p:cNvPr id="37" name="Shape 31"/>
          <p:cNvSpPr/>
          <p:nvPr/>
        </p:nvSpPr>
        <p:spPr>
          <a:xfrm>
            <a:off x="4767682" y="2331720"/>
            <a:ext cx="1433779" cy="256032"/>
          </a:xfrm>
          <a:prstGeom prst="roundRect">
            <a:avLst>
              <a:gd name="adj" fmla="val 50000"/>
            </a:avLst>
          </a:prstGeom>
          <a:solidFill>
            <a:srgbClr val="1B2742"/>
          </a:solidFill>
          <a:ln w="9525">
            <a:solidFill>
              <a:srgbClr val="3B4A6B"/>
            </a:solidFill>
            <a:prstDash val="solid"/>
          </a:ln>
        </p:spPr>
      </p:sp>
      <p:sp>
        <p:nvSpPr>
          <p:cNvPr id="38" name="Text 32"/>
          <p:cNvSpPr txBox="1"/>
          <p:nvPr/>
        </p:nvSpPr>
        <p:spPr>
          <a:xfrm>
            <a:off x="4767682" y="2331720"/>
            <a:ext cx="1433779"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Seeded scenarios</a:t>
            </a:r>
            <a:endParaRPr lang="en-US" sz="1050" dirty="0"/>
          </a:p>
        </p:txBody>
      </p:sp>
      <p:sp>
        <p:nvSpPr>
          <p:cNvPr id="39" name="Shape 33"/>
          <p:cNvSpPr/>
          <p:nvPr/>
        </p:nvSpPr>
        <p:spPr>
          <a:xfrm>
            <a:off x="6292901" y="2331720"/>
            <a:ext cx="1505102" cy="256032"/>
          </a:xfrm>
          <a:prstGeom prst="roundRect">
            <a:avLst>
              <a:gd name="adj" fmla="val 50000"/>
            </a:avLst>
          </a:prstGeom>
          <a:solidFill>
            <a:srgbClr val="1B2742"/>
          </a:solidFill>
          <a:ln w="9525">
            <a:solidFill>
              <a:srgbClr val="3B4A6B"/>
            </a:solidFill>
            <a:prstDash val="solid"/>
          </a:ln>
        </p:spPr>
      </p:sp>
      <p:sp>
        <p:nvSpPr>
          <p:cNvPr id="40" name="Text 34"/>
          <p:cNvSpPr txBox="1"/>
          <p:nvPr/>
        </p:nvSpPr>
        <p:spPr>
          <a:xfrm>
            <a:off x="6292901" y="2331720"/>
            <a:ext cx="1505102"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matplotlib viewer</a:t>
            </a:r>
            <a:endParaRPr lang="en-US" sz="1050" dirty="0"/>
          </a:p>
        </p:txBody>
      </p:sp>
      <p:sp>
        <p:nvSpPr>
          <p:cNvPr id="41" name="Shape 35"/>
          <p:cNvSpPr/>
          <p:nvPr/>
        </p:nvSpPr>
        <p:spPr>
          <a:xfrm>
            <a:off x="457200" y="2724912"/>
            <a:ext cx="8229600" cy="402336"/>
          </a:xfrm>
          <a:prstGeom prst="roundRect">
            <a:avLst>
              <a:gd name="adj" fmla="val 18182"/>
            </a:avLst>
          </a:prstGeom>
          <a:solidFill>
            <a:srgbClr val="131C31"/>
          </a:solidFill>
          <a:ln w="9525">
            <a:solidFill>
              <a:srgbClr val="2A3A5F"/>
            </a:solidFill>
            <a:prstDash val="solid"/>
          </a:ln>
        </p:spPr>
      </p:sp>
      <p:sp>
        <p:nvSpPr>
          <p:cNvPr id="42" name="Shape 36"/>
          <p:cNvSpPr/>
          <p:nvPr/>
        </p:nvSpPr>
        <p:spPr>
          <a:xfrm>
            <a:off x="548640" y="2770632"/>
            <a:ext cx="310896" cy="310896"/>
          </a:xfrm>
          <a:prstGeom prst="ellipse">
            <a:avLst/>
          </a:prstGeom>
          <a:solidFill>
            <a:srgbClr val="1B2742"/>
          </a:solidFill>
          <a:ln w="12700">
            <a:solidFill>
              <a:srgbClr val="FBBF24"/>
            </a:solidFill>
            <a:prstDash val="solid"/>
          </a:ln>
        </p:spPr>
      </p:sp>
      <p:pic>
        <p:nvPicPr>
          <p:cNvPr id="43" name="Image 3" descr="preencoded.png">    </p:cNvPr>
          <p:cNvPicPr>
            <a:picLocks noChangeAspect="1"/>
          </p:cNvPicPr>
          <p:nvPr/>
        </p:nvPicPr>
        <p:blipFill>
          <a:blip r:embed="rId4"/>
          <a:stretch>
            <a:fillRect/>
          </a:stretch>
        </p:blipFill>
        <p:spPr>
          <a:xfrm>
            <a:off x="632582" y="2854574"/>
            <a:ext cx="143012" cy="143012"/>
          </a:xfrm>
          <a:prstGeom prst="rect">
            <a:avLst/>
          </a:prstGeom>
        </p:spPr>
      </p:pic>
      <p:sp>
        <p:nvSpPr>
          <p:cNvPr id="44" name="Text 37"/>
          <p:cNvSpPr txBox="1"/>
          <p:nvPr/>
        </p:nvSpPr>
        <p:spPr>
          <a:xfrm>
            <a:off x="1005840" y="2724912"/>
            <a:ext cx="1737360" cy="402336"/>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Comms and ledger</a:t>
            </a:r>
            <a:endParaRPr lang="en-US" sz="1200" dirty="0"/>
          </a:p>
        </p:txBody>
      </p:sp>
      <p:sp>
        <p:nvSpPr>
          <p:cNvPr id="45" name="Shape 38"/>
          <p:cNvSpPr/>
          <p:nvPr/>
        </p:nvSpPr>
        <p:spPr>
          <a:xfrm>
            <a:off x="2743200" y="2798064"/>
            <a:ext cx="1005840" cy="256032"/>
          </a:xfrm>
          <a:prstGeom prst="roundRect">
            <a:avLst>
              <a:gd name="adj" fmla="val 50000"/>
            </a:avLst>
          </a:prstGeom>
          <a:solidFill>
            <a:srgbClr val="1B2742"/>
          </a:solidFill>
          <a:ln w="9525">
            <a:solidFill>
              <a:srgbClr val="3B4A6B"/>
            </a:solidFill>
            <a:prstDash val="solid"/>
          </a:ln>
        </p:spPr>
      </p:sp>
      <p:sp>
        <p:nvSpPr>
          <p:cNvPr id="46" name="Text 39"/>
          <p:cNvSpPr txBox="1"/>
          <p:nvPr/>
        </p:nvSpPr>
        <p:spPr>
          <a:xfrm>
            <a:off x="2743200" y="2798064"/>
            <a:ext cx="1005840"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UDP gossip</a:t>
            </a:r>
            <a:endParaRPr lang="en-US" sz="1050" dirty="0"/>
          </a:p>
        </p:txBody>
      </p:sp>
      <p:sp>
        <p:nvSpPr>
          <p:cNvPr id="47" name="Shape 40"/>
          <p:cNvSpPr/>
          <p:nvPr/>
        </p:nvSpPr>
        <p:spPr>
          <a:xfrm>
            <a:off x="3840480" y="2798064"/>
            <a:ext cx="1433779" cy="256032"/>
          </a:xfrm>
          <a:prstGeom prst="roundRect">
            <a:avLst>
              <a:gd name="adj" fmla="val 50000"/>
            </a:avLst>
          </a:prstGeom>
          <a:solidFill>
            <a:srgbClr val="1B2742"/>
          </a:solidFill>
          <a:ln w="9525">
            <a:solidFill>
              <a:srgbClr val="3B4A6B"/>
            </a:solidFill>
            <a:prstDash val="solid"/>
          </a:ln>
        </p:spPr>
      </p:sp>
      <p:sp>
        <p:nvSpPr>
          <p:cNvPr id="48" name="Text 41"/>
          <p:cNvSpPr txBox="1"/>
          <p:nvPr/>
        </p:nvSpPr>
        <p:spPr>
          <a:xfrm>
            <a:off x="3840480" y="2798064"/>
            <a:ext cx="1433779"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Network emulator</a:t>
            </a:r>
            <a:endParaRPr lang="en-US" sz="1050" dirty="0"/>
          </a:p>
        </p:txBody>
      </p:sp>
      <p:sp>
        <p:nvSpPr>
          <p:cNvPr id="49" name="Shape 42"/>
          <p:cNvSpPr/>
          <p:nvPr/>
        </p:nvSpPr>
        <p:spPr>
          <a:xfrm>
            <a:off x="5365699" y="2798064"/>
            <a:ext cx="1291133" cy="256032"/>
          </a:xfrm>
          <a:prstGeom prst="roundRect">
            <a:avLst>
              <a:gd name="adj" fmla="val 50000"/>
            </a:avLst>
          </a:prstGeom>
          <a:solidFill>
            <a:srgbClr val="1B2742"/>
          </a:solidFill>
          <a:ln w="9525">
            <a:solidFill>
              <a:srgbClr val="3B4A6B"/>
            </a:solidFill>
            <a:prstDash val="solid"/>
          </a:ln>
        </p:spPr>
      </p:sp>
      <p:sp>
        <p:nvSpPr>
          <p:cNvPr id="50" name="Text 43"/>
          <p:cNvSpPr txBox="1"/>
          <p:nvPr/>
        </p:nvSpPr>
        <p:spPr>
          <a:xfrm>
            <a:off x="5365699" y="2798064"/>
            <a:ext cx="1291133"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Logical clocks</a:t>
            </a:r>
            <a:endParaRPr lang="en-US" sz="1050" dirty="0"/>
          </a:p>
        </p:txBody>
      </p:sp>
      <p:sp>
        <p:nvSpPr>
          <p:cNvPr id="51" name="Shape 44"/>
          <p:cNvSpPr/>
          <p:nvPr/>
        </p:nvSpPr>
        <p:spPr>
          <a:xfrm>
            <a:off x="6748272" y="2798064"/>
            <a:ext cx="1148486" cy="256032"/>
          </a:xfrm>
          <a:prstGeom prst="roundRect">
            <a:avLst>
              <a:gd name="adj" fmla="val 50000"/>
            </a:avLst>
          </a:prstGeom>
          <a:solidFill>
            <a:srgbClr val="1B2742"/>
          </a:solidFill>
          <a:ln w="9525">
            <a:solidFill>
              <a:srgbClr val="3B4A6B"/>
            </a:solidFill>
            <a:prstDash val="solid"/>
          </a:ln>
        </p:spPr>
      </p:sp>
      <p:sp>
        <p:nvSpPr>
          <p:cNvPr id="52" name="Text 45"/>
          <p:cNvSpPr txBox="1"/>
          <p:nvPr/>
        </p:nvSpPr>
        <p:spPr>
          <a:xfrm>
            <a:off x="6748272" y="2798064"/>
            <a:ext cx="1148486"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G-Set ledger</a:t>
            </a:r>
            <a:endParaRPr lang="en-US" sz="1050" dirty="0"/>
          </a:p>
        </p:txBody>
      </p:sp>
      <p:sp>
        <p:nvSpPr>
          <p:cNvPr id="53" name="Shape 46"/>
          <p:cNvSpPr/>
          <p:nvPr/>
        </p:nvSpPr>
        <p:spPr>
          <a:xfrm>
            <a:off x="457200" y="3191256"/>
            <a:ext cx="8229600" cy="402336"/>
          </a:xfrm>
          <a:prstGeom prst="roundRect">
            <a:avLst>
              <a:gd name="adj" fmla="val 18182"/>
            </a:avLst>
          </a:prstGeom>
          <a:solidFill>
            <a:srgbClr val="131C31"/>
          </a:solidFill>
          <a:ln w="9525">
            <a:solidFill>
              <a:srgbClr val="2A3A5F"/>
            </a:solidFill>
            <a:prstDash val="solid"/>
          </a:ln>
        </p:spPr>
      </p:sp>
      <p:sp>
        <p:nvSpPr>
          <p:cNvPr id="54" name="Shape 47"/>
          <p:cNvSpPr/>
          <p:nvPr/>
        </p:nvSpPr>
        <p:spPr>
          <a:xfrm>
            <a:off x="548640" y="3236976"/>
            <a:ext cx="310896" cy="310896"/>
          </a:xfrm>
          <a:prstGeom prst="ellipse">
            <a:avLst/>
          </a:prstGeom>
          <a:solidFill>
            <a:srgbClr val="1B2742"/>
          </a:solidFill>
          <a:ln w="12700">
            <a:solidFill>
              <a:srgbClr val="FBBF24"/>
            </a:solidFill>
            <a:prstDash val="solid"/>
          </a:ln>
        </p:spPr>
      </p:sp>
      <p:pic>
        <p:nvPicPr>
          <p:cNvPr id="55" name="Image 4" descr="preencoded.png">    </p:cNvPr>
          <p:cNvPicPr>
            <a:picLocks noChangeAspect="1"/>
          </p:cNvPicPr>
          <p:nvPr/>
        </p:nvPicPr>
        <p:blipFill>
          <a:blip r:embed="rId5"/>
          <a:stretch>
            <a:fillRect/>
          </a:stretch>
        </p:blipFill>
        <p:spPr>
          <a:xfrm>
            <a:off x="632582" y="3320918"/>
            <a:ext cx="143012" cy="143012"/>
          </a:xfrm>
          <a:prstGeom prst="rect">
            <a:avLst/>
          </a:prstGeom>
        </p:spPr>
      </p:pic>
      <p:sp>
        <p:nvSpPr>
          <p:cNvPr id="56" name="Text 48"/>
          <p:cNvSpPr txBox="1"/>
          <p:nvPr/>
        </p:nvSpPr>
        <p:spPr>
          <a:xfrm>
            <a:off x="1005840" y="3191256"/>
            <a:ext cx="1737360" cy="402336"/>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Backend and data</a:t>
            </a:r>
            <a:endParaRPr lang="en-US" sz="1200" dirty="0"/>
          </a:p>
        </p:txBody>
      </p:sp>
      <p:sp>
        <p:nvSpPr>
          <p:cNvPr id="57" name="Shape 49"/>
          <p:cNvSpPr/>
          <p:nvPr/>
        </p:nvSpPr>
        <p:spPr>
          <a:xfrm>
            <a:off x="2743200" y="3264408"/>
            <a:ext cx="791870" cy="256032"/>
          </a:xfrm>
          <a:prstGeom prst="roundRect">
            <a:avLst>
              <a:gd name="adj" fmla="val 50000"/>
            </a:avLst>
          </a:prstGeom>
          <a:solidFill>
            <a:srgbClr val="1B2742"/>
          </a:solidFill>
          <a:ln w="9525">
            <a:solidFill>
              <a:srgbClr val="3B4A6B"/>
            </a:solidFill>
            <a:prstDash val="solid"/>
          </a:ln>
        </p:spPr>
      </p:sp>
      <p:sp>
        <p:nvSpPr>
          <p:cNvPr id="58" name="Text 50"/>
          <p:cNvSpPr txBox="1"/>
          <p:nvPr/>
        </p:nvSpPr>
        <p:spPr>
          <a:xfrm>
            <a:off x="2743200" y="3264408"/>
            <a:ext cx="791870"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FastAPI</a:t>
            </a:r>
            <a:endParaRPr lang="en-US" sz="1050" dirty="0"/>
          </a:p>
        </p:txBody>
      </p:sp>
      <p:sp>
        <p:nvSpPr>
          <p:cNvPr id="59" name="Shape 51"/>
          <p:cNvSpPr/>
          <p:nvPr/>
        </p:nvSpPr>
        <p:spPr>
          <a:xfrm>
            <a:off x="3626510" y="3264408"/>
            <a:ext cx="1005840" cy="256032"/>
          </a:xfrm>
          <a:prstGeom prst="roundRect">
            <a:avLst>
              <a:gd name="adj" fmla="val 50000"/>
            </a:avLst>
          </a:prstGeom>
          <a:solidFill>
            <a:srgbClr val="1B2742"/>
          </a:solidFill>
          <a:ln w="9525">
            <a:solidFill>
              <a:srgbClr val="3B4A6B"/>
            </a:solidFill>
            <a:prstDash val="solid"/>
          </a:ln>
        </p:spPr>
      </p:sp>
      <p:sp>
        <p:nvSpPr>
          <p:cNvPr id="60" name="Text 52"/>
          <p:cNvSpPr txBox="1"/>
          <p:nvPr/>
        </p:nvSpPr>
        <p:spPr>
          <a:xfrm>
            <a:off x="3626510" y="3264408"/>
            <a:ext cx="1005840"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WebSockets</a:t>
            </a:r>
            <a:endParaRPr lang="en-US" sz="1050" dirty="0"/>
          </a:p>
        </p:txBody>
      </p:sp>
      <p:sp>
        <p:nvSpPr>
          <p:cNvPr id="61" name="Shape 53"/>
          <p:cNvSpPr/>
          <p:nvPr/>
        </p:nvSpPr>
        <p:spPr>
          <a:xfrm>
            <a:off x="4723790" y="3264408"/>
            <a:ext cx="1005840" cy="256032"/>
          </a:xfrm>
          <a:prstGeom prst="roundRect">
            <a:avLst>
              <a:gd name="adj" fmla="val 50000"/>
            </a:avLst>
          </a:prstGeom>
          <a:solidFill>
            <a:srgbClr val="1B2742"/>
          </a:solidFill>
          <a:ln w="9525">
            <a:solidFill>
              <a:srgbClr val="3B4A6B"/>
            </a:solidFill>
            <a:prstDash val="solid"/>
          </a:ln>
        </p:spPr>
      </p:sp>
      <p:sp>
        <p:nvSpPr>
          <p:cNvPr id="62" name="Text 54"/>
          <p:cNvSpPr txBox="1"/>
          <p:nvPr/>
        </p:nvSpPr>
        <p:spPr>
          <a:xfrm>
            <a:off x="4723790" y="3264408"/>
            <a:ext cx="1005840"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PostgreSQL</a:t>
            </a:r>
            <a:endParaRPr lang="en-US" sz="1050" dirty="0"/>
          </a:p>
        </p:txBody>
      </p:sp>
      <p:sp>
        <p:nvSpPr>
          <p:cNvPr id="63" name="Shape 55"/>
          <p:cNvSpPr/>
          <p:nvPr/>
        </p:nvSpPr>
        <p:spPr>
          <a:xfrm>
            <a:off x="5821070" y="3264408"/>
            <a:ext cx="1362456" cy="256032"/>
          </a:xfrm>
          <a:prstGeom prst="roundRect">
            <a:avLst>
              <a:gd name="adj" fmla="val 50000"/>
            </a:avLst>
          </a:prstGeom>
          <a:solidFill>
            <a:srgbClr val="1B2742"/>
          </a:solidFill>
          <a:ln w="9525">
            <a:solidFill>
              <a:srgbClr val="3B4A6B"/>
            </a:solidFill>
            <a:prstDash val="solid"/>
          </a:ln>
        </p:spPr>
      </p:sp>
      <p:sp>
        <p:nvSpPr>
          <p:cNvPr id="64" name="Text 56"/>
          <p:cNvSpPr txBox="1"/>
          <p:nvPr/>
        </p:nvSpPr>
        <p:spPr>
          <a:xfrm>
            <a:off x="5821070" y="3264408"/>
            <a:ext cx="1362456"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Redis (Level 4)</a:t>
            </a:r>
            <a:endParaRPr lang="en-US" sz="1050" dirty="0"/>
          </a:p>
        </p:txBody>
      </p:sp>
      <p:sp>
        <p:nvSpPr>
          <p:cNvPr id="65" name="Shape 57"/>
          <p:cNvSpPr/>
          <p:nvPr/>
        </p:nvSpPr>
        <p:spPr>
          <a:xfrm>
            <a:off x="457200" y="3657600"/>
            <a:ext cx="8229600" cy="402336"/>
          </a:xfrm>
          <a:prstGeom prst="roundRect">
            <a:avLst>
              <a:gd name="adj" fmla="val 18182"/>
            </a:avLst>
          </a:prstGeom>
          <a:solidFill>
            <a:srgbClr val="131C31"/>
          </a:solidFill>
          <a:ln w="9525">
            <a:solidFill>
              <a:srgbClr val="2A3A5F"/>
            </a:solidFill>
            <a:prstDash val="solid"/>
          </a:ln>
        </p:spPr>
      </p:sp>
      <p:sp>
        <p:nvSpPr>
          <p:cNvPr id="66" name="Shape 58"/>
          <p:cNvSpPr/>
          <p:nvPr/>
        </p:nvSpPr>
        <p:spPr>
          <a:xfrm>
            <a:off x="548640" y="3703320"/>
            <a:ext cx="310896" cy="310896"/>
          </a:xfrm>
          <a:prstGeom prst="ellipse">
            <a:avLst/>
          </a:prstGeom>
          <a:solidFill>
            <a:srgbClr val="1B2742"/>
          </a:solidFill>
          <a:ln w="12700">
            <a:solidFill>
              <a:srgbClr val="FBBF24"/>
            </a:solidFill>
            <a:prstDash val="solid"/>
          </a:ln>
        </p:spPr>
      </p:sp>
      <p:pic>
        <p:nvPicPr>
          <p:cNvPr id="67" name="Image 5" descr="preencoded.png">    </p:cNvPr>
          <p:cNvPicPr>
            <a:picLocks noChangeAspect="1"/>
          </p:cNvPicPr>
          <p:nvPr/>
        </p:nvPicPr>
        <p:blipFill>
          <a:blip r:embed="rId6"/>
          <a:stretch>
            <a:fillRect/>
          </a:stretch>
        </p:blipFill>
        <p:spPr>
          <a:xfrm>
            <a:off x="632582" y="3787262"/>
            <a:ext cx="143012" cy="143012"/>
          </a:xfrm>
          <a:prstGeom prst="rect">
            <a:avLst/>
          </a:prstGeom>
        </p:spPr>
      </p:pic>
      <p:sp>
        <p:nvSpPr>
          <p:cNvPr id="68" name="Text 59"/>
          <p:cNvSpPr txBox="1"/>
          <p:nvPr/>
        </p:nvSpPr>
        <p:spPr>
          <a:xfrm>
            <a:off x="1005840" y="3657600"/>
            <a:ext cx="1737360" cy="402336"/>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Frontend</a:t>
            </a:r>
            <a:endParaRPr lang="en-US" sz="1200" dirty="0"/>
          </a:p>
        </p:txBody>
      </p:sp>
      <p:sp>
        <p:nvSpPr>
          <p:cNvPr id="69" name="Shape 60"/>
          <p:cNvSpPr/>
          <p:nvPr/>
        </p:nvSpPr>
        <p:spPr>
          <a:xfrm>
            <a:off x="2743200" y="3730752"/>
            <a:ext cx="649224" cy="256032"/>
          </a:xfrm>
          <a:prstGeom prst="roundRect">
            <a:avLst>
              <a:gd name="adj" fmla="val 50000"/>
            </a:avLst>
          </a:prstGeom>
          <a:solidFill>
            <a:srgbClr val="1B2742"/>
          </a:solidFill>
          <a:ln w="9525">
            <a:solidFill>
              <a:srgbClr val="3B4A6B"/>
            </a:solidFill>
            <a:prstDash val="solid"/>
          </a:ln>
        </p:spPr>
      </p:sp>
      <p:sp>
        <p:nvSpPr>
          <p:cNvPr id="70" name="Text 61"/>
          <p:cNvSpPr txBox="1"/>
          <p:nvPr/>
        </p:nvSpPr>
        <p:spPr>
          <a:xfrm>
            <a:off x="2743200" y="3730752"/>
            <a:ext cx="649224"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React</a:t>
            </a:r>
            <a:endParaRPr lang="en-US" sz="1050" dirty="0"/>
          </a:p>
        </p:txBody>
      </p:sp>
      <p:sp>
        <p:nvSpPr>
          <p:cNvPr id="71" name="Shape 62"/>
          <p:cNvSpPr/>
          <p:nvPr/>
        </p:nvSpPr>
        <p:spPr>
          <a:xfrm>
            <a:off x="3483864" y="3730752"/>
            <a:ext cx="577901" cy="256032"/>
          </a:xfrm>
          <a:prstGeom prst="roundRect">
            <a:avLst>
              <a:gd name="adj" fmla="val 50000"/>
            </a:avLst>
          </a:prstGeom>
          <a:solidFill>
            <a:srgbClr val="1B2742"/>
          </a:solidFill>
          <a:ln w="9525">
            <a:solidFill>
              <a:srgbClr val="3B4A6B"/>
            </a:solidFill>
            <a:prstDash val="solid"/>
          </a:ln>
        </p:spPr>
      </p:sp>
      <p:sp>
        <p:nvSpPr>
          <p:cNvPr id="72" name="Text 63"/>
          <p:cNvSpPr txBox="1"/>
          <p:nvPr/>
        </p:nvSpPr>
        <p:spPr>
          <a:xfrm>
            <a:off x="3483864" y="3730752"/>
            <a:ext cx="577901"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Vite</a:t>
            </a:r>
            <a:endParaRPr lang="en-US" sz="1050" dirty="0"/>
          </a:p>
        </p:txBody>
      </p:sp>
      <p:sp>
        <p:nvSpPr>
          <p:cNvPr id="73" name="Shape 64"/>
          <p:cNvSpPr/>
          <p:nvPr/>
        </p:nvSpPr>
        <p:spPr>
          <a:xfrm>
            <a:off x="4153205" y="3730752"/>
            <a:ext cx="1433779" cy="256032"/>
          </a:xfrm>
          <a:prstGeom prst="roundRect">
            <a:avLst>
              <a:gd name="adj" fmla="val 50000"/>
            </a:avLst>
          </a:prstGeom>
          <a:solidFill>
            <a:srgbClr val="1B2742"/>
          </a:solidFill>
          <a:ln w="9525">
            <a:solidFill>
              <a:srgbClr val="3B4A6B"/>
            </a:solidFill>
            <a:prstDash val="solid"/>
          </a:ln>
        </p:spPr>
      </p:sp>
      <p:sp>
        <p:nvSpPr>
          <p:cNvPr id="74" name="Text 65"/>
          <p:cNvSpPr txBox="1"/>
          <p:nvPr/>
        </p:nvSpPr>
        <p:spPr>
          <a:xfrm>
            <a:off x="4153205" y="3730752"/>
            <a:ext cx="1433779"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Canvas fleet map</a:t>
            </a:r>
            <a:endParaRPr lang="en-US" sz="1050" dirty="0"/>
          </a:p>
        </p:txBody>
      </p:sp>
      <p:sp>
        <p:nvSpPr>
          <p:cNvPr id="75" name="Shape 66"/>
          <p:cNvSpPr/>
          <p:nvPr/>
        </p:nvSpPr>
        <p:spPr>
          <a:xfrm>
            <a:off x="5678424" y="3730752"/>
            <a:ext cx="863194" cy="256032"/>
          </a:xfrm>
          <a:prstGeom prst="roundRect">
            <a:avLst>
              <a:gd name="adj" fmla="val 50000"/>
            </a:avLst>
          </a:prstGeom>
          <a:solidFill>
            <a:srgbClr val="1B2742"/>
          </a:solidFill>
          <a:ln w="9525">
            <a:solidFill>
              <a:srgbClr val="3B4A6B"/>
            </a:solidFill>
            <a:prstDash val="solid"/>
          </a:ln>
        </p:spPr>
      </p:sp>
      <p:sp>
        <p:nvSpPr>
          <p:cNvPr id="76" name="Text 67"/>
          <p:cNvSpPr txBox="1"/>
          <p:nvPr/>
        </p:nvSpPr>
        <p:spPr>
          <a:xfrm>
            <a:off x="5678424" y="3730752"/>
            <a:ext cx="863194"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Recharts</a:t>
            </a:r>
            <a:endParaRPr lang="en-US" sz="1050" dirty="0"/>
          </a:p>
        </p:txBody>
      </p:sp>
      <p:sp>
        <p:nvSpPr>
          <p:cNvPr id="77" name="Shape 68"/>
          <p:cNvSpPr/>
          <p:nvPr/>
        </p:nvSpPr>
        <p:spPr>
          <a:xfrm>
            <a:off x="457200" y="4123944"/>
            <a:ext cx="8229600" cy="402336"/>
          </a:xfrm>
          <a:prstGeom prst="roundRect">
            <a:avLst>
              <a:gd name="adj" fmla="val 18182"/>
            </a:avLst>
          </a:prstGeom>
          <a:solidFill>
            <a:srgbClr val="131C31"/>
          </a:solidFill>
          <a:ln w="9525">
            <a:solidFill>
              <a:srgbClr val="2A3A5F"/>
            </a:solidFill>
            <a:prstDash val="solid"/>
          </a:ln>
        </p:spPr>
      </p:sp>
      <p:sp>
        <p:nvSpPr>
          <p:cNvPr id="78" name="Shape 69"/>
          <p:cNvSpPr/>
          <p:nvPr/>
        </p:nvSpPr>
        <p:spPr>
          <a:xfrm>
            <a:off x="548640" y="4169664"/>
            <a:ext cx="310896" cy="310896"/>
          </a:xfrm>
          <a:prstGeom prst="ellipse">
            <a:avLst/>
          </a:prstGeom>
          <a:solidFill>
            <a:srgbClr val="1B2742"/>
          </a:solidFill>
          <a:ln w="12700">
            <a:solidFill>
              <a:srgbClr val="FBBF24"/>
            </a:solidFill>
            <a:prstDash val="solid"/>
          </a:ln>
        </p:spPr>
      </p:sp>
      <p:pic>
        <p:nvPicPr>
          <p:cNvPr id="79" name="Image 6" descr="preencoded.png">    </p:cNvPr>
          <p:cNvPicPr>
            <a:picLocks noChangeAspect="1"/>
          </p:cNvPicPr>
          <p:nvPr/>
        </p:nvPicPr>
        <p:blipFill>
          <a:blip r:embed="rId7"/>
          <a:stretch>
            <a:fillRect/>
          </a:stretch>
        </p:blipFill>
        <p:spPr>
          <a:xfrm>
            <a:off x="632582" y="4253606"/>
            <a:ext cx="143012" cy="143012"/>
          </a:xfrm>
          <a:prstGeom prst="rect">
            <a:avLst/>
          </a:prstGeom>
        </p:spPr>
      </p:pic>
      <p:sp>
        <p:nvSpPr>
          <p:cNvPr id="80" name="Text 70"/>
          <p:cNvSpPr txBox="1"/>
          <p:nvPr/>
        </p:nvSpPr>
        <p:spPr>
          <a:xfrm>
            <a:off x="1005840" y="4123944"/>
            <a:ext cx="1737360" cy="402336"/>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DevOps</a:t>
            </a:r>
            <a:endParaRPr lang="en-US" sz="1200" dirty="0"/>
          </a:p>
        </p:txBody>
      </p:sp>
      <p:sp>
        <p:nvSpPr>
          <p:cNvPr id="81" name="Shape 71"/>
          <p:cNvSpPr/>
          <p:nvPr/>
        </p:nvSpPr>
        <p:spPr>
          <a:xfrm>
            <a:off x="2743200" y="4197096"/>
            <a:ext cx="720547" cy="256032"/>
          </a:xfrm>
          <a:prstGeom prst="roundRect">
            <a:avLst>
              <a:gd name="adj" fmla="val 50000"/>
            </a:avLst>
          </a:prstGeom>
          <a:solidFill>
            <a:srgbClr val="1B2742"/>
          </a:solidFill>
          <a:ln w="9525">
            <a:solidFill>
              <a:srgbClr val="3B4A6B"/>
            </a:solidFill>
            <a:prstDash val="solid"/>
          </a:ln>
        </p:spPr>
      </p:sp>
      <p:sp>
        <p:nvSpPr>
          <p:cNvPr id="82" name="Text 72"/>
          <p:cNvSpPr txBox="1"/>
          <p:nvPr/>
        </p:nvSpPr>
        <p:spPr>
          <a:xfrm>
            <a:off x="2743200" y="4197096"/>
            <a:ext cx="720547"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Docker</a:t>
            </a:r>
            <a:endParaRPr lang="en-US" sz="1050" dirty="0"/>
          </a:p>
        </p:txBody>
      </p:sp>
      <p:sp>
        <p:nvSpPr>
          <p:cNvPr id="83" name="Shape 73"/>
          <p:cNvSpPr/>
          <p:nvPr/>
        </p:nvSpPr>
        <p:spPr>
          <a:xfrm>
            <a:off x="3555187" y="4197096"/>
            <a:ext cx="1291133" cy="256032"/>
          </a:xfrm>
          <a:prstGeom prst="roundRect">
            <a:avLst>
              <a:gd name="adj" fmla="val 50000"/>
            </a:avLst>
          </a:prstGeom>
          <a:solidFill>
            <a:srgbClr val="1B2742"/>
          </a:solidFill>
          <a:ln w="9525">
            <a:solidFill>
              <a:srgbClr val="3B4A6B"/>
            </a:solidFill>
            <a:prstDash val="solid"/>
          </a:ln>
        </p:spPr>
      </p:sp>
      <p:sp>
        <p:nvSpPr>
          <p:cNvPr id="84" name="Text 74"/>
          <p:cNvSpPr txBox="1"/>
          <p:nvPr/>
        </p:nvSpPr>
        <p:spPr>
          <a:xfrm>
            <a:off x="3555187" y="4197096"/>
            <a:ext cx="1291133"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GitHub Actions</a:t>
            </a:r>
            <a:endParaRPr lang="en-US" sz="1050" dirty="0"/>
          </a:p>
        </p:txBody>
      </p:sp>
      <p:sp>
        <p:nvSpPr>
          <p:cNvPr id="85" name="Shape 75"/>
          <p:cNvSpPr/>
          <p:nvPr/>
        </p:nvSpPr>
        <p:spPr>
          <a:xfrm>
            <a:off x="4937760" y="4197096"/>
            <a:ext cx="1005840" cy="256032"/>
          </a:xfrm>
          <a:prstGeom prst="roundRect">
            <a:avLst>
              <a:gd name="adj" fmla="val 50000"/>
            </a:avLst>
          </a:prstGeom>
          <a:solidFill>
            <a:srgbClr val="1B2742"/>
          </a:solidFill>
          <a:ln w="9525">
            <a:solidFill>
              <a:srgbClr val="3B4A6B"/>
            </a:solidFill>
            <a:prstDash val="solid"/>
          </a:ln>
        </p:spPr>
      </p:sp>
      <p:sp>
        <p:nvSpPr>
          <p:cNvPr id="86" name="Text 76"/>
          <p:cNvSpPr txBox="1"/>
          <p:nvPr/>
        </p:nvSpPr>
        <p:spPr>
          <a:xfrm>
            <a:off x="4937760" y="4197096"/>
            <a:ext cx="1005840"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Kubernetes</a:t>
            </a:r>
            <a:endParaRPr lang="en-US" sz="1050" dirty="0"/>
          </a:p>
        </p:txBody>
      </p:sp>
      <p:sp>
        <p:nvSpPr>
          <p:cNvPr id="87" name="Shape 77"/>
          <p:cNvSpPr/>
          <p:nvPr/>
        </p:nvSpPr>
        <p:spPr>
          <a:xfrm>
            <a:off x="6035040" y="4197096"/>
            <a:ext cx="1719072" cy="256032"/>
          </a:xfrm>
          <a:prstGeom prst="roundRect">
            <a:avLst>
              <a:gd name="adj" fmla="val 50000"/>
            </a:avLst>
          </a:prstGeom>
          <a:solidFill>
            <a:srgbClr val="1B2742"/>
          </a:solidFill>
          <a:ln w="9525">
            <a:solidFill>
              <a:srgbClr val="3B4A6B"/>
            </a:solidFill>
            <a:prstDash val="solid"/>
          </a:ln>
        </p:spPr>
      </p:sp>
      <p:sp>
        <p:nvSpPr>
          <p:cNvPr id="88" name="Text 78"/>
          <p:cNvSpPr txBox="1"/>
          <p:nvPr/>
        </p:nvSpPr>
        <p:spPr>
          <a:xfrm>
            <a:off x="6035040" y="4197096"/>
            <a:ext cx="1719072" cy="256032"/>
          </a:xfrm>
          <a:prstGeom prst="rect">
            <a:avLst/>
          </a:prstGeom>
          <a:noFill/>
          <a:ln/>
        </p:spPr>
        <p:txBody>
          <a:bodyPr wrap="square" lIns="0" tIns="0" rIns="0" bIns="0" rtlCol="0" anchor="ctr"/>
          <a:lstStyle/>
          <a:p>
            <a:pPr algn="ctr" indent="0" marL="0">
              <a:buNone/>
            </a:pPr>
            <a:r>
              <a:rPr lang="en-US" sz="1050" dirty="0">
                <a:solidFill>
                  <a:srgbClr val="F1F5F9"/>
                </a:solidFill>
                <a:latin typeface="Calibri" pitchFamily="34" charset="0"/>
                <a:ea typeface="Calibri" pitchFamily="34" charset="-122"/>
                <a:cs typeface="Calibri" pitchFamily="34" charset="-120"/>
              </a:rPr>
              <a:t>Prometheus + Grafana</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22  ·  PLAN</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Roadmap: Levels 1 to 4</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457200" y="1371600"/>
            <a:ext cx="457200" cy="457200"/>
          </a:xfrm>
          <a:prstGeom prst="ellipse">
            <a:avLst/>
          </a:prstGeom>
          <a:solidFill>
            <a:srgbClr val="FBBF24"/>
          </a:solidFill>
          <a:ln w="15875">
            <a:solidFill>
              <a:srgbClr val="FBBF24"/>
            </a:solidFill>
            <a:prstDash val="solid"/>
          </a:ln>
        </p:spPr>
      </p:sp>
      <p:sp>
        <p:nvSpPr>
          <p:cNvPr id="8" name="Text 5"/>
          <p:cNvSpPr txBox="1"/>
          <p:nvPr/>
        </p:nvSpPr>
        <p:spPr>
          <a:xfrm>
            <a:off x="457200" y="1371600"/>
            <a:ext cx="457200" cy="457200"/>
          </a:xfrm>
          <a:prstGeom prst="rect">
            <a:avLst/>
          </a:prstGeom>
          <a:noFill/>
          <a:ln/>
        </p:spPr>
        <p:txBody>
          <a:bodyPr wrap="square" lIns="0" tIns="0" rIns="0" bIns="0" rtlCol="0" anchor="ctr"/>
          <a:lstStyle/>
          <a:p>
            <a:pPr algn="ctr" indent="0" marL="0">
              <a:buNone/>
            </a:pPr>
            <a:r>
              <a:rPr lang="en-US" sz="1600" b="1" dirty="0">
                <a:solidFill>
                  <a:srgbClr val="0B1120"/>
                </a:solidFill>
                <a:latin typeface="Calibri" pitchFamily="34" charset="0"/>
                <a:ea typeface="Calibri" pitchFamily="34" charset="-122"/>
                <a:cs typeface="Calibri" pitchFamily="34" charset="-120"/>
              </a:rPr>
              <a:t>1</a:t>
            </a:r>
            <a:endParaRPr lang="en-US" sz="1600" dirty="0"/>
          </a:p>
        </p:txBody>
      </p:sp>
      <p:sp>
        <p:nvSpPr>
          <p:cNvPr id="9" name="Shape 6"/>
          <p:cNvSpPr/>
          <p:nvPr/>
        </p:nvSpPr>
        <p:spPr>
          <a:xfrm>
            <a:off x="1965960" y="1600200"/>
            <a:ext cx="548640" cy="0"/>
          </a:xfrm>
          <a:prstGeom prst="line">
            <a:avLst/>
          </a:prstGeom>
          <a:noFill/>
          <a:ln w="15875">
            <a:solidFill>
              <a:srgbClr val="3B4A6B"/>
            </a:solidFill>
            <a:prstDash val="solid"/>
          </a:ln>
        </p:spPr>
      </p:sp>
      <p:sp>
        <p:nvSpPr>
          <p:cNvPr id="10" name="Text 7"/>
          <p:cNvSpPr txBox="1"/>
          <p:nvPr/>
        </p:nvSpPr>
        <p:spPr>
          <a:xfrm>
            <a:off x="1051560" y="1499616"/>
            <a:ext cx="9144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LEVEL 1</a:t>
            </a:r>
            <a:endParaRPr lang="en-US" sz="1000" dirty="0"/>
          </a:p>
        </p:txBody>
      </p:sp>
      <p:sp>
        <p:nvSpPr>
          <p:cNvPr id="11" name="Shape 8"/>
          <p:cNvSpPr/>
          <p:nvPr/>
        </p:nvSpPr>
        <p:spPr>
          <a:xfrm>
            <a:off x="457200" y="2011680"/>
            <a:ext cx="1920240" cy="2606040"/>
          </a:xfrm>
          <a:prstGeom prst="roundRect">
            <a:avLst>
              <a:gd name="adj" fmla="val 3810"/>
            </a:avLst>
          </a:prstGeom>
          <a:solidFill>
            <a:srgbClr val="131C31"/>
          </a:solidFill>
          <a:ln w="9525">
            <a:solidFill>
              <a:srgbClr val="2A3A5F"/>
            </a:solidFill>
            <a:prstDash val="solid"/>
          </a:ln>
        </p:spPr>
      </p:sp>
      <p:sp>
        <p:nvSpPr>
          <p:cNvPr id="12" name="Text 9"/>
          <p:cNvSpPr txBox="1"/>
          <p:nvPr/>
        </p:nvSpPr>
        <p:spPr>
          <a:xfrm>
            <a:off x="594360" y="2121408"/>
            <a:ext cx="1645920" cy="502920"/>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Idea, architecture, planning</a:t>
            </a:r>
            <a:endParaRPr lang="en-US" sz="1250" dirty="0"/>
          </a:p>
        </p:txBody>
      </p:sp>
      <p:sp>
        <p:nvSpPr>
          <p:cNvPr id="13" name="Text 10"/>
          <p:cNvSpPr txBox="1"/>
          <p:nvPr/>
        </p:nvSpPr>
        <p:spPr>
          <a:xfrm>
            <a:off x="594360" y="2670048"/>
            <a:ext cx="1691640" cy="14173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SRS and bid function</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Architecture and data flow</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UI wireframes</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Stack and roadmap</a:t>
            </a:r>
            <a:endParaRPr lang="en-US" sz="1050" dirty="0"/>
          </a:p>
        </p:txBody>
      </p:sp>
      <p:sp>
        <p:nvSpPr>
          <p:cNvPr id="14" name="Text 11"/>
          <p:cNvSpPr txBox="1"/>
          <p:nvPr/>
        </p:nvSpPr>
        <p:spPr>
          <a:xfrm>
            <a:off x="594360" y="4160520"/>
            <a:ext cx="1691640" cy="384048"/>
          </a:xfrm>
          <a:prstGeom prst="rect">
            <a:avLst/>
          </a:prstGeom>
          <a:noFill/>
          <a:ln/>
        </p:spPr>
        <p:txBody>
          <a:bodyPr wrap="square" lIns="0" tIns="0" rIns="0" bIns="0" rtlCol="0" anchor="t"/>
          <a:lstStyle/>
          <a:p>
            <a:pPr indent="0" marL="0">
              <a:buNone/>
            </a:pPr>
            <a:r>
              <a:rPr lang="en-US" sz="1000" b="1" dirty="0">
                <a:solidFill>
                  <a:srgbClr val="2DD4BF"/>
                </a:solidFill>
                <a:latin typeface="Calibri" pitchFamily="34" charset="0"/>
                <a:ea typeface="Calibri" pitchFamily="34" charset="-122"/>
                <a:cs typeface="Calibri" pitchFamily="34" charset="-120"/>
              </a:rPr>
              <a:t>Gate: design frozen</a:t>
            </a:r>
            <a:endParaRPr lang="en-US" sz="1000" dirty="0"/>
          </a:p>
        </p:txBody>
      </p:sp>
      <p:sp>
        <p:nvSpPr>
          <p:cNvPr id="15" name="Shape 12"/>
          <p:cNvSpPr/>
          <p:nvPr/>
        </p:nvSpPr>
        <p:spPr>
          <a:xfrm>
            <a:off x="2560320" y="1371600"/>
            <a:ext cx="457200" cy="457200"/>
          </a:xfrm>
          <a:prstGeom prst="ellipse">
            <a:avLst/>
          </a:prstGeom>
          <a:solidFill>
            <a:srgbClr val="1B2742"/>
          </a:solidFill>
          <a:ln w="15875">
            <a:solidFill>
              <a:srgbClr val="3B4A6B"/>
            </a:solidFill>
            <a:prstDash val="solid"/>
          </a:ln>
        </p:spPr>
      </p:sp>
      <p:sp>
        <p:nvSpPr>
          <p:cNvPr id="16" name="Text 13"/>
          <p:cNvSpPr txBox="1"/>
          <p:nvPr/>
        </p:nvSpPr>
        <p:spPr>
          <a:xfrm>
            <a:off x="2560320" y="1371600"/>
            <a:ext cx="457200" cy="457200"/>
          </a:xfrm>
          <a:prstGeom prst="rect">
            <a:avLst/>
          </a:prstGeom>
          <a:noFill/>
          <a:ln/>
        </p:spPr>
        <p:txBody>
          <a:bodyPr wrap="square" lIns="0" tIns="0" rIns="0" bIns="0" rtlCol="0" anchor="ctr"/>
          <a:lstStyle/>
          <a:p>
            <a:pPr algn="ctr" indent="0" marL="0">
              <a:buNone/>
            </a:pPr>
            <a:r>
              <a:rPr lang="en-US" sz="1600" b="1" dirty="0">
                <a:solidFill>
                  <a:srgbClr val="CBD5E1"/>
                </a:solidFill>
                <a:latin typeface="Calibri" pitchFamily="34" charset="0"/>
                <a:ea typeface="Calibri" pitchFamily="34" charset="-122"/>
                <a:cs typeface="Calibri" pitchFamily="34" charset="-120"/>
              </a:rPr>
              <a:t>2</a:t>
            </a:r>
            <a:endParaRPr lang="en-US" sz="1600" dirty="0"/>
          </a:p>
        </p:txBody>
      </p:sp>
      <p:sp>
        <p:nvSpPr>
          <p:cNvPr id="17" name="Shape 14"/>
          <p:cNvSpPr/>
          <p:nvPr/>
        </p:nvSpPr>
        <p:spPr>
          <a:xfrm>
            <a:off x="4069080" y="1600200"/>
            <a:ext cx="548640" cy="0"/>
          </a:xfrm>
          <a:prstGeom prst="line">
            <a:avLst/>
          </a:prstGeom>
          <a:noFill/>
          <a:ln w="15875">
            <a:solidFill>
              <a:srgbClr val="3B4A6B"/>
            </a:solidFill>
            <a:prstDash val="solid"/>
          </a:ln>
        </p:spPr>
      </p:sp>
      <p:sp>
        <p:nvSpPr>
          <p:cNvPr id="18" name="Text 15"/>
          <p:cNvSpPr txBox="1"/>
          <p:nvPr/>
        </p:nvSpPr>
        <p:spPr>
          <a:xfrm>
            <a:off x="3154680" y="1499616"/>
            <a:ext cx="9144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LEVEL 2</a:t>
            </a:r>
            <a:endParaRPr lang="en-US" sz="1000" dirty="0"/>
          </a:p>
        </p:txBody>
      </p:sp>
      <p:sp>
        <p:nvSpPr>
          <p:cNvPr id="19" name="Shape 16"/>
          <p:cNvSpPr/>
          <p:nvPr/>
        </p:nvSpPr>
        <p:spPr>
          <a:xfrm>
            <a:off x="2560320" y="2011680"/>
            <a:ext cx="1920240" cy="2606040"/>
          </a:xfrm>
          <a:prstGeom prst="roundRect">
            <a:avLst>
              <a:gd name="adj" fmla="val 3810"/>
            </a:avLst>
          </a:prstGeom>
          <a:solidFill>
            <a:srgbClr val="131C31"/>
          </a:solidFill>
          <a:ln w="9525">
            <a:solidFill>
              <a:srgbClr val="2A3A5F"/>
            </a:solidFill>
            <a:prstDash val="solid"/>
          </a:ln>
        </p:spPr>
      </p:sp>
      <p:sp>
        <p:nvSpPr>
          <p:cNvPr id="20" name="Text 17"/>
          <p:cNvSpPr txBox="1"/>
          <p:nvPr/>
        </p:nvSpPr>
        <p:spPr>
          <a:xfrm>
            <a:off x="2697480" y="2121408"/>
            <a:ext cx="1645920" cy="502920"/>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Core MVP</a:t>
            </a:r>
            <a:endParaRPr lang="en-US" sz="1250" dirty="0"/>
          </a:p>
        </p:txBody>
      </p:sp>
      <p:sp>
        <p:nvSpPr>
          <p:cNvPr id="21" name="Text 18"/>
          <p:cNvSpPr txBox="1"/>
          <p:nvPr/>
        </p:nvSpPr>
        <p:spPr>
          <a:xfrm>
            <a:off x="2697480" y="2670048"/>
            <a:ext cx="1691640" cy="14173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Agent: ghosts, ranks, leases</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Ledger and finish-line rule</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Simulator and Gazebo world</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DB, APIs, 2D dashboard</a:t>
            </a:r>
            <a:endParaRPr lang="en-US" sz="1050" dirty="0"/>
          </a:p>
        </p:txBody>
      </p:sp>
      <p:sp>
        <p:nvSpPr>
          <p:cNvPr id="22" name="Text 19"/>
          <p:cNvSpPr txBox="1"/>
          <p:nvPr/>
        </p:nvSpPr>
        <p:spPr>
          <a:xfrm>
            <a:off x="2697480" y="4160520"/>
            <a:ext cx="1691640" cy="384048"/>
          </a:xfrm>
          <a:prstGeom prst="rect">
            <a:avLst/>
          </a:prstGeom>
          <a:noFill/>
          <a:ln/>
        </p:spPr>
        <p:txBody>
          <a:bodyPr wrap="square" lIns="0" tIns="0" rIns="0" bIns="0" rtlCol="0" anchor="t"/>
          <a:lstStyle/>
          <a:p>
            <a:pPr indent="0" marL="0">
              <a:buNone/>
            </a:pPr>
            <a:r>
              <a:rPr lang="en-US" sz="1000" b="1" dirty="0">
                <a:solidFill>
                  <a:srgbClr val="2DD4BF"/>
                </a:solidFill>
                <a:latin typeface="Calibri" pitchFamily="34" charset="0"/>
                <a:ea typeface="Calibri" pitchFamily="34" charset="-122"/>
                <a:cs typeface="Calibri" pitchFamily="34" charset="-120"/>
              </a:rPr>
              <a:t>Gate: scenarios run end to end</a:t>
            </a:r>
            <a:endParaRPr lang="en-US" sz="1000" dirty="0"/>
          </a:p>
        </p:txBody>
      </p:sp>
      <p:sp>
        <p:nvSpPr>
          <p:cNvPr id="23" name="Shape 20"/>
          <p:cNvSpPr/>
          <p:nvPr/>
        </p:nvSpPr>
        <p:spPr>
          <a:xfrm>
            <a:off x="4663440" y="1371600"/>
            <a:ext cx="457200" cy="457200"/>
          </a:xfrm>
          <a:prstGeom prst="ellipse">
            <a:avLst/>
          </a:prstGeom>
          <a:solidFill>
            <a:srgbClr val="1B2742"/>
          </a:solidFill>
          <a:ln w="15875">
            <a:solidFill>
              <a:srgbClr val="3B4A6B"/>
            </a:solidFill>
            <a:prstDash val="solid"/>
          </a:ln>
        </p:spPr>
      </p:sp>
      <p:sp>
        <p:nvSpPr>
          <p:cNvPr id="24" name="Text 21"/>
          <p:cNvSpPr txBox="1"/>
          <p:nvPr/>
        </p:nvSpPr>
        <p:spPr>
          <a:xfrm>
            <a:off x="4663440" y="1371600"/>
            <a:ext cx="457200" cy="457200"/>
          </a:xfrm>
          <a:prstGeom prst="rect">
            <a:avLst/>
          </a:prstGeom>
          <a:noFill/>
          <a:ln/>
        </p:spPr>
        <p:txBody>
          <a:bodyPr wrap="square" lIns="0" tIns="0" rIns="0" bIns="0" rtlCol="0" anchor="ctr"/>
          <a:lstStyle/>
          <a:p>
            <a:pPr algn="ctr" indent="0" marL="0">
              <a:buNone/>
            </a:pPr>
            <a:r>
              <a:rPr lang="en-US" sz="1600" b="1" dirty="0">
                <a:solidFill>
                  <a:srgbClr val="CBD5E1"/>
                </a:solidFill>
                <a:latin typeface="Calibri" pitchFamily="34" charset="0"/>
                <a:ea typeface="Calibri" pitchFamily="34" charset="-122"/>
                <a:cs typeface="Calibri" pitchFamily="34" charset="-120"/>
              </a:rPr>
              <a:t>3</a:t>
            </a:r>
            <a:endParaRPr lang="en-US" sz="1600" dirty="0"/>
          </a:p>
        </p:txBody>
      </p:sp>
      <p:sp>
        <p:nvSpPr>
          <p:cNvPr id="25" name="Shape 22"/>
          <p:cNvSpPr/>
          <p:nvPr/>
        </p:nvSpPr>
        <p:spPr>
          <a:xfrm>
            <a:off x="6172200" y="1600200"/>
            <a:ext cx="548640" cy="0"/>
          </a:xfrm>
          <a:prstGeom prst="line">
            <a:avLst/>
          </a:prstGeom>
          <a:noFill/>
          <a:ln w="15875">
            <a:solidFill>
              <a:srgbClr val="3B4A6B"/>
            </a:solidFill>
            <a:prstDash val="solid"/>
          </a:ln>
        </p:spPr>
      </p:sp>
      <p:sp>
        <p:nvSpPr>
          <p:cNvPr id="26" name="Text 23"/>
          <p:cNvSpPr txBox="1"/>
          <p:nvPr/>
        </p:nvSpPr>
        <p:spPr>
          <a:xfrm>
            <a:off x="5257800" y="1499616"/>
            <a:ext cx="9144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LEVEL 3</a:t>
            </a:r>
            <a:endParaRPr lang="en-US" sz="1000" dirty="0"/>
          </a:p>
        </p:txBody>
      </p:sp>
      <p:sp>
        <p:nvSpPr>
          <p:cNvPr id="27" name="Shape 24"/>
          <p:cNvSpPr/>
          <p:nvPr/>
        </p:nvSpPr>
        <p:spPr>
          <a:xfrm>
            <a:off x="4663440" y="2011680"/>
            <a:ext cx="1920240" cy="2606040"/>
          </a:xfrm>
          <a:prstGeom prst="roundRect">
            <a:avLst>
              <a:gd name="adj" fmla="val 3810"/>
            </a:avLst>
          </a:prstGeom>
          <a:solidFill>
            <a:srgbClr val="131C31"/>
          </a:solidFill>
          <a:ln w="9525">
            <a:solidFill>
              <a:srgbClr val="2A3A5F"/>
            </a:solidFill>
            <a:prstDash val="solid"/>
          </a:ln>
        </p:spPr>
      </p:sp>
      <p:sp>
        <p:nvSpPr>
          <p:cNvPr id="28" name="Text 25"/>
          <p:cNvSpPr txBox="1"/>
          <p:nvPr/>
        </p:nvSpPr>
        <p:spPr>
          <a:xfrm>
            <a:off x="4800600" y="2121408"/>
            <a:ext cx="1645920" cy="502920"/>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Intelligence, security, deployment</a:t>
            </a:r>
            <a:endParaRPr lang="en-US" sz="1250" dirty="0"/>
          </a:p>
        </p:txBody>
      </p:sp>
      <p:sp>
        <p:nvSpPr>
          <p:cNvPr id="29" name="Text 26"/>
          <p:cNvSpPr txBox="1"/>
          <p:nvPr/>
        </p:nvSpPr>
        <p:spPr>
          <a:xfrm>
            <a:off x="4800600" y="2670048"/>
            <a:ext cx="1691640" cy="14173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Witnesses, signatures, strikes</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Learned ETA, tuned weights</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Ablations E1–E7 in CI</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Cloud deploy, 3D view</a:t>
            </a:r>
            <a:endParaRPr lang="en-US" sz="1050" dirty="0"/>
          </a:p>
        </p:txBody>
      </p:sp>
      <p:sp>
        <p:nvSpPr>
          <p:cNvPr id="30" name="Text 27"/>
          <p:cNvSpPr txBox="1"/>
          <p:nvPr/>
        </p:nvSpPr>
        <p:spPr>
          <a:xfrm>
            <a:off x="4800600" y="4160520"/>
            <a:ext cx="1691640" cy="384048"/>
          </a:xfrm>
          <a:prstGeom prst="rect">
            <a:avLst/>
          </a:prstGeom>
          <a:noFill/>
          <a:ln/>
        </p:spPr>
        <p:txBody>
          <a:bodyPr wrap="square" lIns="0" tIns="0" rIns="0" bIns="0" rtlCol="0" anchor="t"/>
          <a:lstStyle/>
          <a:p>
            <a:pPr indent="0" marL="0">
              <a:buNone/>
            </a:pPr>
            <a:r>
              <a:rPr lang="en-US" sz="1000" b="1" dirty="0">
                <a:solidFill>
                  <a:srgbClr val="2DD4BF"/>
                </a:solidFill>
                <a:latin typeface="Calibri" pitchFamily="34" charset="0"/>
                <a:ea typeface="Calibri" pitchFamily="34" charset="-122"/>
                <a:cs typeface="Calibri" pitchFamily="34" charset="-120"/>
              </a:rPr>
              <a:t>Gate: experiments and security pass</a:t>
            </a:r>
            <a:endParaRPr lang="en-US" sz="1000" dirty="0"/>
          </a:p>
        </p:txBody>
      </p:sp>
      <p:sp>
        <p:nvSpPr>
          <p:cNvPr id="31" name="Shape 28"/>
          <p:cNvSpPr/>
          <p:nvPr/>
        </p:nvSpPr>
        <p:spPr>
          <a:xfrm>
            <a:off x="6766560" y="1371600"/>
            <a:ext cx="457200" cy="457200"/>
          </a:xfrm>
          <a:prstGeom prst="ellipse">
            <a:avLst/>
          </a:prstGeom>
          <a:solidFill>
            <a:srgbClr val="1B2742"/>
          </a:solidFill>
          <a:ln w="15875">
            <a:solidFill>
              <a:srgbClr val="3B4A6B"/>
            </a:solidFill>
            <a:prstDash val="solid"/>
          </a:ln>
        </p:spPr>
      </p:sp>
      <p:sp>
        <p:nvSpPr>
          <p:cNvPr id="32" name="Text 29"/>
          <p:cNvSpPr txBox="1"/>
          <p:nvPr/>
        </p:nvSpPr>
        <p:spPr>
          <a:xfrm>
            <a:off x="6766560" y="1371600"/>
            <a:ext cx="457200" cy="457200"/>
          </a:xfrm>
          <a:prstGeom prst="rect">
            <a:avLst/>
          </a:prstGeom>
          <a:noFill/>
          <a:ln/>
        </p:spPr>
        <p:txBody>
          <a:bodyPr wrap="square" lIns="0" tIns="0" rIns="0" bIns="0" rtlCol="0" anchor="ctr"/>
          <a:lstStyle/>
          <a:p>
            <a:pPr algn="ctr" indent="0" marL="0">
              <a:buNone/>
            </a:pPr>
            <a:r>
              <a:rPr lang="en-US" sz="1600" b="1" dirty="0">
                <a:solidFill>
                  <a:srgbClr val="CBD5E1"/>
                </a:solidFill>
                <a:latin typeface="Calibri" pitchFamily="34" charset="0"/>
                <a:ea typeface="Calibri" pitchFamily="34" charset="-122"/>
                <a:cs typeface="Calibri" pitchFamily="34" charset="-120"/>
              </a:rPr>
              <a:t>4</a:t>
            </a:r>
            <a:endParaRPr lang="en-US" sz="1600" dirty="0"/>
          </a:p>
        </p:txBody>
      </p:sp>
      <p:sp>
        <p:nvSpPr>
          <p:cNvPr id="33" name="Text 30"/>
          <p:cNvSpPr txBox="1"/>
          <p:nvPr/>
        </p:nvSpPr>
        <p:spPr>
          <a:xfrm>
            <a:off x="7360920" y="1499616"/>
            <a:ext cx="914400" cy="201168"/>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LEVEL 4</a:t>
            </a:r>
            <a:endParaRPr lang="en-US" sz="1000" dirty="0"/>
          </a:p>
        </p:txBody>
      </p:sp>
      <p:sp>
        <p:nvSpPr>
          <p:cNvPr id="34" name="Shape 31"/>
          <p:cNvSpPr/>
          <p:nvPr/>
        </p:nvSpPr>
        <p:spPr>
          <a:xfrm>
            <a:off x="6766560" y="2011680"/>
            <a:ext cx="1920240" cy="2606040"/>
          </a:xfrm>
          <a:prstGeom prst="roundRect">
            <a:avLst>
              <a:gd name="adj" fmla="val 3810"/>
            </a:avLst>
          </a:prstGeom>
          <a:solidFill>
            <a:srgbClr val="131C31"/>
          </a:solidFill>
          <a:ln w="9525">
            <a:solidFill>
              <a:srgbClr val="2A3A5F"/>
            </a:solidFill>
            <a:prstDash val="solid"/>
          </a:ln>
        </p:spPr>
      </p:sp>
      <p:sp>
        <p:nvSpPr>
          <p:cNvPr id="35" name="Text 32"/>
          <p:cNvSpPr txBox="1"/>
          <p:nvPr/>
        </p:nvSpPr>
        <p:spPr>
          <a:xfrm>
            <a:off x="6903720" y="2121408"/>
            <a:ext cx="1645920" cy="502920"/>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Scale and reliability</a:t>
            </a:r>
            <a:endParaRPr lang="en-US" sz="1250" dirty="0"/>
          </a:p>
        </p:txBody>
      </p:sp>
      <p:sp>
        <p:nvSpPr>
          <p:cNvPr id="36" name="Text 33"/>
          <p:cNvSpPr txBox="1"/>
          <p:nvPr/>
        </p:nvSpPr>
        <p:spPr>
          <a:xfrm>
            <a:off x="6903720" y="2670048"/>
            <a:ext cx="1691640" cy="14173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Kubernetes seed runners</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Redis caching</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Prometheus and Grafana alerts</a:t>
            </a:r>
            <a:endParaRPr lang="en-US" sz="1050" dirty="0"/>
          </a:p>
          <a:p>
            <a:pPr marL="152400" indent="-152400">
              <a:spcAft>
                <a:spcPts val="400"/>
              </a:spcAft>
              <a:buSzPct val="100000"/>
              <a:buChar char="•"/>
            </a:pPr>
            <a:r>
              <a:rPr lang="en-US" sz="1050" dirty="0">
                <a:solidFill>
                  <a:srgbClr val="CBD5E1"/>
                </a:solidFill>
                <a:latin typeface="Calibri" pitchFamily="34" charset="0"/>
                <a:ea typeface="Calibri" pitchFamily="34" charset="-122"/>
                <a:cs typeface="Calibri" pitchFamily="34" charset="-120"/>
              </a:rPr>
              <a:t>100-robot load test</a:t>
            </a:r>
            <a:endParaRPr lang="en-US" sz="1050" dirty="0"/>
          </a:p>
        </p:txBody>
      </p:sp>
      <p:sp>
        <p:nvSpPr>
          <p:cNvPr id="37" name="Text 34"/>
          <p:cNvSpPr txBox="1"/>
          <p:nvPr/>
        </p:nvSpPr>
        <p:spPr>
          <a:xfrm>
            <a:off x="6903720" y="4160520"/>
            <a:ext cx="1691640" cy="384048"/>
          </a:xfrm>
          <a:prstGeom prst="rect">
            <a:avLst/>
          </a:prstGeom>
          <a:noFill/>
          <a:ln/>
        </p:spPr>
        <p:txBody>
          <a:bodyPr wrap="square" lIns="0" tIns="0" rIns="0" bIns="0" rtlCol="0" anchor="t"/>
          <a:lstStyle/>
          <a:p>
            <a:pPr indent="0" marL="0">
              <a:buNone/>
            </a:pPr>
            <a:r>
              <a:rPr lang="en-US" sz="1000" b="1" dirty="0">
                <a:solidFill>
                  <a:srgbClr val="2DD4BF"/>
                </a:solidFill>
                <a:latin typeface="Calibri" pitchFamily="34" charset="0"/>
                <a:ea typeface="Calibri" pitchFamily="34" charset="-122"/>
                <a:cs typeface="Calibri" pitchFamily="34" charset="-120"/>
              </a:rPr>
              <a:t>Gate: load test passes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23  ·  POSITIONING</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Related work and our honest claim</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920240"/>
                <a:gridCol w="3017520"/>
                <a:gridCol w="3291840"/>
              </a:tblGrid>
              <a:tr h="329184">
                <a:tc>
                  <a:txBody>
                    <a:bodyPr/>
                    <a:lstStyle/>
                    <a:p>
                      <a:pPr indent="0" marL="0">
                        <a:buNone/>
                      </a:pPr>
                      <a:r>
                        <a:rPr lang="en-US" sz="1000" b="1" dirty="0">
                          <a:solidFill>
                            <a:srgbClr val="FBBF24"/>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00" b="1" dirty="0">
                          <a:solidFill>
                            <a:srgbClr val="FBBF24"/>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c>
                  <a:txBody>
                    <a:bodyPr/>
                    <a:lstStyle/>
                    <a:p>
                      <a:pPr indent="0" marL="0">
                        <a:buNone/>
                      </a:pPr>
                      <a:r>
                        <a:rPr lang="en-US" sz="1000" b="1" dirty="0">
                          <a:solidFill>
                            <a:srgbClr val="FBBF24"/>
                          </a:solidFill>
                          <a:latin typeface="Calibri" pitchFamily="34" charset="0"/>
                          <a:ea typeface="Calibri" pitchFamily="34" charset="-122"/>
                          <a:cs typeface="Calibri" pitchFamily="34" charset="-120"/>
                        </a:rPr>
                        <a:t>How SHADE differs</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B2742"/>
                    </a:solidFill>
                  </a:tcPr>
                </a:tc>
              </a:tr>
              <a:tr h="457200">
                <a:tc>
                  <a:txBody>
                    <a:bodyPr/>
                    <a:lstStyle/>
                    <a:p>
                      <a:pPr indent="0" marL="0">
                        <a:buNone/>
                      </a:pPr>
                      <a:r>
                        <a:rPr lang="en-US" sz="1000" b="1" dirty="0">
                          <a:solidFill>
                            <a:srgbClr val="F1F5F9"/>
                          </a:solidFill>
                          <a:latin typeface="Calibri" pitchFamily="34" charset="0"/>
                          <a:ea typeface="Calibri" pitchFamily="34" charset="-122"/>
                          <a:cs typeface="Calibri" pitchFamily="34" charset="-120"/>
                        </a:rPr>
                        <a:t>FORMICA (2026)</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Learns to predict teammates’ bids for communication-free allocation</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Analytic upper bound from reachability, used as a claim guard; uses messages when they arrive</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457200">
                <a:tc>
                  <a:txBody>
                    <a:bodyPr/>
                    <a:lstStyle/>
                    <a:p>
                      <a:pPr indent="0" marL="0">
                        <a:buNone/>
                      </a:pPr>
                      <a:r>
                        <a:rPr lang="en-US" sz="1000" b="1" dirty="0">
                          <a:solidFill>
                            <a:srgbClr val="F1F5F9"/>
                          </a:solidFill>
                          <a:latin typeface="Calibri" pitchFamily="34" charset="0"/>
                          <a:ea typeface="Calibri" pitchFamily="34" charset="-122"/>
                          <a:cs typeface="Calibri" pitchFamily="34" charset="-120"/>
                        </a:rPr>
                        <a:t>TGPR (preprint)</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Link-reliability estimates; confidence-gated claims after a stalled award</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No coordinator; wait derived from regret and task age, with a starvation bound</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457200">
                <a:tc>
                  <a:txBody>
                    <a:bodyPr/>
                    <a:lstStyle/>
                    <a:p>
                      <a:pPr indent="0" marL="0">
                        <a:buNone/>
                      </a:pPr>
                      <a:r>
                        <a:rPr lang="en-US" sz="1000" b="1" dirty="0">
                          <a:solidFill>
                            <a:srgbClr val="F1F5F9"/>
                          </a:solidFill>
                          <a:latin typeface="Calibri" pitchFamily="34" charset="0"/>
                          <a:ea typeface="Calibri" pitchFamily="34" charset="-122"/>
                          <a:cs typeface="Calibri" pitchFamily="34" charset="-120"/>
                        </a:rPr>
                        <a:t>CBBA (2009)</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Consensus on winning bids; conflict-free with a worst-case guarantee</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No bid messages; acts before agreement; designed for partitions</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r h="457200">
                <a:tc>
                  <a:txBody>
                    <a:bodyPr/>
                    <a:lstStyle/>
                    <a:p>
                      <a:pPr indent="0" marL="0">
                        <a:buNone/>
                      </a:pPr>
                      <a:r>
                        <a:rPr lang="en-US" sz="1000" b="1" dirty="0">
                          <a:solidFill>
                            <a:srgbClr val="F1F5F9"/>
                          </a:solidFill>
                          <a:latin typeface="Calibri" pitchFamily="34" charset="0"/>
                          <a:ea typeface="Calibri" pitchFamily="34" charset="-122"/>
                          <a:cs typeface="Calibri" pitchFamily="34" charset="-120"/>
                        </a:rPr>
                        <a:t>Repeated auctions (Nanjanath, Gini)</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Re-auctions remaining tasks after each completion</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Recovery is precomputed through succession ranks</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0B1120"/>
                    </a:solidFill>
                  </a:tcPr>
                </a:tc>
              </a:tr>
              <a:tr h="457200">
                <a:tc>
                  <a:txBody>
                    <a:bodyPr/>
                    <a:lstStyle/>
                    <a:p>
                      <a:pPr indent="0" marL="0">
                        <a:buNone/>
                      </a:pPr>
                      <a:r>
                        <a:rPr lang="en-US" sz="1000" b="1" dirty="0">
                          <a:solidFill>
                            <a:srgbClr val="F1F5F9"/>
                          </a:solidFill>
                          <a:latin typeface="Calibri" pitchFamily="34" charset="0"/>
                          <a:ea typeface="Calibri" pitchFamily="34" charset="-122"/>
                          <a:cs typeface="Calibri" pitchFamily="34" charset="-120"/>
                        </a:rPr>
                        <a:t>Sariel, Balch, Erdogan (2006)</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Auctions robust to message loss and robot failure</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Adds progress leases, a Byzantine model and proven bounds</a:t>
                      </a:r>
                      <a:endParaRPr lang="en-US" sz="1000" dirty="0">
                        <a:latin typeface="Calibri" charset="0"/>
                        <a:ea typeface="Calibri" charset="0"/>
                        <a:cs typeface="Calibri" charset="0"/>
                      </a:endParaRPr>
                    </a:p>
                  </a:txBody>
                  <a:tcPr marL="54864" marR="54864" marT="54864" marB="54864" anchor="ctr">
                    <a:lnL w="6350" cap="flat" cmpd="sng" algn="ctr">
                      <a:solidFill>
                        <a:srgbClr val="2A3A5F"/>
                      </a:solidFill>
                      <a:prstDash val="solid"/>
                      <a:round/>
                      <a:headEnd type="none" w="med" len="med"/>
                      <a:tailEnd type="none" w="med" len="med"/>
                    </a:lnL>
                    <a:lnR w="6350" cap="flat" cmpd="sng" algn="ctr">
                      <a:solidFill>
                        <a:srgbClr val="2A3A5F"/>
                      </a:solidFill>
                      <a:prstDash val="solid"/>
                      <a:round/>
                      <a:headEnd type="none" w="med" len="med"/>
                      <a:tailEnd type="none" w="med" len="med"/>
                    </a:lnR>
                    <a:lnT w="6350" cap="flat" cmpd="sng" algn="ctr">
                      <a:solidFill>
                        <a:srgbClr val="2A3A5F"/>
                      </a:solidFill>
                      <a:prstDash val="solid"/>
                      <a:round/>
                      <a:headEnd type="none" w="med" len="med"/>
                      <a:tailEnd type="none" w="med" len="med"/>
                    </a:lnT>
                    <a:lnB w="6350" cap="flat" cmpd="sng" algn="ctr">
                      <a:solidFill>
                        <a:srgbClr val="2A3A5F"/>
                      </a:solidFill>
                      <a:prstDash val="solid"/>
                      <a:round/>
                      <a:headEnd type="none" w="med" len="med"/>
                      <a:tailEnd type="none" w="med" len="med"/>
                    </a:lnB>
                    <a:solidFill>
                      <a:srgbClr val="131C31"/>
                    </a:solidFill>
                  </a:tcPr>
                </a:tc>
              </a:tr>
            </a:tbl>
          </a:graphicData>
        </a:graphic>
      </p:graphicFrame>
      <p:sp>
        <p:nvSpPr>
          <p:cNvPr id="8" name="Shape 4"/>
          <p:cNvSpPr/>
          <p:nvPr/>
        </p:nvSpPr>
        <p:spPr>
          <a:xfrm>
            <a:off x="457200" y="4114800"/>
            <a:ext cx="8229600" cy="502920"/>
          </a:xfrm>
          <a:prstGeom prst="roundRect">
            <a:avLst>
              <a:gd name="adj" fmla="val 14545"/>
            </a:avLst>
          </a:prstGeom>
          <a:solidFill>
            <a:srgbClr val="1B2742"/>
          </a:solidFill>
          <a:ln w="9525">
            <a:solidFill>
              <a:srgbClr val="2DD4BF"/>
            </a:solidFill>
            <a:prstDash val="solid"/>
          </a:ln>
        </p:spPr>
      </p:sp>
      <p:sp>
        <p:nvSpPr>
          <p:cNvPr id="9" name="Text 5"/>
          <p:cNvSpPr txBox="1"/>
          <p:nvPr/>
        </p:nvSpPr>
        <p:spPr>
          <a:xfrm>
            <a:off x="640080" y="4114800"/>
            <a:ext cx="7863840" cy="502920"/>
          </a:xfrm>
          <a:prstGeom prst="rect">
            <a:avLst/>
          </a:prstGeom>
          <a:noFill/>
          <a:ln/>
        </p:spPr>
        <p:txBody>
          <a:bodyPr wrap="square" lIns="0" tIns="0" rIns="0" bIns="0"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Our claim: </a:t>
            </a:r>
            <a:pPr indent="0" marL="0">
              <a:buNone/>
            </a:pPr>
            <a:r>
              <a:rPr lang="en-US" sz="1150" dirty="0">
                <a:solidFill>
                  <a:srgbClr val="F1F5F9"/>
                </a:solidFill>
                <a:latin typeface="Calibri" pitchFamily="34" charset="0"/>
                <a:ea typeface="Calibri" pitchFamily="34" charset="-122"/>
                <a:cs typeface="Calibri" pitchFamily="34" charset="-120"/>
              </a:rPr>
              <a:t>a new synthesis with proven bounds. Our literature check is short, so we will extend it before the final round.</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t"/>
          <a:lstStyle/>
          <a:p>
            <a:pPr indent="0" marL="0">
              <a:buNone/>
            </a:pPr>
            <a:r>
              <a:rPr lang="en-US" sz="1000" b="1" spc="300" kern="0" dirty="0">
                <a:solidFill>
                  <a:srgbClr val="FBBF24"/>
                </a:solidFill>
                <a:latin typeface="Calibri" pitchFamily="34" charset="0"/>
                <a:ea typeface="Calibri" pitchFamily="34" charset="-122"/>
                <a:cs typeface="Calibri" pitchFamily="34" charset="-120"/>
              </a:rPr>
              <a:t>24  ·  RISKS</a:t>
            </a:r>
            <a:endParaRPr lang="en-US" sz="10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Risks and how we handle them</a:t>
            </a:r>
            <a:endParaRPr lang="en-US" sz="2800" dirty="0"/>
          </a:p>
        </p:txBody>
      </p:sp>
      <p:sp>
        <p:nvSpPr>
          <p:cNvPr id="4" name="Text 2"/>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PNR2  ·  SHADE protocol</a:t>
            </a:r>
            <a:endParaRPr lang="en-US" sz="9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900" dirty="0">
                <a:solidFill>
                  <a:srgbClr val="94A3B8"/>
                </a:solidFill>
                <a:latin typeface="Calibri" pitchFamily="34" charset="0"/>
                <a:ea typeface="Calibri" pitchFamily="34" charset="-122"/>
                <a:cs typeface="Calibri" pitchFamily="34" charset="-120"/>
              </a:rPr>
              <a:t>25</a:t>
            </a:r>
            <a:endParaRPr lang="en-US" sz="900" dirty="0"/>
          </a:p>
        </p:txBody>
      </p:sp>
      <p:sp>
        <p:nvSpPr>
          <p:cNvPr id="7" name="Shape 4"/>
          <p:cNvSpPr/>
          <p:nvPr/>
        </p:nvSpPr>
        <p:spPr>
          <a:xfrm>
            <a:off x="457200" y="1325880"/>
            <a:ext cx="2651760" cy="1508760"/>
          </a:xfrm>
          <a:prstGeom prst="roundRect">
            <a:avLst>
              <a:gd name="adj" fmla="val 4848"/>
            </a:avLst>
          </a:prstGeom>
          <a:solidFill>
            <a:srgbClr val="131C31"/>
          </a:solidFill>
          <a:ln w="9525">
            <a:solidFill>
              <a:srgbClr val="2A3A5F"/>
            </a:solidFill>
            <a:prstDash val="solid"/>
          </a:ln>
        </p:spPr>
      </p:sp>
      <p:sp>
        <p:nvSpPr>
          <p:cNvPr id="8" name="Text 5"/>
          <p:cNvSpPr txBox="1"/>
          <p:nvPr/>
        </p:nvSpPr>
        <p:spPr>
          <a:xfrm>
            <a:off x="594360" y="1435608"/>
            <a:ext cx="2377440" cy="237744"/>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Scope</a:t>
            </a:r>
            <a:endParaRPr lang="en-US" sz="1300" dirty="0"/>
          </a:p>
        </p:txBody>
      </p:sp>
      <p:sp>
        <p:nvSpPr>
          <p:cNvPr id="9" name="Text 6"/>
          <p:cNvSpPr txBox="1"/>
          <p:nvPr/>
        </p:nvSpPr>
        <p:spPr>
          <a:xfrm>
            <a:off x="594360" y="1737360"/>
            <a:ext cx="2377440" cy="5029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Six mechanisms plus simulator and dashboard.</a:t>
            </a:r>
            <a:endParaRPr lang="en-US" sz="1050" dirty="0"/>
          </a:p>
        </p:txBody>
      </p:sp>
      <p:sp>
        <p:nvSpPr>
          <p:cNvPr id="10" name="Text 7"/>
          <p:cNvSpPr txBox="1"/>
          <p:nvPr/>
        </p:nvSpPr>
        <p:spPr>
          <a:xfrm>
            <a:off x="594360" y="2286000"/>
            <a:ext cx="2377440" cy="457200"/>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Build in layers; each layer demos alone.</a:t>
            </a:r>
            <a:endParaRPr lang="en-US" sz="1050" dirty="0"/>
          </a:p>
        </p:txBody>
      </p:sp>
      <p:sp>
        <p:nvSpPr>
          <p:cNvPr id="11" name="Shape 8"/>
          <p:cNvSpPr/>
          <p:nvPr/>
        </p:nvSpPr>
        <p:spPr>
          <a:xfrm>
            <a:off x="3246120" y="1325880"/>
            <a:ext cx="2651760" cy="1508760"/>
          </a:xfrm>
          <a:prstGeom prst="roundRect">
            <a:avLst>
              <a:gd name="adj" fmla="val 4848"/>
            </a:avLst>
          </a:prstGeom>
          <a:solidFill>
            <a:srgbClr val="131C31"/>
          </a:solidFill>
          <a:ln w="9525">
            <a:solidFill>
              <a:srgbClr val="2A3A5F"/>
            </a:solidFill>
            <a:prstDash val="solid"/>
          </a:ln>
        </p:spPr>
      </p:sp>
      <p:sp>
        <p:nvSpPr>
          <p:cNvPr id="12" name="Text 9"/>
          <p:cNvSpPr txBox="1"/>
          <p:nvPr/>
        </p:nvSpPr>
        <p:spPr>
          <a:xfrm>
            <a:off x="3383280" y="1435608"/>
            <a:ext cx="2377440" cy="237744"/>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Bid determinism</a:t>
            </a:r>
            <a:endParaRPr lang="en-US" sz="1300" dirty="0"/>
          </a:p>
        </p:txBody>
      </p:sp>
      <p:sp>
        <p:nvSpPr>
          <p:cNvPr id="13" name="Text 10"/>
          <p:cNvSpPr txBox="1"/>
          <p:nvPr/>
        </p:nvSpPr>
        <p:spPr>
          <a:xfrm>
            <a:off x="3383280" y="1737360"/>
            <a:ext cx="2377440" cy="5029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Different bids on different robots break agreement.</a:t>
            </a:r>
            <a:endParaRPr lang="en-US" sz="1050" dirty="0"/>
          </a:p>
        </p:txBody>
      </p:sp>
      <p:sp>
        <p:nvSpPr>
          <p:cNvPr id="14" name="Text 11"/>
          <p:cNvSpPr txBox="1"/>
          <p:nvPr/>
        </p:nvSpPr>
        <p:spPr>
          <a:xfrm>
            <a:off x="3383280" y="2286000"/>
            <a:ext cx="2377440" cy="457200"/>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Shared map, deterministic Dijkstra, unit tests.</a:t>
            </a:r>
            <a:endParaRPr lang="en-US" sz="1050" dirty="0"/>
          </a:p>
        </p:txBody>
      </p:sp>
      <p:sp>
        <p:nvSpPr>
          <p:cNvPr id="15" name="Shape 12"/>
          <p:cNvSpPr/>
          <p:nvPr/>
        </p:nvSpPr>
        <p:spPr>
          <a:xfrm>
            <a:off x="6035040" y="1325880"/>
            <a:ext cx="2651760" cy="1508760"/>
          </a:xfrm>
          <a:prstGeom prst="roundRect">
            <a:avLst>
              <a:gd name="adj" fmla="val 4848"/>
            </a:avLst>
          </a:prstGeom>
          <a:solidFill>
            <a:srgbClr val="131C31"/>
          </a:solidFill>
          <a:ln w="9525">
            <a:solidFill>
              <a:srgbClr val="2A3A5F"/>
            </a:solidFill>
            <a:prstDash val="solid"/>
          </a:ln>
        </p:spPr>
      </p:sp>
      <p:sp>
        <p:nvSpPr>
          <p:cNvPr id="16" name="Text 13"/>
          <p:cNvSpPr txBox="1"/>
          <p:nvPr/>
        </p:nvSpPr>
        <p:spPr>
          <a:xfrm>
            <a:off x="6172200" y="1435608"/>
            <a:ext cx="2377440" cy="237744"/>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Loose ghost bound</a:t>
            </a:r>
            <a:endParaRPr lang="en-US" sz="1300" dirty="0"/>
          </a:p>
        </p:txBody>
      </p:sp>
      <p:sp>
        <p:nvSpPr>
          <p:cNvPr id="17" name="Text 14"/>
          <p:cNvSpPr txBox="1"/>
          <p:nvPr/>
        </p:nvSpPr>
        <p:spPr>
          <a:xfrm>
            <a:off x="6172200" y="1737360"/>
            <a:ext cx="2377440" cy="5029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Robots may wait for peers that could not help.</a:t>
            </a:r>
            <a:endParaRPr lang="en-US" sz="1050" dirty="0"/>
          </a:p>
        </p:txBody>
      </p:sp>
      <p:sp>
        <p:nvSpPr>
          <p:cNvPr id="18" name="Text 15"/>
          <p:cNvSpPr txBox="1"/>
          <p:nvPr/>
        </p:nvSpPr>
        <p:spPr>
          <a:xfrm>
            <a:off x="6172200" y="2286000"/>
            <a:ext cx="2377440" cy="457200"/>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Exclude busy ghosts, drop after 60 s, cap by P.</a:t>
            </a:r>
            <a:endParaRPr lang="en-US" sz="1050" dirty="0"/>
          </a:p>
        </p:txBody>
      </p:sp>
      <p:sp>
        <p:nvSpPr>
          <p:cNvPr id="19" name="Shape 16"/>
          <p:cNvSpPr/>
          <p:nvPr/>
        </p:nvSpPr>
        <p:spPr>
          <a:xfrm>
            <a:off x="457200" y="2971800"/>
            <a:ext cx="2651760" cy="1508760"/>
          </a:xfrm>
          <a:prstGeom prst="roundRect">
            <a:avLst>
              <a:gd name="adj" fmla="val 4848"/>
            </a:avLst>
          </a:prstGeom>
          <a:solidFill>
            <a:srgbClr val="131C31"/>
          </a:solidFill>
          <a:ln w="9525">
            <a:solidFill>
              <a:srgbClr val="2A3A5F"/>
            </a:solidFill>
            <a:prstDash val="solid"/>
          </a:ln>
        </p:spPr>
      </p:sp>
      <p:sp>
        <p:nvSpPr>
          <p:cNvPr id="20" name="Text 17"/>
          <p:cNvSpPr txBox="1"/>
          <p:nvPr/>
        </p:nvSpPr>
        <p:spPr>
          <a:xfrm>
            <a:off x="594360" y="3081528"/>
            <a:ext cx="2377440" cy="237744"/>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Background traffic</a:t>
            </a:r>
            <a:endParaRPr lang="en-US" sz="1300" dirty="0"/>
          </a:p>
        </p:txBody>
      </p:sp>
      <p:sp>
        <p:nvSpPr>
          <p:cNvPr id="21" name="Text 18"/>
          <p:cNvSpPr txBox="1"/>
          <p:nvPr/>
        </p:nvSpPr>
        <p:spPr>
          <a:xfrm>
            <a:off x="594360" y="3383280"/>
            <a:ext cx="2377440" cy="5029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Manifest relaying grows with N squared.</a:t>
            </a:r>
            <a:endParaRPr lang="en-US" sz="1050" dirty="0"/>
          </a:p>
        </p:txBody>
      </p:sp>
      <p:sp>
        <p:nvSpPr>
          <p:cNvPr id="22" name="Text 19"/>
          <p:cNvSpPr txBox="1"/>
          <p:nvPr/>
        </p:nvSpPr>
        <p:spPr>
          <a:xfrm>
            <a:off x="594360" y="3931920"/>
            <a:ext cx="2377440" cy="457200"/>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Two-tier relay and slower idle heartbeats.</a:t>
            </a:r>
            <a:endParaRPr lang="en-US" sz="1050" dirty="0"/>
          </a:p>
        </p:txBody>
      </p:sp>
      <p:sp>
        <p:nvSpPr>
          <p:cNvPr id="23" name="Shape 20"/>
          <p:cNvSpPr/>
          <p:nvPr/>
        </p:nvSpPr>
        <p:spPr>
          <a:xfrm>
            <a:off x="3246120" y="2971800"/>
            <a:ext cx="2651760" cy="1508760"/>
          </a:xfrm>
          <a:prstGeom prst="roundRect">
            <a:avLst>
              <a:gd name="adj" fmla="val 4848"/>
            </a:avLst>
          </a:prstGeom>
          <a:solidFill>
            <a:srgbClr val="131C31"/>
          </a:solidFill>
          <a:ln w="9525">
            <a:solidFill>
              <a:srgbClr val="2A3A5F"/>
            </a:solidFill>
            <a:prstDash val="solid"/>
          </a:ln>
        </p:spPr>
      </p:sp>
      <p:sp>
        <p:nvSpPr>
          <p:cNvPr id="24" name="Text 21"/>
          <p:cNvSpPr txBox="1"/>
          <p:nvPr/>
        </p:nvSpPr>
        <p:spPr>
          <a:xfrm>
            <a:off x="3383280" y="3081528"/>
            <a:ext cx="2377440" cy="237744"/>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Duplicate work</a:t>
            </a:r>
            <a:endParaRPr lang="en-US" sz="1300" dirty="0"/>
          </a:p>
        </p:txBody>
      </p:sp>
      <p:sp>
        <p:nvSpPr>
          <p:cNvPr id="25" name="Text 22"/>
          <p:cNvSpPr txBox="1"/>
          <p:nvPr/>
        </p:nvSpPr>
        <p:spPr>
          <a:xfrm>
            <a:off x="3383280" y="3383280"/>
            <a:ext cx="2377440" cy="5029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Both partitions may do one task.</a:t>
            </a:r>
            <a:endParaRPr lang="en-US" sz="1050" dirty="0"/>
          </a:p>
        </p:txBody>
      </p:sp>
      <p:sp>
        <p:nvSpPr>
          <p:cNvPr id="26" name="Text 23"/>
          <p:cNvSpPr txBox="1"/>
          <p:nvPr/>
        </p:nvSpPr>
        <p:spPr>
          <a:xfrm>
            <a:off x="3383280" y="3931920"/>
            <a:ext cx="2377440" cy="457200"/>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Idempotent tasks; measured in every run.</a:t>
            </a:r>
            <a:endParaRPr lang="en-US" sz="1050" dirty="0"/>
          </a:p>
        </p:txBody>
      </p:sp>
      <p:sp>
        <p:nvSpPr>
          <p:cNvPr id="27" name="Shape 24"/>
          <p:cNvSpPr/>
          <p:nvPr/>
        </p:nvSpPr>
        <p:spPr>
          <a:xfrm>
            <a:off x="6035040" y="2971800"/>
            <a:ext cx="2651760" cy="1508760"/>
          </a:xfrm>
          <a:prstGeom prst="roundRect">
            <a:avLst>
              <a:gd name="adj" fmla="val 4848"/>
            </a:avLst>
          </a:prstGeom>
          <a:solidFill>
            <a:srgbClr val="131C31"/>
          </a:solidFill>
          <a:ln w="9525">
            <a:solidFill>
              <a:srgbClr val="2A3A5F"/>
            </a:solidFill>
            <a:prstDash val="solid"/>
          </a:ln>
        </p:spPr>
      </p:sp>
      <p:sp>
        <p:nvSpPr>
          <p:cNvPr id="28" name="Text 25"/>
          <p:cNvSpPr txBox="1"/>
          <p:nvPr/>
        </p:nvSpPr>
        <p:spPr>
          <a:xfrm>
            <a:off x="6172200" y="3081528"/>
            <a:ext cx="2377440" cy="237744"/>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Novelty challenge</a:t>
            </a:r>
            <a:endParaRPr lang="en-US" sz="1300" dirty="0"/>
          </a:p>
        </p:txBody>
      </p:sp>
      <p:sp>
        <p:nvSpPr>
          <p:cNvPr id="29" name="Text 26"/>
          <p:cNvSpPr txBox="1"/>
          <p:nvPr/>
        </p:nvSpPr>
        <p:spPr>
          <a:xfrm>
            <a:off x="6172200" y="3383280"/>
            <a:ext cx="2377440" cy="5029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Someone may have published something close.</a:t>
            </a:r>
            <a:endParaRPr lang="en-US" sz="1050" dirty="0"/>
          </a:p>
        </p:txBody>
      </p:sp>
      <p:sp>
        <p:nvSpPr>
          <p:cNvPr id="30" name="Text 27"/>
          <p:cNvSpPr txBox="1"/>
          <p:nvPr/>
        </p:nvSpPr>
        <p:spPr>
          <a:xfrm>
            <a:off x="6172200" y="3931920"/>
            <a:ext cx="2377440" cy="457200"/>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Present as synthesis; extend literature check.</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120"/>
        </a:solidFill>
      </p:bgPr>
    </p:bg>
    <p:spTree>
      <p:nvGrpSpPr>
        <p:cNvPr id="1" name=""/>
        <p:cNvGrpSpPr/>
        <p:nvPr/>
      </p:nvGrpSpPr>
      <p:grpSpPr>
        <a:xfrm>
          <a:off x="0" y="0"/>
          <a:ext cx="0" cy="0"/>
          <a:chOff x="0" y="0"/>
          <a:chExt cx="0" cy="0"/>
        </a:xfrm>
      </p:grpSpPr>
      <p:sp>
        <p:nvSpPr>
          <p:cNvPr id="2" name="Shape 0"/>
          <p:cNvSpPr/>
          <p:nvPr/>
        </p:nvSpPr>
        <p:spPr>
          <a:xfrm flipV="1">
            <a:off x="5760720" y="822960"/>
            <a:ext cx="1188720" cy="274320"/>
          </a:xfrm>
          <a:prstGeom prst="line">
            <a:avLst/>
          </a:prstGeom>
          <a:noFill/>
          <a:ln w="15875">
            <a:solidFill>
              <a:srgbClr val="3B4A6B"/>
            </a:solidFill>
            <a:prstDash val="solid"/>
          </a:ln>
        </p:spPr>
      </p:sp>
      <p:sp>
        <p:nvSpPr>
          <p:cNvPr id="3" name="Shape 1"/>
          <p:cNvSpPr/>
          <p:nvPr/>
        </p:nvSpPr>
        <p:spPr>
          <a:xfrm>
            <a:off x="6949440" y="822960"/>
            <a:ext cx="1188720" cy="548640"/>
          </a:xfrm>
          <a:prstGeom prst="line">
            <a:avLst/>
          </a:prstGeom>
          <a:noFill/>
          <a:ln w="15875">
            <a:solidFill>
              <a:srgbClr val="3B4A6B"/>
            </a:solidFill>
            <a:prstDash val="solid"/>
          </a:ln>
        </p:spPr>
      </p:sp>
      <p:sp>
        <p:nvSpPr>
          <p:cNvPr id="4" name="Shape 2"/>
          <p:cNvSpPr/>
          <p:nvPr/>
        </p:nvSpPr>
        <p:spPr>
          <a:xfrm>
            <a:off x="5760720" y="1097280"/>
            <a:ext cx="548640" cy="1005840"/>
          </a:xfrm>
          <a:prstGeom prst="line">
            <a:avLst/>
          </a:prstGeom>
          <a:noFill/>
          <a:ln w="15875">
            <a:solidFill>
              <a:srgbClr val="3B4A6B"/>
            </a:solidFill>
            <a:prstDash val="solid"/>
          </a:ln>
        </p:spPr>
      </p:sp>
      <p:sp>
        <p:nvSpPr>
          <p:cNvPr id="5" name="Shape 3"/>
          <p:cNvSpPr/>
          <p:nvPr/>
        </p:nvSpPr>
        <p:spPr>
          <a:xfrm flipH="1">
            <a:off x="6309360" y="822960"/>
            <a:ext cx="640080" cy="1280160"/>
          </a:xfrm>
          <a:prstGeom prst="line">
            <a:avLst/>
          </a:prstGeom>
          <a:noFill/>
          <a:ln w="15875">
            <a:solidFill>
              <a:srgbClr val="3B4A6B"/>
            </a:solidFill>
            <a:prstDash val="solid"/>
          </a:ln>
        </p:spPr>
      </p:sp>
      <p:sp>
        <p:nvSpPr>
          <p:cNvPr id="6" name="Shape 4"/>
          <p:cNvSpPr/>
          <p:nvPr/>
        </p:nvSpPr>
        <p:spPr>
          <a:xfrm flipH="1">
            <a:off x="7498080" y="1371600"/>
            <a:ext cx="640080" cy="914400"/>
          </a:xfrm>
          <a:prstGeom prst="line">
            <a:avLst/>
          </a:prstGeom>
          <a:noFill/>
          <a:ln w="15875">
            <a:solidFill>
              <a:srgbClr val="3B4A6B"/>
            </a:solidFill>
            <a:prstDash val="solid"/>
          </a:ln>
        </p:spPr>
      </p:sp>
      <p:sp>
        <p:nvSpPr>
          <p:cNvPr id="7" name="Shape 5"/>
          <p:cNvSpPr/>
          <p:nvPr/>
        </p:nvSpPr>
        <p:spPr>
          <a:xfrm flipH="1">
            <a:off x="5669280" y="2103120"/>
            <a:ext cx="640080" cy="1097280"/>
          </a:xfrm>
          <a:prstGeom prst="line">
            <a:avLst/>
          </a:prstGeom>
          <a:noFill/>
          <a:ln w="15875">
            <a:solidFill>
              <a:srgbClr val="3B4A6B"/>
            </a:solidFill>
            <a:prstDash val="solid"/>
          </a:ln>
        </p:spPr>
      </p:sp>
      <p:sp>
        <p:nvSpPr>
          <p:cNvPr id="8" name="Shape 6"/>
          <p:cNvSpPr/>
          <p:nvPr/>
        </p:nvSpPr>
        <p:spPr>
          <a:xfrm>
            <a:off x="6309360" y="2103120"/>
            <a:ext cx="548640" cy="1463040"/>
          </a:xfrm>
          <a:prstGeom prst="line">
            <a:avLst/>
          </a:prstGeom>
          <a:noFill/>
          <a:ln w="15875">
            <a:solidFill>
              <a:srgbClr val="3B4A6B"/>
            </a:solidFill>
            <a:prstDash val="solid"/>
          </a:ln>
        </p:spPr>
      </p:sp>
      <p:sp>
        <p:nvSpPr>
          <p:cNvPr id="9" name="Shape 7"/>
          <p:cNvSpPr/>
          <p:nvPr/>
        </p:nvSpPr>
        <p:spPr>
          <a:xfrm>
            <a:off x="5669280" y="3200400"/>
            <a:ext cx="1188720" cy="365760"/>
          </a:xfrm>
          <a:prstGeom prst="line">
            <a:avLst/>
          </a:prstGeom>
          <a:noFill/>
          <a:ln w="15875">
            <a:solidFill>
              <a:srgbClr val="3B4A6B"/>
            </a:solidFill>
            <a:prstDash val="solid"/>
          </a:ln>
        </p:spPr>
      </p:sp>
      <p:sp>
        <p:nvSpPr>
          <p:cNvPr id="10" name="Shape 8"/>
          <p:cNvSpPr/>
          <p:nvPr/>
        </p:nvSpPr>
        <p:spPr>
          <a:xfrm>
            <a:off x="7498080" y="2286000"/>
            <a:ext cx="914400" cy="731520"/>
          </a:xfrm>
          <a:prstGeom prst="line">
            <a:avLst/>
          </a:prstGeom>
          <a:noFill/>
          <a:ln w="15875">
            <a:solidFill>
              <a:srgbClr val="3B4A6B"/>
            </a:solidFill>
            <a:prstDash val="solid"/>
          </a:ln>
        </p:spPr>
      </p:sp>
      <p:sp>
        <p:nvSpPr>
          <p:cNvPr id="11" name="Shape 9"/>
          <p:cNvSpPr/>
          <p:nvPr/>
        </p:nvSpPr>
        <p:spPr>
          <a:xfrm flipH="1">
            <a:off x="7863840" y="3017520"/>
            <a:ext cx="548640" cy="1097280"/>
          </a:xfrm>
          <a:prstGeom prst="line">
            <a:avLst/>
          </a:prstGeom>
          <a:noFill/>
          <a:ln w="15875">
            <a:solidFill>
              <a:srgbClr val="3B4A6B"/>
            </a:solidFill>
            <a:prstDash val="solid"/>
          </a:ln>
        </p:spPr>
      </p:sp>
      <p:sp>
        <p:nvSpPr>
          <p:cNvPr id="12" name="Shape 10"/>
          <p:cNvSpPr/>
          <p:nvPr/>
        </p:nvSpPr>
        <p:spPr>
          <a:xfrm>
            <a:off x="8138160" y="1371600"/>
            <a:ext cx="274320" cy="1645920"/>
          </a:xfrm>
          <a:prstGeom prst="line">
            <a:avLst/>
          </a:prstGeom>
          <a:noFill/>
          <a:ln w="15875">
            <a:solidFill>
              <a:srgbClr val="3B4A6B"/>
            </a:solidFill>
            <a:prstDash val="solid"/>
          </a:ln>
        </p:spPr>
      </p:sp>
      <p:sp>
        <p:nvSpPr>
          <p:cNvPr id="13" name="Shape 11"/>
          <p:cNvSpPr/>
          <p:nvPr/>
        </p:nvSpPr>
        <p:spPr>
          <a:xfrm>
            <a:off x="6949440" y="822960"/>
            <a:ext cx="548640" cy="1463040"/>
          </a:xfrm>
          <a:prstGeom prst="line">
            <a:avLst/>
          </a:prstGeom>
          <a:noFill/>
          <a:ln w="15875">
            <a:solidFill>
              <a:srgbClr val="F87171"/>
            </a:solidFill>
            <a:prstDash val="dash"/>
          </a:ln>
        </p:spPr>
      </p:sp>
      <p:sp>
        <p:nvSpPr>
          <p:cNvPr id="14" name="Shape 12"/>
          <p:cNvSpPr/>
          <p:nvPr/>
        </p:nvSpPr>
        <p:spPr>
          <a:xfrm>
            <a:off x="6309360" y="2103120"/>
            <a:ext cx="1188720" cy="182880"/>
          </a:xfrm>
          <a:prstGeom prst="line">
            <a:avLst/>
          </a:prstGeom>
          <a:noFill/>
          <a:ln w="15875">
            <a:solidFill>
              <a:srgbClr val="F87171"/>
            </a:solidFill>
            <a:prstDash val="dash"/>
          </a:ln>
        </p:spPr>
      </p:sp>
      <p:sp>
        <p:nvSpPr>
          <p:cNvPr id="15" name="Shape 13"/>
          <p:cNvSpPr/>
          <p:nvPr/>
        </p:nvSpPr>
        <p:spPr>
          <a:xfrm flipH="1">
            <a:off x="6858000" y="2286000"/>
            <a:ext cx="640080" cy="1280160"/>
          </a:xfrm>
          <a:prstGeom prst="line">
            <a:avLst/>
          </a:prstGeom>
          <a:noFill/>
          <a:ln w="15875">
            <a:solidFill>
              <a:srgbClr val="F87171"/>
            </a:solidFill>
            <a:prstDash val="dash"/>
          </a:ln>
        </p:spPr>
      </p:sp>
      <p:sp>
        <p:nvSpPr>
          <p:cNvPr id="16" name="Shape 14"/>
          <p:cNvSpPr/>
          <p:nvPr/>
        </p:nvSpPr>
        <p:spPr>
          <a:xfrm>
            <a:off x="6858000" y="3566160"/>
            <a:ext cx="1005840" cy="548640"/>
          </a:xfrm>
          <a:prstGeom prst="line">
            <a:avLst/>
          </a:prstGeom>
          <a:noFill/>
          <a:ln w="15875">
            <a:solidFill>
              <a:srgbClr val="F87171"/>
            </a:solidFill>
            <a:prstDash val="dash"/>
          </a:ln>
        </p:spPr>
      </p:sp>
      <p:sp>
        <p:nvSpPr>
          <p:cNvPr id="17" name="Shape 15"/>
          <p:cNvSpPr/>
          <p:nvPr/>
        </p:nvSpPr>
        <p:spPr>
          <a:xfrm>
            <a:off x="6318504" y="1335024"/>
            <a:ext cx="164592" cy="164592"/>
          </a:xfrm>
          <a:prstGeom prst="rect">
            <a:avLst/>
          </a:prstGeom>
          <a:solidFill>
            <a:srgbClr val="0B1120"/>
          </a:solidFill>
          <a:ln w="19050">
            <a:solidFill>
              <a:srgbClr val="FBBF24"/>
            </a:solidFill>
            <a:prstDash val="solid"/>
          </a:ln>
        </p:spPr>
      </p:sp>
      <p:sp>
        <p:nvSpPr>
          <p:cNvPr id="18" name="Shape 16"/>
          <p:cNvSpPr/>
          <p:nvPr/>
        </p:nvSpPr>
        <p:spPr>
          <a:xfrm>
            <a:off x="7918704" y="3438144"/>
            <a:ext cx="164592" cy="164592"/>
          </a:xfrm>
          <a:prstGeom prst="rect">
            <a:avLst/>
          </a:prstGeom>
          <a:solidFill>
            <a:srgbClr val="0B1120"/>
          </a:solidFill>
          <a:ln w="19050">
            <a:solidFill>
              <a:srgbClr val="2DD4BF"/>
            </a:solidFill>
            <a:prstDash val="solid"/>
          </a:ln>
        </p:spPr>
      </p:sp>
      <p:sp>
        <p:nvSpPr>
          <p:cNvPr id="19" name="Shape 17"/>
          <p:cNvSpPr/>
          <p:nvPr/>
        </p:nvSpPr>
        <p:spPr>
          <a:xfrm>
            <a:off x="6181344" y="2752344"/>
            <a:ext cx="164592" cy="164592"/>
          </a:xfrm>
          <a:prstGeom prst="rect">
            <a:avLst/>
          </a:prstGeom>
          <a:solidFill>
            <a:srgbClr val="0B1120"/>
          </a:solidFill>
          <a:ln w="19050">
            <a:solidFill>
              <a:srgbClr val="FBBF24"/>
            </a:solidFill>
            <a:prstDash val="solid"/>
          </a:ln>
        </p:spPr>
      </p:sp>
      <p:sp>
        <p:nvSpPr>
          <p:cNvPr id="20" name="Shape 18"/>
          <p:cNvSpPr/>
          <p:nvPr/>
        </p:nvSpPr>
        <p:spPr>
          <a:xfrm>
            <a:off x="5605272" y="941832"/>
            <a:ext cx="310896" cy="310896"/>
          </a:xfrm>
          <a:prstGeom prst="ellipse">
            <a:avLst/>
          </a:prstGeom>
          <a:solidFill>
            <a:srgbClr val="FBBF24"/>
          </a:solidFill>
          <a:ln w="19050">
            <a:solidFill>
              <a:srgbClr val="0B1120"/>
            </a:solidFill>
            <a:prstDash val="solid"/>
          </a:ln>
        </p:spPr>
      </p:sp>
      <p:sp>
        <p:nvSpPr>
          <p:cNvPr id="21" name="Shape 19"/>
          <p:cNvSpPr/>
          <p:nvPr/>
        </p:nvSpPr>
        <p:spPr>
          <a:xfrm>
            <a:off x="6793992" y="667512"/>
            <a:ext cx="310896" cy="310896"/>
          </a:xfrm>
          <a:prstGeom prst="ellipse">
            <a:avLst/>
          </a:prstGeom>
          <a:solidFill>
            <a:srgbClr val="FBBF24"/>
          </a:solidFill>
          <a:ln w="19050">
            <a:solidFill>
              <a:srgbClr val="0B1120"/>
            </a:solidFill>
            <a:prstDash val="solid"/>
          </a:ln>
        </p:spPr>
      </p:sp>
      <p:sp>
        <p:nvSpPr>
          <p:cNvPr id="22" name="Shape 20"/>
          <p:cNvSpPr/>
          <p:nvPr/>
        </p:nvSpPr>
        <p:spPr>
          <a:xfrm>
            <a:off x="7982712" y="1216152"/>
            <a:ext cx="310896" cy="310896"/>
          </a:xfrm>
          <a:prstGeom prst="ellipse">
            <a:avLst/>
          </a:prstGeom>
          <a:solidFill>
            <a:srgbClr val="2DD4BF"/>
          </a:solidFill>
          <a:ln w="19050">
            <a:solidFill>
              <a:srgbClr val="0B1120"/>
            </a:solidFill>
            <a:prstDash val="solid"/>
          </a:ln>
        </p:spPr>
      </p:sp>
      <p:sp>
        <p:nvSpPr>
          <p:cNvPr id="23" name="Shape 21"/>
          <p:cNvSpPr/>
          <p:nvPr/>
        </p:nvSpPr>
        <p:spPr>
          <a:xfrm>
            <a:off x="6153912" y="1947672"/>
            <a:ext cx="310896" cy="310896"/>
          </a:xfrm>
          <a:prstGeom prst="ellipse">
            <a:avLst/>
          </a:prstGeom>
          <a:solidFill>
            <a:srgbClr val="FBBF24"/>
          </a:solidFill>
          <a:ln w="19050">
            <a:solidFill>
              <a:srgbClr val="0B1120"/>
            </a:solidFill>
            <a:prstDash val="solid"/>
          </a:ln>
        </p:spPr>
      </p:sp>
      <p:sp>
        <p:nvSpPr>
          <p:cNvPr id="24" name="Shape 22"/>
          <p:cNvSpPr/>
          <p:nvPr/>
        </p:nvSpPr>
        <p:spPr>
          <a:xfrm>
            <a:off x="7342632" y="2130552"/>
            <a:ext cx="310896" cy="310896"/>
          </a:xfrm>
          <a:prstGeom prst="ellipse">
            <a:avLst/>
          </a:prstGeom>
          <a:solidFill>
            <a:srgbClr val="2DD4BF"/>
          </a:solidFill>
          <a:ln w="19050">
            <a:solidFill>
              <a:srgbClr val="0B1120"/>
            </a:solidFill>
            <a:prstDash val="solid"/>
          </a:ln>
        </p:spPr>
      </p:sp>
      <p:sp>
        <p:nvSpPr>
          <p:cNvPr id="25" name="Shape 23"/>
          <p:cNvSpPr/>
          <p:nvPr/>
        </p:nvSpPr>
        <p:spPr>
          <a:xfrm>
            <a:off x="8257032" y="2862072"/>
            <a:ext cx="310896" cy="310896"/>
          </a:xfrm>
          <a:prstGeom prst="ellipse">
            <a:avLst/>
          </a:prstGeom>
          <a:solidFill>
            <a:srgbClr val="2DD4BF"/>
          </a:solidFill>
          <a:ln w="19050">
            <a:solidFill>
              <a:srgbClr val="0B1120"/>
            </a:solidFill>
            <a:prstDash val="solid"/>
          </a:ln>
        </p:spPr>
      </p:sp>
      <p:sp>
        <p:nvSpPr>
          <p:cNvPr id="26" name="Shape 24"/>
          <p:cNvSpPr/>
          <p:nvPr/>
        </p:nvSpPr>
        <p:spPr>
          <a:xfrm>
            <a:off x="5513832" y="3044952"/>
            <a:ext cx="310896" cy="310896"/>
          </a:xfrm>
          <a:prstGeom prst="ellipse">
            <a:avLst/>
          </a:prstGeom>
          <a:solidFill>
            <a:srgbClr val="FBBF24"/>
          </a:solidFill>
          <a:ln w="19050">
            <a:solidFill>
              <a:srgbClr val="0B1120"/>
            </a:solidFill>
            <a:prstDash val="solid"/>
          </a:ln>
        </p:spPr>
      </p:sp>
      <p:sp>
        <p:nvSpPr>
          <p:cNvPr id="27" name="Shape 25"/>
          <p:cNvSpPr/>
          <p:nvPr/>
        </p:nvSpPr>
        <p:spPr>
          <a:xfrm>
            <a:off x="6702552" y="3410712"/>
            <a:ext cx="310896" cy="310896"/>
          </a:xfrm>
          <a:prstGeom prst="ellipse">
            <a:avLst/>
          </a:prstGeom>
          <a:solidFill>
            <a:srgbClr val="FBBF24"/>
          </a:solidFill>
          <a:ln w="19050">
            <a:solidFill>
              <a:srgbClr val="0B1120"/>
            </a:solidFill>
            <a:prstDash val="solid"/>
          </a:ln>
        </p:spPr>
      </p:sp>
      <p:sp>
        <p:nvSpPr>
          <p:cNvPr id="28" name="Shape 26"/>
          <p:cNvSpPr/>
          <p:nvPr/>
        </p:nvSpPr>
        <p:spPr>
          <a:xfrm>
            <a:off x="7708392" y="3959352"/>
            <a:ext cx="310896" cy="310896"/>
          </a:xfrm>
          <a:prstGeom prst="ellipse">
            <a:avLst/>
          </a:prstGeom>
          <a:solidFill>
            <a:srgbClr val="2DD4BF"/>
          </a:solidFill>
          <a:ln w="19050">
            <a:solidFill>
              <a:srgbClr val="0B1120"/>
            </a:solidFill>
            <a:prstDash val="solid"/>
          </a:ln>
        </p:spPr>
      </p:sp>
      <p:sp>
        <p:nvSpPr>
          <p:cNvPr id="29" name="Text 27"/>
          <p:cNvSpPr txBox="1"/>
          <p:nvPr/>
        </p:nvSpPr>
        <p:spPr>
          <a:xfrm>
            <a:off x="457200" y="1188720"/>
            <a:ext cx="4937760" cy="548640"/>
          </a:xfrm>
          <a:prstGeom prst="rect">
            <a:avLst/>
          </a:prstGeom>
          <a:noFill/>
          <a:ln/>
        </p:spPr>
        <p:txBody>
          <a:bodyPr wrap="square" lIns="0" tIns="0" rIns="0" bIns="0" rtlCol="0" anchor="t"/>
          <a:lstStyle/>
          <a:p>
            <a:pPr indent="0" marL="0">
              <a:buNone/>
            </a:pPr>
            <a:r>
              <a:rPr lang="en-US" sz="3400" b="1" dirty="0">
                <a:solidFill>
                  <a:srgbClr val="F1F5F9"/>
                </a:solidFill>
                <a:latin typeface="Calibri" pitchFamily="34" charset="0"/>
                <a:ea typeface="Calibri" pitchFamily="34" charset="-122"/>
                <a:cs typeface="Calibri" pitchFamily="34" charset="-120"/>
              </a:rPr>
              <a:t>No coordinator.</a:t>
            </a:r>
            <a:endParaRPr lang="en-US" sz="3400" dirty="0"/>
          </a:p>
        </p:txBody>
      </p:sp>
      <p:sp>
        <p:nvSpPr>
          <p:cNvPr id="30" name="Text 28"/>
          <p:cNvSpPr txBox="1"/>
          <p:nvPr/>
        </p:nvSpPr>
        <p:spPr>
          <a:xfrm>
            <a:off x="457200" y="1737360"/>
            <a:ext cx="4937760" cy="548640"/>
          </a:xfrm>
          <a:prstGeom prst="rect">
            <a:avLst/>
          </a:prstGeom>
          <a:noFill/>
          <a:ln/>
        </p:spPr>
        <p:txBody>
          <a:bodyPr wrap="square" lIns="0" tIns="0" rIns="0" bIns="0" rtlCol="0" anchor="t"/>
          <a:lstStyle/>
          <a:p>
            <a:pPr indent="0" marL="0">
              <a:buNone/>
            </a:pPr>
            <a:r>
              <a:rPr lang="en-US" sz="3400" b="1" dirty="0">
                <a:solidFill>
                  <a:srgbClr val="F1F5F9"/>
                </a:solidFill>
                <a:latin typeface="Calibri" pitchFamily="34" charset="0"/>
                <a:ea typeface="Calibri" pitchFamily="34" charset="-122"/>
                <a:cs typeface="Calibri" pitchFamily="34" charset="-120"/>
              </a:rPr>
              <a:t>No single point of failure.</a:t>
            </a:r>
            <a:endParaRPr lang="en-US" sz="3400" dirty="0"/>
          </a:p>
        </p:txBody>
      </p:sp>
      <p:sp>
        <p:nvSpPr>
          <p:cNvPr id="31" name="Text 29"/>
          <p:cNvSpPr txBox="1"/>
          <p:nvPr/>
        </p:nvSpPr>
        <p:spPr>
          <a:xfrm>
            <a:off x="457200" y="2286000"/>
            <a:ext cx="4937760" cy="548640"/>
          </a:xfrm>
          <a:prstGeom prst="rect">
            <a:avLst/>
          </a:prstGeom>
          <a:noFill/>
          <a:ln/>
        </p:spPr>
        <p:txBody>
          <a:bodyPr wrap="square" lIns="0" tIns="0" rIns="0" bIns="0" rtlCol="0" anchor="t"/>
          <a:lstStyle/>
          <a:p>
            <a:pPr indent="0" marL="0">
              <a:buNone/>
            </a:pPr>
            <a:r>
              <a:rPr lang="en-US" sz="3400" b="1" dirty="0">
                <a:solidFill>
                  <a:srgbClr val="FBBF24"/>
                </a:solidFill>
                <a:latin typeface="Calibri" pitchFamily="34" charset="0"/>
                <a:ea typeface="Calibri" pitchFamily="34" charset="-122"/>
                <a:cs typeface="Calibri" pitchFamily="34" charset="-120"/>
              </a:rPr>
              <a:t>Silence has a price,</a:t>
            </a:r>
            <a:endParaRPr lang="en-US" sz="3400" dirty="0"/>
          </a:p>
        </p:txBody>
      </p:sp>
      <p:sp>
        <p:nvSpPr>
          <p:cNvPr id="32" name="Text 30"/>
          <p:cNvSpPr txBox="1"/>
          <p:nvPr/>
        </p:nvSpPr>
        <p:spPr>
          <a:xfrm>
            <a:off x="457200" y="2834640"/>
            <a:ext cx="4937760" cy="548640"/>
          </a:xfrm>
          <a:prstGeom prst="rect">
            <a:avLst/>
          </a:prstGeom>
          <a:noFill/>
          <a:ln/>
        </p:spPr>
        <p:txBody>
          <a:bodyPr wrap="square" lIns="0" tIns="0" rIns="0" bIns="0" rtlCol="0" anchor="t"/>
          <a:lstStyle/>
          <a:p>
            <a:pPr indent="0" marL="0">
              <a:buNone/>
            </a:pPr>
            <a:r>
              <a:rPr lang="en-US" sz="3400" b="1" dirty="0">
                <a:solidFill>
                  <a:srgbClr val="FBBF24"/>
                </a:solidFill>
                <a:latin typeface="Calibri" pitchFamily="34" charset="0"/>
                <a:ea typeface="Calibri" pitchFamily="34" charset="-122"/>
                <a:cs typeface="Calibri" pitchFamily="34" charset="-120"/>
              </a:rPr>
              <a:t>and we bound it.</a:t>
            </a:r>
            <a:endParaRPr lang="en-US" sz="3400" dirty="0"/>
          </a:p>
        </p:txBody>
      </p:sp>
      <p:sp>
        <p:nvSpPr>
          <p:cNvPr id="33" name="Text 31"/>
          <p:cNvSpPr txBox="1"/>
          <p:nvPr/>
        </p:nvSpPr>
        <p:spPr>
          <a:xfrm>
            <a:off x="457200" y="3931920"/>
            <a:ext cx="4572000" cy="320040"/>
          </a:xfrm>
          <a:prstGeom prst="rect">
            <a:avLst/>
          </a:prstGeom>
          <a:noFill/>
          <a:ln/>
        </p:spPr>
        <p:txBody>
          <a:bodyPr wrap="square" lIns="0" tIns="0" rIns="0" bIns="0" rtlCol="0" anchor="t"/>
          <a:lstStyle/>
          <a:p>
            <a:pPr indent="0" marL="0">
              <a:buNone/>
            </a:pPr>
            <a:r>
              <a:rPr lang="en-US" sz="1600" b="1" dirty="0">
                <a:solidFill>
                  <a:srgbClr val="2DD4BF"/>
                </a:solidFill>
                <a:latin typeface="Calibri" pitchFamily="34" charset="0"/>
                <a:ea typeface="Calibri" pitchFamily="34" charset="-122"/>
                <a:cs typeface="Calibri"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PNR2 - SHADE: Ghost-Aware Decentralized Task Auction</dc:title>
  <dc:subject>PptxGenJS Presentation</dc:subject>
  <dc:creator>PptxGenJS</dc:creator>
  <cp:lastModifiedBy>PptxGenJS</cp:lastModifiedBy>
  <cp:revision>1</cp:revision>
  <dcterms:created xsi:type="dcterms:W3CDTF">2026-10-01T03:21:41Z</dcterms:created>
  <dcterms:modified xsi:type="dcterms:W3CDTF">2026-10-01T03:21:41Z</dcterms:modified>
</cp:coreProperties>
</file>